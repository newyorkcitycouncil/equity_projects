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1"/>
  </p:notesMasterIdLst>
  <p:sldIdLst>
    <p:sldId id="328" r:id="rId5"/>
    <p:sldId id="330" r:id="rId6"/>
    <p:sldId id="454" r:id="rId7"/>
    <p:sldId id="326" r:id="rId8"/>
    <p:sldId id="455" r:id="rId9"/>
    <p:sldId id="457" r:id="rId10"/>
    <p:sldId id="459" r:id="rId11"/>
    <p:sldId id="425" r:id="rId12"/>
    <p:sldId id="436" r:id="rId13"/>
    <p:sldId id="426" r:id="rId14"/>
    <p:sldId id="424" r:id="rId15"/>
    <p:sldId id="407" r:id="rId16"/>
    <p:sldId id="397" r:id="rId17"/>
    <p:sldId id="431" r:id="rId18"/>
    <p:sldId id="438" r:id="rId19"/>
    <p:sldId id="413" r:id="rId20"/>
    <p:sldId id="458" r:id="rId21"/>
    <p:sldId id="434" r:id="rId22"/>
    <p:sldId id="435" r:id="rId23"/>
    <p:sldId id="410" r:id="rId24"/>
    <p:sldId id="443" r:id="rId25"/>
    <p:sldId id="444" r:id="rId26"/>
    <p:sldId id="445" r:id="rId27"/>
    <p:sldId id="423" r:id="rId28"/>
    <p:sldId id="446" r:id="rId29"/>
    <p:sldId id="447" r:id="rId30"/>
    <p:sldId id="448" r:id="rId31"/>
    <p:sldId id="440" r:id="rId32"/>
    <p:sldId id="441" r:id="rId33"/>
    <p:sldId id="442" r:id="rId34"/>
    <p:sldId id="451" r:id="rId35"/>
    <p:sldId id="449" r:id="rId36"/>
    <p:sldId id="452" r:id="rId37"/>
    <p:sldId id="408" r:id="rId38"/>
    <p:sldId id="409" r:id="rId39"/>
    <p:sldId id="415" r:id="rId40"/>
    <p:sldId id="453" r:id="rId41"/>
    <p:sldId id="346" r:id="rId42"/>
    <p:sldId id="419" r:id="rId43"/>
    <p:sldId id="422" r:id="rId44"/>
    <p:sldId id="416" r:id="rId45"/>
    <p:sldId id="417" r:id="rId46"/>
    <p:sldId id="401" r:id="rId47"/>
    <p:sldId id="398" r:id="rId48"/>
    <p:sldId id="412" r:id="rId49"/>
    <p:sldId id="405"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88" userDrawn="1">
          <p15:clr>
            <a:srgbClr val="A4A3A4"/>
          </p15:clr>
        </p15:guide>
        <p15:guide id="2" pos="33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C6E850B-E0A5-178B-DC12-2B0A138AEAEC}" name="Townley, Hendrick" initials="TH" userId="S::htownley@oti.nyc.gov::868d694b-dafa-40cb-8581-516fbd8816d0" providerId="AD"/>
  <p188:author id="{4949CC90-4069-B4FD-0D51-E24072284E36}" name="Phimmasone, Kesone" initials="PK" userId="S::kphimmasone@oti.nyc.gov::44305faf-061f-45ca-893e-99912a335d7a" providerId="AD"/>
  <p188:author id="{D5DA28A9-B3D6-1F97-0221-7F0D1EF3982C}" name="Gupta, Prince" initials="GP" userId="S::pgupta@oti.nyc.gov::6521d4b1-9b49-4b32-bd31-c3228aef0feb" providerId="AD"/>
  <p188:author id="{388541FC-C45F-D74E-D3CA-335E92EB67A2}" name="George, James (Consultant)" initials="G(" userId="S::jgeorge@oti.nyc.gov::baa31701-3e2f-4640-a8c4-52e7af2e2a5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Phimmasone, Kesone" initials="PK" lastIdx="2" clrIdx="6">
    <p:extLst>
      <p:ext uri="{19B8F6BF-5375-455C-9EA6-DF929625EA0E}">
        <p15:presenceInfo xmlns:p15="http://schemas.microsoft.com/office/powerpoint/2012/main" userId="S::kphimmasone@oti.nyc.gov::44305faf-061f-45ca-893e-99912a335d7a" providerId="AD"/>
      </p:ext>
    </p:extLst>
  </p:cmAuthor>
  <p:cmAuthor id="1" name="Zhang, William" initials="WZ" lastIdx="1" clrIdx="0">
    <p:extLst>
      <p:ext uri="{19B8F6BF-5375-455C-9EA6-DF929625EA0E}">
        <p15:presenceInfo xmlns:p15="http://schemas.microsoft.com/office/powerpoint/2012/main" userId="S::wizhang@oti.nyc.gov::0afda9ae-2464-4d6d-b3fb-fde287bb084e" providerId="AD"/>
      </p:ext>
    </p:extLst>
  </p:cmAuthor>
  <p:cmAuthor id="8" name="Mausler, Michael" initials="MM" lastIdx="2" clrIdx="7">
    <p:extLst>
      <p:ext uri="{19B8F6BF-5375-455C-9EA6-DF929625EA0E}">
        <p15:presenceInfo xmlns:p15="http://schemas.microsoft.com/office/powerpoint/2012/main" userId="S::mmausler@oti.nyc.gov::023c691b-10b9-4b2c-9d29-8f41e2387944" providerId="AD"/>
      </p:ext>
    </p:extLst>
  </p:cmAuthor>
  <p:cmAuthor id="2" name="Ganser, Aamina" initials="GA" lastIdx="12" clrIdx="1">
    <p:extLst>
      <p:ext uri="{19B8F6BF-5375-455C-9EA6-DF929625EA0E}">
        <p15:presenceInfo xmlns:p15="http://schemas.microsoft.com/office/powerpoint/2012/main" userId="S::aganser@oti.nyc.gov::3492a3c8-0a40-4d92-a2de-bcf9fa777f5b" providerId="AD"/>
      </p:ext>
    </p:extLst>
  </p:cmAuthor>
  <p:cmAuthor id="3" name="Sack, Benjamin" initials="BS" lastIdx="6" clrIdx="2">
    <p:extLst>
      <p:ext uri="{19B8F6BF-5375-455C-9EA6-DF929625EA0E}">
        <p15:presenceInfo xmlns:p15="http://schemas.microsoft.com/office/powerpoint/2012/main" userId="S::BSack@oti.nyc.gov::5b7234cf-adb4-45a1-b5d3-292225055f6b" providerId="AD"/>
      </p:ext>
    </p:extLst>
  </p:cmAuthor>
  <p:cmAuthor id="4" name="Rao, Ramya" initials="RR" lastIdx="11" clrIdx="3">
    <p:extLst>
      <p:ext uri="{19B8F6BF-5375-455C-9EA6-DF929625EA0E}">
        <p15:presenceInfo xmlns:p15="http://schemas.microsoft.com/office/powerpoint/2012/main" userId="S::rrao@oti.nyc.gov::0cc390dd-8dc9-49e0-b4a8-c9b30253c7f4" providerId="AD"/>
      </p:ext>
    </p:extLst>
  </p:cmAuthor>
  <p:cmAuthor id="5" name="Kim, Gina" initials="KG" lastIdx="1" clrIdx="4">
    <p:extLst>
      <p:ext uri="{19B8F6BF-5375-455C-9EA6-DF929625EA0E}">
        <p15:presenceInfo xmlns:p15="http://schemas.microsoft.com/office/powerpoint/2012/main" userId="S::gikim@oti.nyc.gov::2b6db71d-11af-4384-83b9-16edeea35500" providerId="AD"/>
      </p:ext>
    </p:extLst>
  </p:cmAuthor>
  <p:cmAuthor id="6" name="Zhang, William" initials="ZW" lastIdx="5" clrIdx="5">
    <p:extLst>
      <p:ext uri="{19B8F6BF-5375-455C-9EA6-DF929625EA0E}">
        <p15:presenceInfo xmlns:p15="http://schemas.microsoft.com/office/powerpoint/2012/main" userId="S::wizhang@cto.nyc.gov::0afda9ae-2464-4d6d-b3fb-fde287bb084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0000"/>
    <a:srgbClr val="FF0000"/>
    <a:srgbClr val="B3F5BD"/>
    <a:srgbClr val="FF40FF"/>
    <a:srgbClr val="E2CBF8"/>
    <a:srgbClr val="FDAF7C"/>
    <a:srgbClr val="F9FFB5"/>
    <a:srgbClr val="D6F6FF"/>
    <a:srgbClr val="FFFD78"/>
    <a:srgbClr val="D88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54C336-0179-1741-E236-0BA9FA089211}" v="28" dt="2026-09-21T15:10:34.331"/>
    <p1510:client id="{9D823C25-082B-8A47-8229-534FC864D5CC}" v="14" dt="2026-09-21T21:06:33.745"/>
    <p1510:client id="{A87D83AC-982C-A759-9C25-FECD36EE761D}" v="12" dt="2026-09-21T19:40:27.567"/>
    <p1510:client id="{AFB86B49-A75D-C3F4-295D-310299838D19}" v="5" dt="2026-09-22T21:02:49.136"/>
    <p1510:client id="{F5BEB5D7-5996-6A2A-0B9C-52F60FC690AE}" v="35" dt="2026-09-21T15:02:18.8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93"/>
    <p:restoredTop sz="94681"/>
  </p:normalViewPr>
  <p:slideViewPr>
    <p:cSldViewPr snapToGrid="0">
      <p:cViewPr varScale="1">
        <p:scale>
          <a:sx n="116" d="100"/>
          <a:sy n="116" d="100"/>
        </p:scale>
        <p:origin x="568" y="176"/>
      </p:cViewPr>
      <p:guideLst>
        <p:guide orient="horz" pos="888"/>
        <p:guide pos="33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8" Type="http://schemas.microsoft.com/office/2018/10/relationships/authors" Target="author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3DAD3F-AA02-4E40-96DA-D9250FC7EFD8}" type="datetimeFigureOut">
              <a:rPr lang="en-US" smtClean="0"/>
              <a:t>9/23/26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6F20C0-C6C4-1C4B-A9C9-8E9CFAD0620C}" type="slidenum">
              <a:rPr lang="en-US" smtClean="0"/>
              <a:t>‹#›</a:t>
            </a:fld>
            <a:endParaRPr lang="en-US"/>
          </a:p>
        </p:txBody>
      </p:sp>
    </p:spTree>
    <p:extLst>
      <p:ext uri="{BB962C8B-B14F-4D97-AF65-F5344CB8AC3E}">
        <p14:creationId xmlns:p14="http://schemas.microsoft.com/office/powerpoint/2010/main" val="3662957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A6F20C0-C6C4-1C4B-A9C9-8E9CFAD0620C}" type="slidenum">
              <a:rPr lang="en-US" smtClean="0"/>
              <a:t>2</a:t>
            </a:fld>
            <a:endParaRPr lang="en-US"/>
          </a:p>
        </p:txBody>
      </p:sp>
    </p:spTree>
    <p:extLst>
      <p:ext uri="{BB962C8B-B14F-4D97-AF65-F5344CB8AC3E}">
        <p14:creationId xmlns:p14="http://schemas.microsoft.com/office/powerpoint/2010/main" val="271871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A6F20C0-C6C4-1C4B-A9C9-8E9CFAD0620C}" type="slidenum">
              <a:rPr lang="en-US" smtClean="0"/>
              <a:t>13</a:t>
            </a:fld>
            <a:endParaRPr lang="en-US"/>
          </a:p>
        </p:txBody>
      </p:sp>
    </p:spTree>
    <p:extLst>
      <p:ext uri="{BB962C8B-B14F-4D97-AF65-F5344CB8AC3E}">
        <p14:creationId xmlns:p14="http://schemas.microsoft.com/office/powerpoint/2010/main" val="21176103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A6F20C0-C6C4-1C4B-A9C9-8E9CFAD0620C}" type="slidenum">
              <a:rPr lang="en-US" smtClean="0"/>
              <a:t>33</a:t>
            </a:fld>
            <a:endParaRPr lang="en-US"/>
          </a:p>
        </p:txBody>
      </p:sp>
    </p:spTree>
    <p:extLst>
      <p:ext uri="{BB962C8B-B14F-4D97-AF65-F5344CB8AC3E}">
        <p14:creationId xmlns:p14="http://schemas.microsoft.com/office/powerpoint/2010/main" val="20422779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A85F3BE-DEC7-1B46-5C8F-0BC9B3CBED69}"/>
              </a:ext>
            </a:extLst>
          </p:cNvPr>
          <p:cNvSpPr/>
          <p:nvPr userDrawn="1"/>
        </p:nvSpPr>
        <p:spPr>
          <a:xfrm>
            <a:off x="12376245" y="-24054"/>
            <a:ext cx="457200" cy="4572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A7EEDEF-DFA0-FB6A-E1C3-6ABF78F8CF44}"/>
              </a:ext>
            </a:extLst>
          </p:cNvPr>
          <p:cNvPicPr>
            <a:picLocks noChangeAspect="1"/>
          </p:cNvPicPr>
          <p:nvPr userDrawn="1"/>
        </p:nvPicPr>
        <p:blipFill>
          <a:blip r:embed="rId2">
            <a:biLevel thresh="25000"/>
          </a:blip>
          <a:stretch>
            <a:fillRect/>
          </a:stretch>
        </p:blipFill>
        <p:spPr>
          <a:xfrm>
            <a:off x="336550" y="6288110"/>
            <a:ext cx="673768" cy="228600"/>
          </a:xfrm>
          <a:prstGeom prst="rect">
            <a:avLst/>
          </a:prstGeom>
        </p:spPr>
      </p:pic>
      <p:sp>
        <p:nvSpPr>
          <p:cNvPr id="14" name="Slide Number Placeholder 5">
            <a:extLst>
              <a:ext uri="{FF2B5EF4-FFF2-40B4-BE49-F238E27FC236}">
                <a16:creationId xmlns:a16="http://schemas.microsoft.com/office/drawing/2014/main" id="{3F4B6FEC-C223-86A4-9868-5E605718CB69}"/>
              </a:ext>
            </a:extLst>
          </p:cNvPr>
          <p:cNvSpPr>
            <a:spLocks noGrp="1"/>
          </p:cNvSpPr>
          <p:nvPr>
            <p:ph type="sldNum" sz="quarter" idx="4"/>
          </p:nvPr>
        </p:nvSpPr>
        <p:spPr>
          <a:xfrm>
            <a:off x="9198592" y="6440510"/>
            <a:ext cx="2743200" cy="365125"/>
          </a:xfrm>
          <a:prstGeom prst="rect">
            <a:avLst/>
          </a:prstGeom>
        </p:spPr>
        <p:txBody>
          <a:bodyPr/>
          <a:lstStyle>
            <a:lvl1pPr algn="r">
              <a:defRPr sz="1200" b="0" i="0">
                <a:solidFill>
                  <a:schemeClr val="bg1"/>
                </a:solidFill>
                <a:latin typeface="Aptos" panose="020B0004020202020204" pitchFamily="34" charset="0"/>
                <a:ea typeface="Noto Sans Linear A" panose="020B0502040504020204" pitchFamily="34" charset="0"/>
                <a:cs typeface="Helvetica Neue" panose="02000503000000020004" pitchFamily="2" charset="0"/>
              </a:defRPr>
            </a:lvl1pPr>
          </a:lstStyle>
          <a:p>
            <a:fld id="{28874E94-A9F8-5A41-9D43-235A602D77DE}" type="slidenum">
              <a:rPr lang="en-US" smtClean="0"/>
              <a:pPr/>
              <a:t>‹#›</a:t>
            </a:fld>
            <a:endParaRPr lang="en-US"/>
          </a:p>
        </p:txBody>
      </p:sp>
      <p:sp>
        <p:nvSpPr>
          <p:cNvPr id="17" name="Text Placeholder 2">
            <a:extLst>
              <a:ext uri="{FF2B5EF4-FFF2-40B4-BE49-F238E27FC236}">
                <a16:creationId xmlns:a16="http://schemas.microsoft.com/office/drawing/2014/main" id="{EB19C96E-4741-7C7C-5F2C-49FBF22F8504}"/>
              </a:ext>
            </a:extLst>
          </p:cNvPr>
          <p:cNvSpPr>
            <a:spLocks noGrp="1"/>
          </p:cNvSpPr>
          <p:nvPr>
            <p:ph type="body" sz="quarter" idx="15"/>
          </p:nvPr>
        </p:nvSpPr>
        <p:spPr>
          <a:xfrm>
            <a:off x="622300" y="2524554"/>
            <a:ext cx="10972800" cy="815546"/>
          </a:xfrm>
        </p:spPr>
        <p:txBody>
          <a:bodyPr anchor="ctr">
            <a:normAutofit lnSpcReduction="10000"/>
          </a:bodyPr>
          <a:lstStyle>
            <a:lvl1pPr algn="ctr">
              <a:buNone/>
              <a:defRPr sz="4800" b="0" i="0">
                <a:solidFill>
                  <a:schemeClr val="bg1"/>
                </a:solidFill>
                <a:latin typeface="Clash Grotesk Medium" pitchFamily="2" charset="77"/>
              </a:defRPr>
            </a:lvl1pPr>
          </a:lstStyle>
          <a:p>
            <a:endParaRPr lang="en-US"/>
          </a:p>
        </p:txBody>
      </p:sp>
      <p:sp>
        <p:nvSpPr>
          <p:cNvPr id="18" name="Text Placeholder 4">
            <a:extLst>
              <a:ext uri="{FF2B5EF4-FFF2-40B4-BE49-F238E27FC236}">
                <a16:creationId xmlns:a16="http://schemas.microsoft.com/office/drawing/2014/main" id="{0E49417B-35B0-39FE-9883-BEAE21D36BA8}"/>
              </a:ext>
            </a:extLst>
          </p:cNvPr>
          <p:cNvSpPr>
            <a:spLocks noGrp="1"/>
          </p:cNvSpPr>
          <p:nvPr>
            <p:ph type="body" sz="quarter" idx="17"/>
          </p:nvPr>
        </p:nvSpPr>
        <p:spPr>
          <a:xfrm>
            <a:off x="1524000" y="3415147"/>
            <a:ext cx="9144000" cy="365125"/>
          </a:xfrm>
        </p:spPr>
        <p:txBody>
          <a:bodyPr>
            <a:normAutofit lnSpcReduction="10000"/>
          </a:bodyPr>
          <a:lstStyle>
            <a:lvl1pPr algn="ctr">
              <a:buNone/>
              <a:defRPr b="0" i="0">
                <a:solidFill>
                  <a:schemeClr val="bg1"/>
                </a:solidFill>
                <a:latin typeface="Clash Grotesk" pitchFamily="2" charset="77"/>
              </a:defRPr>
            </a:lvl1pPr>
          </a:lstStyle>
          <a:p>
            <a:endParaRPr lang="en-US"/>
          </a:p>
        </p:txBody>
      </p:sp>
      <p:sp>
        <p:nvSpPr>
          <p:cNvPr id="25" name="Text Placeholder 16">
            <a:extLst>
              <a:ext uri="{FF2B5EF4-FFF2-40B4-BE49-F238E27FC236}">
                <a16:creationId xmlns:a16="http://schemas.microsoft.com/office/drawing/2014/main" id="{B38F2867-6420-15F6-9556-FCC0309C4FF1}"/>
              </a:ext>
            </a:extLst>
          </p:cNvPr>
          <p:cNvSpPr>
            <a:spLocks noGrp="1"/>
          </p:cNvSpPr>
          <p:nvPr>
            <p:ph type="body" sz="quarter" idx="13"/>
          </p:nvPr>
        </p:nvSpPr>
        <p:spPr>
          <a:xfrm>
            <a:off x="434340" y="579783"/>
            <a:ext cx="2194560" cy="1949174"/>
          </a:xfrm>
        </p:spPr>
        <p:txBody>
          <a:bodyPr/>
          <a:lstStyle>
            <a:lvl1pPr algn="l">
              <a:buFont typeface="Arial" panose="020B0604020202020204" pitchFamily="34" charset="0"/>
              <a:buNone/>
              <a:defRPr sz="1400">
                <a:solidFill>
                  <a:schemeClr val="bg1"/>
                </a:solidFill>
              </a:defRPr>
            </a:lvl1pPr>
          </a:lstStyle>
          <a:p>
            <a:pPr lvl="0"/>
            <a:r>
              <a:rPr lang="en-US"/>
              <a:t>Click to edit Master text</a:t>
            </a:r>
          </a:p>
        </p:txBody>
      </p:sp>
      <p:sp>
        <p:nvSpPr>
          <p:cNvPr id="26" name="TextBox 25">
            <a:extLst>
              <a:ext uri="{FF2B5EF4-FFF2-40B4-BE49-F238E27FC236}">
                <a16:creationId xmlns:a16="http://schemas.microsoft.com/office/drawing/2014/main" id="{72CAA42E-3465-5E49-94B8-E6EB5AD91014}"/>
              </a:ext>
            </a:extLst>
          </p:cNvPr>
          <p:cNvSpPr txBox="1"/>
          <p:nvPr userDrawn="1"/>
        </p:nvSpPr>
        <p:spPr>
          <a:xfrm>
            <a:off x="2777988" y="6433931"/>
            <a:ext cx="368410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a:solidFill>
                  <a:schemeClr val="bg1"/>
                </a:solidFill>
                <a:latin typeface="Aptos Light" panose="020B0004020202020204" pitchFamily="34" charset="0"/>
              </a:rPr>
              <a:t>Confidential – for internal use only</a:t>
            </a:r>
          </a:p>
        </p:txBody>
      </p:sp>
    </p:spTree>
    <p:extLst>
      <p:ext uri="{BB962C8B-B14F-4D97-AF65-F5344CB8AC3E}">
        <p14:creationId xmlns:p14="http://schemas.microsoft.com/office/powerpoint/2010/main" val="298109794"/>
      </p:ext>
    </p:extLst>
  </p:cSld>
  <p:clrMapOvr>
    <a:masterClrMapping/>
  </p:clrMapOvr>
  <p:extLst>
    <p:ext uri="{DCECCB84-F9BA-43D5-87BE-67443E8EF086}">
      <p15:sldGuideLst xmlns:p15="http://schemas.microsoft.com/office/powerpoint/2012/main">
        <p15:guide id="1" orient="horz" pos="4104" userDrawn="1">
          <p15:clr>
            <a:srgbClr val="FBAE40"/>
          </p15:clr>
        </p15:guide>
        <p15:guide id="2" pos="73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bg>
      <p:bgPr>
        <a:solidFill>
          <a:srgbClr val="EEEFEF"/>
        </a:solidFill>
        <a:effectLst/>
      </p:bgPr>
    </p:bg>
    <p:spTree>
      <p:nvGrpSpPr>
        <p:cNvPr id="1" name=""/>
        <p:cNvGrpSpPr/>
        <p:nvPr/>
      </p:nvGrpSpPr>
      <p:grpSpPr>
        <a:xfrm>
          <a:off x="0" y="0"/>
          <a:ext cx="0" cy="0"/>
          <a:chOff x="0" y="0"/>
          <a:chExt cx="0" cy="0"/>
        </a:xfrm>
      </p:grpSpPr>
      <p:sp>
        <p:nvSpPr>
          <p:cNvPr id="12" name="Slide Number Placeholder 3">
            <a:extLst>
              <a:ext uri="{FF2B5EF4-FFF2-40B4-BE49-F238E27FC236}">
                <a16:creationId xmlns:a16="http://schemas.microsoft.com/office/drawing/2014/main" id="{D52155C3-7537-CDE4-BCAE-AD11C69CCCEF}"/>
              </a:ext>
            </a:extLst>
          </p:cNvPr>
          <p:cNvSpPr>
            <a:spLocks noGrp="1"/>
          </p:cNvSpPr>
          <p:nvPr>
            <p:ph type="sldNum" sz="quarter" idx="11"/>
          </p:nvPr>
        </p:nvSpPr>
        <p:spPr>
          <a:xfrm>
            <a:off x="9198592" y="6440510"/>
            <a:ext cx="2743200" cy="365125"/>
          </a:xfrm>
        </p:spPr>
        <p:txBody>
          <a:bodyPr/>
          <a:lstStyle/>
          <a:p>
            <a:fld id="{28874E94-A9F8-5A41-9D43-235A602D77DE}" type="slidenum">
              <a:rPr lang="en-US" smtClean="0"/>
              <a:pPr/>
              <a:t>‹#›</a:t>
            </a:fld>
            <a:endParaRPr lang="en-US">
              <a:latin typeface="Aptos" panose="020B0004020202020204" pitchFamily="34" charset="0"/>
            </a:endParaRPr>
          </a:p>
        </p:txBody>
      </p:sp>
      <p:sp>
        <p:nvSpPr>
          <p:cNvPr id="7" name="Title 1">
            <a:extLst>
              <a:ext uri="{FF2B5EF4-FFF2-40B4-BE49-F238E27FC236}">
                <a16:creationId xmlns:a16="http://schemas.microsoft.com/office/drawing/2014/main" id="{1162771C-5892-C7F4-3ADB-6E528D0E11E7}"/>
              </a:ext>
            </a:extLst>
          </p:cNvPr>
          <p:cNvSpPr>
            <a:spLocks noGrp="1"/>
          </p:cNvSpPr>
          <p:nvPr>
            <p:ph type="title" hasCustomPrompt="1"/>
          </p:nvPr>
        </p:nvSpPr>
        <p:spPr>
          <a:xfrm>
            <a:off x="2784172" y="571959"/>
            <a:ext cx="8923020" cy="681355"/>
          </a:xfrm>
        </p:spPr>
        <p:txBody>
          <a:bodyPr/>
          <a:lstStyle/>
          <a:p>
            <a:r>
              <a:rPr lang="en-US"/>
              <a:t>Click to add text</a:t>
            </a:r>
          </a:p>
        </p:txBody>
      </p:sp>
      <p:sp>
        <p:nvSpPr>
          <p:cNvPr id="8" name="Text Placeholder 16">
            <a:extLst>
              <a:ext uri="{FF2B5EF4-FFF2-40B4-BE49-F238E27FC236}">
                <a16:creationId xmlns:a16="http://schemas.microsoft.com/office/drawing/2014/main" id="{B817504D-4180-6D4A-2988-127761E0C7FE}"/>
              </a:ext>
            </a:extLst>
          </p:cNvPr>
          <p:cNvSpPr>
            <a:spLocks noGrp="1"/>
          </p:cNvSpPr>
          <p:nvPr>
            <p:ph type="body" sz="quarter" idx="13"/>
          </p:nvPr>
        </p:nvSpPr>
        <p:spPr>
          <a:xfrm>
            <a:off x="434340" y="579783"/>
            <a:ext cx="2194560" cy="1949174"/>
          </a:xfrm>
        </p:spPr>
        <p:txBody>
          <a:bodyPr/>
          <a:lstStyle>
            <a:lvl1pPr algn="l">
              <a:buFont typeface="Arial" panose="020B0604020202020204" pitchFamily="34" charset="0"/>
              <a:buNone/>
              <a:defRPr sz="1400"/>
            </a:lvl1pPr>
          </a:lstStyle>
          <a:p>
            <a:pPr lvl="0"/>
            <a:r>
              <a:rPr lang="en-US"/>
              <a:t>Click to edit Master text</a:t>
            </a:r>
          </a:p>
        </p:txBody>
      </p:sp>
      <p:sp>
        <p:nvSpPr>
          <p:cNvPr id="17" name="Text Placeholder 16">
            <a:extLst>
              <a:ext uri="{FF2B5EF4-FFF2-40B4-BE49-F238E27FC236}">
                <a16:creationId xmlns:a16="http://schemas.microsoft.com/office/drawing/2014/main" id="{4F537338-51BE-1628-38AC-2C12C58AD191}"/>
              </a:ext>
            </a:extLst>
          </p:cNvPr>
          <p:cNvSpPr>
            <a:spLocks noGrp="1"/>
          </p:cNvSpPr>
          <p:nvPr>
            <p:ph type="body" sz="quarter" idx="12"/>
          </p:nvPr>
        </p:nvSpPr>
        <p:spPr>
          <a:xfrm>
            <a:off x="2777988" y="1272762"/>
            <a:ext cx="8950186" cy="990600"/>
          </a:xfrm>
        </p:spPr>
        <p:txBody>
          <a:bodyPr/>
          <a:lstStyle>
            <a:lvl1pPr>
              <a:buNone/>
              <a:defRPr sz="1800"/>
            </a:lvl1pPr>
          </a:lstStyle>
          <a:p>
            <a:pPr lvl="0"/>
            <a:r>
              <a:rPr lang="en-US"/>
              <a:t>Click to edit Master text styles</a:t>
            </a:r>
          </a:p>
        </p:txBody>
      </p:sp>
      <p:sp>
        <p:nvSpPr>
          <p:cNvPr id="18" name="Text Placeholder 16">
            <a:extLst>
              <a:ext uri="{FF2B5EF4-FFF2-40B4-BE49-F238E27FC236}">
                <a16:creationId xmlns:a16="http://schemas.microsoft.com/office/drawing/2014/main" id="{9C909A7A-C368-6320-44F5-230A0C0B7C2A}"/>
              </a:ext>
            </a:extLst>
          </p:cNvPr>
          <p:cNvSpPr>
            <a:spLocks noGrp="1"/>
          </p:cNvSpPr>
          <p:nvPr>
            <p:ph type="body" sz="quarter" idx="14" hasCustomPrompt="1"/>
          </p:nvPr>
        </p:nvSpPr>
        <p:spPr>
          <a:xfrm>
            <a:off x="2796746" y="6142934"/>
            <a:ext cx="5431734" cy="271117"/>
          </a:xfrm>
        </p:spPr>
        <p:txBody>
          <a:bodyPr/>
          <a:lstStyle>
            <a:lvl1pPr>
              <a:buNone/>
              <a:defRPr sz="1000"/>
            </a:lvl1pPr>
          </a:lstStyle>
          <a:p>
            <a:pPr lvl="0"/>
            <a:r>
              <a:rPr lang="en-US"/>
              <a:t>Click to edit footnote text</a:t>
            </a:r>
          </a:p>
        </p:txBody>
      </p:sp>
      <p:sp>
        <p:nvSpPr>
          <p:cNvPr id="19" name="TextBox 18">
            <a:extLst>
              <a:ext uri="{FF2B5EF4-FFF2-40B4-BE49-F238E27FC236}">
                <a16:creationId xmlns:a16="http://schemas.microsoft.com/office/drawing/2014/main" id="{E3FAC20A-AA09-CE65-D7AE-24A9F40BB0E6}"/>
              </a:ext>
            </a:extLst>
          </p:cNvPr>
          <p:cNvSpPr txBox="1"/>
          <p:nvPr userDrawn="1"/>
        </p:nvSpPr>
        <p:spPr>
          <a:xfrm>
            <a:off x="2777988" y="6433931"/>
            <a:ext cx="368410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a:latin typeface="Aptos Light" panose="020B0004020202020204" pitchFamily="34" charset="0"/>
              </a:rPr>
              <a:t>Confidential – for internal use only</a:t>
            </a:r>
          </a:p>
        </p:txBody>
      </p:sp>
    </p:spTree>
    <p:extLst>
      <p:ext uri="{BB962C8B-B14F-4D97-AF65-F5344CB8AC3E}">
        <p14:creationId xmlns:p14="http://schemas.microsoft.com/office/powerpoint/2010/main" val="6602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hite content">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4253E8-282F-25DC-E1A9-2D65573B2BCE}"/>
              </a:ext>
            </a:extLst>
          </p:cNvPr>
          <p:cNvSpPr>
            <a:spLocks noGrp="1"/>
          </p:cNvSpPr>
          <p:nvPr>
            <p:ph type="sldNum" sz="quarter" idx="11"/>
          </p:nvPr>
        </p:nvSpPr>
        <p:spPr/>
        <p:txBody>
          <a:bodyPr/>
          <a:lstStyle/>
          <a:p>
            <a:fld id="{28874E94-A9F8-5A41-9D43-235A602D77DE}" type="slidenum">
              <a:rPr lang="en-US" smtClean="0"/>
              <a:pPr/>
              <a:t>‹#›</a:t>
            </a:fld>
            <a:endParaRPr lang="en-US">
              <a:latin typeface="Aptos" panose="020B0004020202020204" pitchFamily="34" charset="0"/>
            </a:endParaRPr>
          </a:p>
        </p:txBody>
      </p:sp>
      <p:sp>
        <p:nvSpPr>
          <p:cNvPr id="18" name="Text Placeholder 16">
            <a:extLst>
              <a:ext uri="{FF2B5EF4-FFF2-40B4-BE49-F238E27FC236}">
                <a16:creationId xmlns:a16="http://schemas.microsoft.com/office/drawing/2014/main" id="{EC871F72-0A71-E3E9-93C8-F8E9308E932B}"/>
              </a:ext>
            </a:extLst>
          </p:cNvPr>
          <p:cNvSpPr>
            <a:spLocks noGrp="1"/>
          </p:cNvSpPr>
          <p:nvPr>
            <p:ph type="body" sz="quarter" idx="13"/>
          </p:nvPr>
        </p:nvSpPr>
        <p:spPr>
          <a:xfrm>
            <a:off x="434340" y="579783"/>
            <a:ext cx="2194560" cy="1949174"/>
          </a:xfrm>
        </p:spPr>
        <p:txBody>
          <a:bodyPr/>
          <a:lstStyle>
            <a:lvl1pPr marL="0" indent="0" algn="l">
              <a:buFont typeface="Arial" panose="020B0604020202020204" pitchFamily="34" charset="0"/>
              <a:buNone/>
              <a:defRPr sz="1400"/>
            </a:lvl1pPr>
          </a:lstStyle>
          <a:p>
            <a:pPr lvl="0"/>
            <a:r>
              <a:rPr lang="en-US"/>
              <a:t>Click to edit Master text</a:t>
            </a:r>
          </a:p>
        </p:txBody>
      </p:sp>
      <p:sp>
        <p:nvSpPr>
          <p:cNvPr id="19" name="Title 1">
            <a:extLst>
              <a:ext uri="{FF2B5EF4-FFF2-40B4-BE49-F238E27FC236}">
                <a16:creationId xmlns:a16="http://schemas.microsoft.com/office/drawing/2014/main" id="{447398F9-BD5A-F836-843E-526F29B52B19}"/>
              </a:ext>
            </a:extLst>
          </p:cNvPr>
          <p:cNvSpPr>
            <a:spLocks noGrp="1"/>
          </p:cNvSpPr>
          <p:nvPr>
            <p:ph type="title" hasCustomPrompt="1"/>
          </p:nvPr>
        </p:nvSpPr>
        <p:spPr>
          <a:xfrm>
            <a:off x="2784172" y="571959"/>
            <a:ext cx="8923020" cy="681355"/>
          </a:xfrm>
        </p:spPr>
        <p:txBody>
          <a:bodyPr/>
          <a:lstStyle/>
          <a:p>
            <a:r>
              <a:rPr lang="en-US"/>
              <a:t>Click to add text</a:t>
            </a:r>
          </a:p>
        </p:txBody>
      </p:sp>
      <p:sp>
        <p:nvSpPr>
          <p:cNvPr id="20" name="Text Placeholder 16">
            <a:extLst>
              <a:ext uri="{FF2B5EF4-FFF2-40B4-BE49-F238E27FC236}">
                <a16:creationId xmlns:a16="http://schemas.microsoft.com/office/drawing/2014/main" id="{DD110E61-A281-1618-22FE-6AD5AB315B73}"/>
              </a:ext>
            </a:extLst>
          </p:cNvPr>
          <p:cNvSpPr>
            <a:spLocks noGrp="1"/>
          </p:cNvSpPr>
          <p:nvPr>
            <p:ph type="body" sz="quarter" idx="12"/>
          </p:nvPr>
        </p:nvSpPr>
        <p:spPr>
          <a:xfrm>
            <a:off x="2777988" y="1272762"/>
            <a:ext cx="8950186" cy="990600"/>
          </a:xfrm>
        </p:spPr>
        <p:txBody>
          <a:bodyPr>
            <a:noAutofit/>
          </a:bodyPr>
          <a:lstStyle>
            <a:lvl1pPr marL="0" indent="0">
              <a:buNone/>
              <a:defRPr sz="1800" kern="0" baseline="0"/>
            </a:lvl1pPr>
          </a:lstStyle>
          <a:p>
            <a:pPr lvl="0"/>
            <a:r>
              <a:rPr lang="en-US"/>
              <a:t>Click to edit Master text styles</a:t>
            </a:r>
          </a:p>
        </p:txBody>
      </p:sp>
      <p:sp>
        <p:nvSpPr>
          <p:cNvPr id="21" name="Text Placeholder 16">
            <a:extLst>
              <a:ext uri="{FF2B5EF4-FFF2-40B4-BE49-F238E27FC236}">
                <a16:creationId xmlns:a16="http://schemas.microsoft.com/office/drawing/2014/main" id="{0D40593B-60E6-0B8F-7AB0-21B5029C03E3}"/>
              </a:ext>
            </a:extLst>
          </p:cNvPr>
          <p:cNvSpPr>
            <a:spLocks noGrp="1"/>
          </p:cNvSpPr>
          <p:nvPr>
            <p:ph type="body" sz="quarter" idx="14" hasCustomPrompt="1"/>
          </p:nvPr>
        </p:nvSpPr>
        <p:spPr>
          <a:xfrm>
            <a:off x="2796745" y="6142934"/>
            <a:ext cx="9183683" cy="297576"/>
          </a:xfrm>
        </p:spPr>
        <p:txBody>
          <a:bodyPr/>
          <a:lstStyle>
            <a:lvl1pPr>
              <a:buNone/>
              <a:defRPr sz="1000"/>
            </a:lvl1pPr>
          </a:lstStyle>
          <a:p>
            <a:pPr lvl="0"/>
            <a:r>
              <a:rPr lang="en-US"/>
              <a:t>Click to edit footnote text</a:t>
            </a:r>
          </a:p>
        </p:txBody>
      </p:sp>
      <p:sp>
        <p:nvSpPr>
          <p:cNvPr id="22" name="TextBox 21">
            <a:extLst>
              <a:ext uri="{FF2B5EF4-FFF2-40B4-BE49-F238E27FC236}">
                <a16:creationId xmlns:a16="http://schemas.microsoft.com/office/drawing/2014/main" id="{8E4BB2BE-1287-F7C9-F7F9-645E21C8CDFF}"/>
              </a:ext>
            </a:extLst>
          </p:cNvPr>
          <p:cNvSpPr txBox="1"/>
          <p:nvPr userDrawn="1"/>
        </p:nvSpPr>
        <p:spPr>
          <a:xfrm>
            <a:off x="2777988" y="6433931"/>
            <a:ext cx="368410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a:latin typeface="Aptos Light" panose="020B0004020202020204" pitchFamily="34" charset="0"/>
              </a:rPr>
              <a:t>Confidential – for internal use only</a:t>
            </a:r>
          </a:p>
        </p:txBody>
      </p:sp>
    </p:spTree>
    <p:extLst>
      <p:ext uri="{BB962C8B-B14F-4D97-AF65-F5344CB8AC3E}">
        <p14:creationId xmlns:p14="http://schemas.microsoft.com/office/powerpoint/2010/main" val="3939813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ck content">
    <p:bg>
      <p:bgRef idx="1001">
        <a:schemeClr val="bg1"/>
      </p:bgRef>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4253E8-282F-25DC-E1A9-2D65573B2BCE}"/>
              </a:ext>
            </a:extLst>
          </p:cNvPr>
          <p:cNvSpPr>
            <a:spLocks noGrp="1"/>
          </p:cNvSpPr>
          <p:nvPr>
            <p:ph type="sldNum" sz="quarter" idx="11"/>
          </p:nvPr>
        </p:nvSpPr>
        <p:spPr/>
        <p:txBody>
          <a:bodyPr/>
          <a:lstStyle/>
          <a:p>
            <a:fld id="{28874E94-A9F8-5A41-9D43-235A602D77DE}" type="slidenum">
              <a:rPr lang="en-US" smtClean="0"/>
              <a:pPr/>
              <a:t>‹#›</a:t>
            </a:fld>
            <a:endParaRPr lang="en-US">
              <a:latin typeface="Aptos" panose="020B0004020202020204" pitchFamily="34" charset="0"/>
            </a:endParaRPr>
          </a:p>
        </p:txBody>
      </p:sp>
      <p:sp>
        <p:nvSpPr>
          <p:cNvPr id="18" name="Text Placeholder 16">
            <a:extLst>
              <a:ext uri="{FF2B5EF4-FFF2-40B4-BE49-F238E27FC236}">
                <a16:creationId xmlns:a16="http://schemas.microsoft.com/office/drawing/2014/main" id="{EC871F72-0A71-E3E9-93C8-F8E9308E932B}"/>
              </a:ext>
            </a:extLst>
          </p:cNvPr>
          <p:cNvSpPr>
            <a:spLocks noGrp="1"/>
          </p:cNvSpPr>
          <p:nvPr>
            <p:ph type="body" sz="quarter" idx="13"/>
          </p:nvPr>
        </p:nvSpPr>
        <p:spPr>
          <a:xfrm>
            <a:off x="434340" y="579783"/>
            <a:ext cx="2194560" cy="1949174"/>
          </a:xfrm>
        </p:spPr>
        <p:txBody>
          <a:bodyPr/>
          <a:lstStyle>
            <a:lvl1pPr marL="0" indent="0" algn="l">
              <a:buFont typeface="Arial" panose="020B0604020202020204" pitchFamily="34" charset="0"/>
              <a:buNone/>
              <a:defRPr sz="1400"/>
            </a:lvl1pPr>
          </a:lstStyle>
          <a:p>
            <a:pPr lvl="0"/>
            <a:r>
              <a:rPr lang="en-US"/>
              <a:t>Click to edit Master text</a:t>
            </a:r>
          </a:p>
        </p:txBody>
      </p:sp>
      <p:sp>
        <p:nvSpPr>
          <p:cNvPr id="19" name="Title 1">
            <a:extLst>
              <a:ext uri="{FF2B5EF4-FFF2-40B4-BE49-F238E27FC236}">
                <a16:creationId xmlns:a16="http://schemas.microsoft.com/office/drawing/2014/main" id="{447398F9-BD5A-F836-843E-526F29B52B19}"/>
              </a:ext>
            </a:extLst>
          </p:cNvPr>
          <p:cNvSpPr>
            <a:spLocks noGrp="1"/>
          </p:cNvSpPr>
          <p:nvPr>
            <p:ph type="title" hasCustomPrompt="1"/>
          </p:nvPr>
        </p:nvSpPr>
        <p:spPr>
          <a:xfrm>
            <a:off x="2784172" y="571959"/>
            <a:ext cx="8923020" cy="681355"/>
          </a:xfrm>
        </p:spPr>
        <p:txBody>
          <a:bodyPr/>
          <a:lstStyle/>
          <a:p>
            <a:r>
              <a:rPr lang="en-US"/>
              <a:t>Click to add text</a:t>
            </a:r>
          </a:p>
        </p:txBody>
      </p:sp>
      <p:sp>
        <p:nvSpPr>
          <p:cNvPr id="20" name="Text Placeholder 16">
            <a:extLst>
              <a:ext uri="{FF2B5EF4-FFF2-40B4-BE49-F238E27FC236}">
                <a16:creationId xmlns:a16="http://schemas.microsoft.com/office/drawing/2014/main" id="{DD110E61-A281-1618-22FE-6AD5AB315B73}"/>
              </a:ext>
            </a:extLst>
          </p:cNvPr>
          <p:cNvSpPr>
            <a:spLocks noGrp="1"/>
          </p:cNvSpPr>
          <p:nvPr>
            <p:ph type="body" sz="quarter" idx="12"/>
          </p:nvPr>
        </p:nvSpPr>
        <p:spPr>
          <a:xfrm>
            <a:off x="2777988" y="1272762"/>
            <a:ext cx="8950186" cy="990600"/>
          </a:xfrm>
        </p:spPr>
        <p:txBody>
          <a:bodyPr>
            <a:noAutofit/>
          </a:bodyPr>
          <a:lstStyle>
            <a:lvl1pPr marL="0" indent="0">
              <a:buNone/>
              <a:defRPr sz="1800" kern="0" baseline="0"/>
            </a:lvl1pPr>
          </a:lstStyle>
          <a:p>
            <a:pPr lvl="0"/>
            <a:r>
              <a:rPr lang="en-US"/>
              <a:t>Click to edit Master text styles</a:t>
            </a:r>
          </a:p>
        </p:txBody>
      </p:sp>
      <p:sp>
        <p:nvSpPr>
          <p:cNvPr id="21" name="Text Placeholder 16">
            <a:extLst>
              <a:ext uri="{FF2B5EF4-FFF2-40B4-BE49-F238E27FC236}">
                <a16:creationId xmlns:a16="http://schemas.microsoft.com/office/drawing/2014/main" id="{0D40593B-60E6-0B8F-7AB0-21B5029C03E3}"/>
              </a:ext>
            </a:extLst>
          </p:cNvPr>
          <p:cNvSpPr>
            <a:spLocks noGrp="1"/>
          </p:cNvSpPr>
          <p:nvPr>
            <p:ph type="body" sz="quarter" idx="14" hasCustomPrompt="1"/>
          </p:nvPr>
        </p:nvSpPr>
        <p:spPr>
          <a:xfrm>
            <a:off x="2809624" y="6142934"/>
            <a:ext cx="9183683" cy="297576"/>
          </a:xfrm>
        </p:spPr>
        <p:txBody>
          <a:bodyPr/>
          <a:lstStyle>
            <a:lvl1pPr>
              <a:buNone/>
              <a:defRPr sz="1000"/>
            </a:lvl1pPr>
          </a:lstStyle>
          <a:p>
            <a:pPr lvl="0"/>
            <a:r>
              <a:rPr lang="en-US"/>
              <a:t>Click to edit footnote text</a:t>
            </a:r>
          </a:p>
        </p:txBody>
      </p:sp>
      <p:sp>
        <p:nvSpPr>
          <p:cNvPr id="22" name="TextBox 21">
            <a:extLst>
              <a:ext uri="{FF2B5EF4-FFF2-40B4-BE49-F238E27FC236}">
                <a16:creationId xmlns:a16="http://schemas.microsoft.com/office/drawing/2014/main" id="{8E4BB2BE-1287-F7C9-F7F9-645E21C8CDFF}"/>
              </a:ext>
            </a:extLst>
          </p:cNvPr>
          <p:cNvSpPr txBox="1"/>
          <p:nvPr userDrawn="1"/>
        </p:nvSpPr>
        <p:spPr>
          <a:xfrm>
            <a:off x="2777988" y="6433931"/>
            <a:ext cx="368410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a:latin typeface="Aptos Light" panose="020B0004020202020204" pitchFamily="34" charset="0"/>
              </a:rPr>
              <a:t>Confidential – for internal use only</a:t>
            </a:r>
          </a:p>
        </p:txBody>
      </p:sp>
      <p:pic>
        <p:nvPicPr>
          <p:cNvPr id="2" name="Picture 1">
            <a:extLst>
              <a:ext uri="{FF2B5EF4-FFF2-40B4-BE49-F238E27FC236}">
                <a16:creationId xmlns:a16="http://schemas.microsoft.com/office/drawing/2014/main" id="{DCA68D8A-5A4B-5B13-8638-90BEFFA39E0B}"/>
              </a:ext>
            </a:extLst>
          </p:cNvPr>
          <p:cNvPicPr>
            <a:picLocks noChangeAspect="1"/>
          </p:cNvPicPr>
          <p:nvPr userDrawn="1"/>
        </p:nvPicPr>
        <p:blipFill>
          <a:blip r:embed="rId2">
            <a:biLevel thresh="25000"/>
          </a:blip>
          <a:stretch>
            <a:fillRect/>
          </a:stretch>
        </p:blipFill>
        <p:spPr>
          <a:xfrm>
            <a:off x="336550" y="6288110"/>
            <a:ext cx="673768" cy="228600"/>
          </a:xfrm>
          <a:prstGeom prst="rect">
            <a:avLst/>
          </a:prstGeom>
        </p:spPr>
      </p:pic>
    </p:spTree>
    <p:extLst>
      <p:ext uri="{BB962C8B-B14F-4D97-AF65-F5344CB8AC3E}">
        <p14:creationId xmlns:p14="http://schemas.microsoft.com/office/powerpoint/2010/main" val="752217485"/>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pager">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4253E8-282F-25DC-E1A9-2D65573B2BCE}"/>
              </a:ext>
            </a:extLst>
          </p:cNvPr>
          <p:cNvSpPr>
            <a:spLocks noGrp="1"/>
          </p:cNvSpPr>
          <p:nvPr>
            <p:ph type="sldNum" sz="quarter" idx="11"/>
          </p:nvPr>
        </p:nvSpPr>
        <p:spPr/>
        <p:txBody>
          <a:bodyPr/>
          <a:lstStyle/>
          <a:p>
            <a:fld id="{28874E94-A9F8-5A41-9D43-235A602D77DE}" type="slidenum">
              <a:rPr lang="en-US" smtClean="0"/>
              <a:pPr/>
              <a:t>‹#›</a:t>
            </a:fld>
            <a:endParaRPr lang="en-US">
              <a:latin typeface="Aptos" panose="020B0004020202020204" pitchFamily="34" charset="0"/>
            </a:endParaRPr>
          </a:p>
        </p:txBody>
      </p:sp>
      <p:sp>
        <p:nvSpPr>
          <p:cNvPr id="18" name="Text Placeholder 16">
            <a:extLst>
              <a:ext uri="{FF2B5EF4-FFF2-40B4-BE49-F238E27FC236}">
                <a16:creationId xmlns:a16="http://schemas.microsoft.com/office/drawing/2014/main" id="{EC871F72-0A71-E3E9-93C8-F8E9308E932B}"/>
              </a:ext>
            </a:extLst>
          </p:cNvPr>
          <p:cNvSpPr>
            <a:spLocks noGrp="1"/>
          </p:cNvSpPr>
          <p:nvPr>
            <p:ph type="body" sz="quarter" idx="13"/>
          </p:nvPr>
        </p:nvSpPr>
        <p:spPr>
          <a:xfrm>
            <a:off x="456642" y="379990"/>
            <a:ext cx="2194560" cy="267710"/>
          </a:xfrm>
        </p:spPr>
        <p:txBody>
          <a:bodyPr/>
          <a:lstStyle>
            <a:lvl1pPr marL="0" indent="0" algn="l">
              <a:buFont typeface="Arial" panose="020B0604020202020204" pitchFamily="34" charset="0"/>
              <a:buNone/>
              <a:defRPr sz="1400"/>
            </a:lvl1pPr>
          </a:lstStyle>
          <a:p>
            <a:pPr lvl="0"/>
            <a:r>
              <a:rPr lang="en-US"/>
              <a:t>Click to edit Master text</a:t>
            </a:r>
          </a:p>
        </p:txBody>
      </p:sp>
      <p:sp>
        <p:nvSpPr>
          <p:cNvPr id="19" name="Title 1">
            <a:extLst>
              <a:ext uri="{FF2B5EF4-FFF2-40B4-BE49-F238E27FC236}">
                <a16:creationId xmlns:a16="http://schemas.microsoft.com/office/drawing/2014/main" id="{447398F9-BD5A-F836-843E-526F29B52B19}"/>
              </a:ext>
            </a:extLst>
          </p:cNvPr>
          <p:cNvSpPr>
            <a:spLocks noGrp="1"/>
          </p:cNvSpPr>
          <p:nvPr>
            <p:ph type="title" hasCustomPrompt="1"/>
          </p:nvPr>
        </p:nvSpPr>
        <p:spPr>
          <a:xfrm>
            <a:off x="412037" y="615135"/>
            <a:ext cx="11408256" cy="681355"/>
          </a:xfrm>
        </p:spPr>
        <p:txBody>
          <a:bodyPr/>
          <a:lstStyle>
            <a:lvl1pPr>
              <a:defRPr sz="5400" b="0" i="0">
                <a:latin typeface="Clash Grotesk" pitchFamily="2" charset="77"/>
              </a:defRPr>
            </a:lvl1pPr>
          </a:lstStyle>
          <a:p>
            <a:r>
              <a:rPr lang="en-US"/>
              <a:t>Click to add text</a:t>
            </a:r>
          </a:p>
        </p:txBody>
      </p:sp>
      <p:sp>
        <p:nvSpPr>
          <p:cNvPr id="20" name="Text Placeholder 16">
            <a:extLst>
              <a:ext uri="{FF2B5EF4-FFF2-40B4-BE49-F238E27FC236}">
                <a16:creationId xmlns:a16="http://schemas.microsoft.com/office/drawing/2014/main" id="{DD110E61-A281-1618-22FE-6AD5AB315B73}"/>
              </a:ext>
            </a:extLst>
          </p:cNvPr>
          <p:cNvSpPr>
            <a:spLocks noGrp="1"/>
          </p:cNvSpPr>
          <p:nvPr>
            <p:ph type="body" sz="quarter" idx="12"/>
          </p:nvPr>
        </p:nvSpPr>
        <p:spPr>
          <a:xfrm>
            <a:off x="443059" y="1355195"/>
            <a:ext cx="11377234" cy="990600"/>
          </a:xfrm>
        </p:spPr>
        <p:txBody>
          <a:bodyPr>
            <a:noAutofit/>
          </a:bodyPr>
          <a:lstStyle>
            <a:lvl1pPr marL="0" indent="0">
              <a:buNone/>
              <a:defRPr sz="1600" b="0" i="0" kern="0" baseline="0">
                <a:latin typeface="Aptos Light" panose="020B0004020202020204" pitchFamily="34" charset="0"/>
              </a:defRPr>
            </a:lvl1pPr>
          </a:lstStyle>
          <a:p>
            <a:pPr lvl="0"/>
            <a:r>
              <a:rPr lang="en-US"/>
              <a:t>Click to edit Master text styles</a:t>
            </a:r>
          </a:p>
        </p:txBody>
      </p:sp>
      <p:sp>
        <p:nvSpPr>
          <p:cNvPr id="21" name="Text Placeholder 16">
            <a:extLst>
              <a:ext uri="{FF2B5EF4-FFF2-40B4-BE49-F238E27FC236}">
                <a16:creationId xmlns:a16="http://schemas.microsoft.com/office/drawing/2014/main" id="{0D40593B-60E6-0B8F-7AB0-21B5029C03E3}"/>
              </a:ext>
            </a:extLst>
          </p:cNvPr>
          <p:cNvSpPr>
            <a:spLocks noGrp="1"/>
          </p:cNvSpPr>
          <p:nvPr>
            <p:ph type="body" sz="quarter" idx="14" hasCustomPrompt="1"/>
          </p:nvPr>
        </p:nvSpPr>
        <p:spPr>
          <a:xfrm>
            <a:off x="2822503" y="6142934"/>
            <a:ext cx="9183683" cy="297576"/>
          </a:xfrm>
        </p:spPr>
        <p:txBody>
          <a:bodyPr/>
          <a:lstStyle>
            <a:lvl1pPr marL="0">
              <a:buNone/>
              <a:defRPr sz="1000"/>
            </a:lvl1pPr>
          </a:lstStyle>
          <a:p>
            <a:pPr lvl="0"/>
            <a:r>
              <a:rPr lang="en-US"/>
              <a:t>Click to edit footnote text</a:t>
            </a:r>
          </a:p>
        </p:txBody>
      </p:sp>
      <p:sp>
        <p:nvSpPr>
          <p:cNvPr id="22" name="TextBox 21">
            <a:extLst>
              <a:ext uri="{FF2B5EF4-FFF2-40B4-BE49-F238E27FC236}">
                <a16:creationId xmlns:a16="http://schemas.microsoft.com/office/drawing/2014/main" id="{8E4BB2BE-1287-F7C9-F7F9-645E21C8CDFF}"/>
              </a:ext>
            </a:extLst>
          </p:cNvPr>
          <p:cNvSpPr txBox="1"/>
          <p:nvPr userDrawn="1"/>
        </p:nvSpPr>
        <p:spPr>
          <a:xfrm>
            <a:off x="2777988" y="6433931"/>
            <a:ext cx="368410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a:latin typeface="Aptos Light" panose="020B0004020202020204" pitchFamily="34" charset="0"/>
              </a:rPr>
              <a:t>Confidential – for internal use only</a:t>
            </a:r>
          </a:p>
        </p:txBody>
      </p:sp>
    </p:spTree>
    <p:extLst>
      <p:ext uri="{BB962C8B-B14F-4D97-AF65-F5344CB8AC3E}">
        <p14:creationId xmlns:p14="http://schemas.microsoft.com/office/powerpoint/2010/main" val="3714003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pager black">
    <p:bg>
      <p:bgRef idx="1001">
        <a:schemeClr val="bg1"/>
      </p:bgRef>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4253E8-282F-25DC-E1A9-2D65573B2BCE}"/>
              </a:ext>
            </a:extLst>
          </p:cNvPr>
          <p:cNvSpPr>
            <a:spLocks noGrp="1"/>
          </p:cNvSpPr>
          <p:nvPr>
            <p:ph type="sldNum" sz="quarter" idx="11"/>
          </p:nvPr>
        </p:nvSpPr>
        <p:spPr/>
        <p:txBody>
          <a:bodyPr/>
          <a:lstStyle/>
          <a:p>
            <a:fld id="{28874E94-A9F8-5A41-9D43-235A602D77DE}" type="slidenum">
              <a:rPr lang="en-US" smtClean="0"/>
              <a:pPr/>
              <a:t>‹#›</a:t>
            </a:fld>
            <a:endParaRPr lang="en-US">
              <a:latin typeface="Aptos" panose="020B0004020202020204" pitchFamily="34" charset="0"/>
            </a:endParaRPr>
          </a:p>
        </p:txBody>
      </p:sp>
      <p:sp>
        <p:nvSpPr>
          <p:cNvPr id="18" name="Text Placeholder 16">
            <a:extLst>
              <a:ext uri="{FF2B5EF4-FFF2-40B4-BE49-F238E27FC236}">
                <a16:creationId xmlns:a16="http://schemas.microsoft.com/office/drawing/2014/main" id="{EC871F72-0A71-E3E9-93C8-F8E9308E932B}"/>
              </a:ext>
            </a:extLst>
          </p:cNvPr>
          <p:cNvSpPr>
            <a:spLocks noGrp="1"/>
          </p:cNvSpPr>
          <p:nvPr>
            <p:ph type="body" sz="quarter" idx="13"/>
          </p:nvPr>
        </p:nvSpPr>
        <p:spPr>
          <a:xfrm>
            <a:off x="456642" y="379990"/>
            <a:ext cx="2194560" cy="267710"/>
          </a:xfrm>
        </p:spPr>
        <p:txBody>
          <a:bodyPr/>
          <a:lstStyle>
            <a:lvl1pPr marL="0" indent="0" algn="l">
              <a:buFont typeface="Arial" panose="020B0604020202020204" pitchFamily="34" charset="0"/>
              <a:buNone/>
              <a:defRPr sz="1400"/>
            </a:lvl1pPr>
          </a:lstStyle>
          <a:p>
            <a:pPr lvl="0"/>
            <a:r>
              <a:rPr lang="en-US"/>
              <a:t>Click to edit Master text</a:t>
            </a:r>
          </a:p>
        </p:txBody>
      </p:sp>
      <p:sp>
        <p:nvSpPr>
          <p:cNvPr id="19" name="Title 1">
            <a:extLst>
              <a:ext uri="{FF2B5EF4-FFF2-40B4-BE49-F238E27FC236}">
                <a16:creationId xmlns:a16="http://schemas.microsoft.com/office/drawing/2014/main" id="{447398F9-BD5A-F836-843E-526F29B52B19}"/>
              </a:ext>
            </a:extLst>
          </p:cNvPr>
          <p:cNvSpPr>
            <a:spLocks noGrp="1"/>
          </p:cNvSpPr>
          <p:nvPr>
            <p:ph type="title" hasCustomPrompt="1"/>
          </p:nvPr>
        </p:nvSpPr>
        <p:spPr>
          <a:xfrm>
            <a:off x="412037" y="615135"/>
            <a:ext cx="11408256" cy="681355"/>
          </a:xfrm>
        </p:spPr>
        <p:txBody>
          <a:bodyPr/>
          <a:lstStyle>
            <a:lvl1pPr>
              <a:defRPr sz="5400" b="0" i="0">
                <a:latin typeface="Clash Grotesk" pitchFamily="2" charset="77"/>
              </a:defRPr>
            </a:lvl1pPr>
          </a:lstStyle>
          <a:p>
            <a:r>
              <a:rPr lang="en-US"/>
              <a:t>Click to add text</a:t>
            </a:r>
          </a:p>
        </p:txBody>
      </p:sp>
      <p:sp>
        <p:nvSpPr>
          <p:cNvPr id="20" name="Text Placeholder 16">
            <a:extLst>
              <a:ext uri="{FF2B5EF4-FFF2-40B4-BE49-F238E27FC236}">
                <a16:creationId xmlns:a16="http://schemas.microsoft.com/office/drawing/2014/main" id="{DD110E61-A281-1618-22FE-6AD5AB315B73}"/>
              </a:ext>
            </a:extLst>
          </p:cNvPr>
          <p:cNvSpPr>
            <a:spLocks noGrp="1"/>
          </p:cNvSpPr>
          <p:nvPr>
            <p:ph type="body" sz="quarter" idx="12"/>
          </p:nvPr>
        </p:nvSpPr>
        <p:spPr>
          <a:xfrm>
            <a:off x="443059" y="1355195"/>
            <a:ext cx="11377234" cy="990600"/>
          </a:xfrm>
        </p:spPr>
        <p:txBody>
          <a:bodyPr>
            <a:noAutofit/>
          </a:bodyPr>
          <a:lstStyle>
            <a:lvl1pPr marL="0" indent="0">
              <a:buNone/>
              <a:defRPr sz="1600" b="0" i="0" kern="0" baseline="0">
                <a:latin typeface="Aptos Light" panose="020B0004020202020204" pitchFamily="34" charset="0"/>
              </a:defRPr>
            </a:lvl1pPr>
          </a:lstStyle>
          <a:p>
            <a:pPr lvl="0"/>
            <a:r>
              <a:rPr lang="en-US"/>
              <a:t>Click to edit Master text styles</a:t>
            </a:r>
          </a:p>
        </p:txBody>
      </p:sp>
      <p:sp>
        <p:nvSpPr>
          <p:cNvPr id="21" name="Text Placeholder 16">
            <a:extLst>
              <a:ext uri="{FF2B5EF4-FFF2-40B4-BE49-F238E27FC236}">
                <a16:creationId xmlns:a16="http://schemas.microsoft.com/office/drawing/2014/main" id="{0D40593B-60E6-0B8F-7AB0-21B5029C03E3}"/>
              </a:ext>
            </a:extLst>
          </p:cNvPr>
          <p:cNvSpPr>
            <a:spLocks noGrp="1"/>
          </p:cNvSpPr>
          <p:nvPr>
            <p:ph type="body" sz="quarter" idx="14" hasCustomPrompt="1"/>
          </p:nvPr>
        </p:nvSpPr>
        <p:spPr>
          <a:xfrm>
            <a:off x="2822503" y="6142934"/>
            <a:ext cx="9183683" cy="297576"/>
          </a:xfrm>
        </p:spPr>
        <p:txBody>
          <a:bodyPr/>
          <a:lstStyle>
            <a:lvl1pPr>
              <a:buNone/>
              <a:defRPr sz="1000"/>
            </a:lvl1pPr>
          </a:lstStyle>
          <a:p>
            <a:pPr lvl="0"/>
            <a:r>
              <a:rPr lang="en-US"/>
              <a:t>Click to edit footnote text</a:t>
            </a:r>
          </a:p>
        </p:txBody>
      </p:sp>
      <p:sp>
        <p:nvSpPr>
          <p:cNvPr id="22" name="TextBox 21">
            <a:extLst>
              <a:ext uri="{FF2B5EF4-FFF2-40B4-BE49-F238E27FC236}">
                <a16:creationId xmlns:a16="http://schemas.microsoft.com/office/drawing/2014/main" id="{8E4BB2BE-1287-F7C9-F7F9-645E21C8CDFF}"/>
              </a:ext>
            </a:extLst>
          </p:cNvPr>
          <p:cNvSpPr txBox="1"/>
          <p:nvPr userDrawn="1"/>
        </p:nvSpPr>
        <p:spPr>
          <a:xfrm>
            <a:off x="2777988" y="6433931"/>
            <a:ext cx="368410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a:latin typeface="Aptos Light" panose="020B0004020202020204" pitchFamily="34" charset="0"/>
              </a:rPr>
              <a:t>Confidential – for internal use only</a:t>
            </a:r>
          </a:p>
        </p:txBody>
      </p:sp>
      <p:pic>
        <p:nvPicPr>
          <p:cNvPr id="2" name="Picture 1">
            <a:extLst>
              <a:ext uri="{FF2B5EF4-FFF2-40B4-BE49-F238E27FC236}">
                <a16:creationId xmlns:a16="http://schemas.microsoft.com/office/drawing/2014/main" id="{340B3FD8-1C8D-08AE-D145-20B8C712F26D}"/>
              </a:ext>
            </a:extLst>
          </p:cNvPr>
          <p:cNvPicPr>
            <a:picLocks noChangeAspect="1"/>
          </p:cNvPicPr>
          <p:nvPr userDrawn="1"/>
        </p:nvPicPr>
        <p:blipFill>
          <a:blip r:embed="rId2">
            <a:biLevel thresh="25000"/>
          </a:blip>
          <a:stretch>
            <a:fillRect/>
          </a:stretch>
        </p:blipFill>
        <p:spPr>
          <a:xfrm>
            <a:off x="336550" y="6288110"/>
            <a:ext cx="673768" cy="228600"/>
          </a:xfrm>
          <a:prstGeom prst="rect">
            <a:avLst/>
          </a:prstGeom>
        </p:spPr>
      </p:pic>
    </p:spTree>
    <p:extLst>
      <p:ext uri="{BB962C8B-B14F-4D97-AF65-F5344CB8AC3E}">
        <p14:creationId xmlns:p14="http://schemas.microsoft.com/office/powerpoint/2010/main" val="4066250298"/>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edia">
    <p:bg>
      <p:bgRef idx="1002">
        <a:schemeClr val="bg1"/>
      </p:bgRef>
    </p:bg>
    <p:spTree>
      <p:nvGrpSpPr>
        <p:cNvPr id="1" name=""/>
        <p:cNvGrpSpPr/>
        <p:nvPr/>
      </p:nvGrpSpPr>
      <p:grpSpPr>
        <a:xfrm>
          <a:off x="0" y="0"/>
          <a:ext cx="0" cy="0"/>
          <a:chOff x="0" y="0"/>
          <a:chExt cx="0" cy="0"/>
        </a:xfrm>
      </p:grpSpPr>
      <p:sp>
        <p:nvSpPr>
          <p:cNvPr id="12" name="Slide Number Placeholder 3">
            <a:extLst>
              <a:ext uri="{FF2B5EF4-FFF2-40B4-BE49-F238E27FC236}">
                <a16:creationId xmlns:a16="http://schemas.microsoft.com/office/drawing/2014/main" id="{D52155C3-7537-CDE4-BCAE-AD11C69CCCEF}"/>
              </a:ext>
            </a:extLst>
          </p:cNvPr>
          <p:cNvSpPr>
            <a:spLocks noGrp="1"/>
          </p:cNvSpPr>
          <p:nvPr>
            <p:ph type="sldNum" sz="quarter" idx="11"/>
          </p:nvPr>
        </p:nvSpPr>
        <p:spPr>
          <a:xfrm>
            <a:off x="9198592" y="6440510"/>
            <a:ext cx="2743200" cy="365125"/>
          </a:xfrm>
        </p:spPr>
        <p:txBody>
          <a:bodyPr/>
          <a:lstStyle/>
          <a:p>
            <a:fld id="{28874E94-A9F8-5A41-9D43-235A602D77DE}" type="slidenum">
              <a:rPr lang="en-US" smtClean="0"/>
              <a:pPr/>
              <a:t>‹#›</a:t>
            </a:fld>
            <a:endParaRPr lang="en-US">
              <a:latin typeface="Aptos" panose="020B0004020202020204" pitchFamily="34" charset="0"/>
            </a:endParaRPr>
          </a:p>
        </p:txBody>
      </p:sp>
      <p:sp>
        <p:nvSpPr>
          <p:cNvPr id="29" name="Text Placeholder 16">
            <a:extLst>
              <a:ext uri="{FF2B5EF4-FFF2-40B4-BE49-F238E27FC236}">
                <a16:creationId xmlns:a16="http://schemas.microsoft.com/office/drawing/2014/main" id="{5300A824-A0AA-210B-95F0-27D1539E3171}"/>
              </a:ext>
            </a:extLst>
          </p:cNvPr>
          <p:cNvSpPr>
            <a:spLocks noGrp="1"/>
          </p:cNvSpPr>
          <p:nvPr>
            <p:ph type="body" sz="quarter" idx="13"/>
          </p:nvPr>
        </p:nvSpPr>
        <p:spPr>
          <a:xfrm>
            <a:off x="434340" y="579783"/>
            <a:ext cx="2194560" cy="1949174"/>
          </a:xfrm>
        </p:spPr>
        <p:txBody>
          <a:bodyPr/>
          <a:lstStyle>
            <a:lvl1pPr algn="l">
              <a:buFont typeface="Arial" panose="020B0604020202020204" pitchFamily="34" charset="0"/>
              <a:buNone/>
              <a:defRPr sz="1400"/>
            </a:lvl1pPr>
          </a:lstStyle>
          <a:p>
            <a:pPr lvl="0"/>
            <a:r>
              <a:rPr lang="en-US"/>
              <a:t>Click to edit Master text</a:t>
            </a:r>
          </a:p>
        </p:txBody>
      </p:sp>
      <p:sp>
        <p:nvSpPr>
          <p:cNvPr id="30" name="Title 1">
            <a:extLst>
              <a:ext uri="{FF2B5EF4-FFF2-40B4-BE49-F238E27FC236}">
                <a16:creationId xmlns:a16="http://schemas.microsoft.com/office/drawing/2014/main" id="{36F99900-A9AF-2884-D3A1-0805D8D9158D}"/>
              </a:ext>
            </a:extLst>
          </p:cNvPr>
          <p:cNvSpPr>
            <a:spLocks noGrp="1"/>
          </p:cNvSpPr>
          <p:nvPr>
            <p:ph type="title" hasCustomPrompt="1"/>
          </p:nvPr>
        </p:nvSpPr>
        <p:spPr>
          <a:xfrm>
            <a:off x="2784172" y="571959"/>
            <a:ext cx="8923020" cy="681355"/>
          </a:xfrm>
        </p:spPr>
        <p:txBody>
          <a:bodyPr/>
          <a:lstStyle/>
          <a:p>
            <a:r>
              <a:rPr lang="en-US"/>
              <a:t>Click to add text</a:t>
            </a:r>
          </a:p>
        </p:txBody>
      </p:sp>
      <p:sp>
        <p:nvSpPr>
          <p:cNvPr id="35" name="Text Placeholder 16">
            <a:extLst>
              <a:ext uri="{FF2B5EF4-FFF2-40B4-BE49-F238E27FC236}">
                <a16:creationId xmlns:a16="http://schemas.microsoft.com/office/drawing/2014/main" id="{D37536C5-D3A6-83C6-C923-44FC7C4908C2}"/>
              </a:ext>
            </a:extLst>
          </p:cNvPr>
          <p:cNvSpPr>
            <a:spLocks noGrp="1"/>
          </p:cNvSpPr>
          <p:nvPr>
            <p:ph type="body" sz="quarter" idx="14" hasCustomPrompt="1"/>
          </p:nvPr>
        </p:nvSpPr>
        <p:spPr>
          <a:xfrm>
            <a:off x="2796746" y="6142934"/>
            <a:ext cx="5431734" cy="271117"/>
          </a:xfrm>
        </p:spPr>
        <p:txBody>
          <a:bodyPr/>
          <a:lstStyle>
            <a:lvl1pPr>
              <a:buNone/>
              <a:defRPr sz="1000"/>
            </a:lvl1pPr>
          </a:lstStyle>
          <a:p>
            <a:pPr lvl="0"/>
            <a:r>
              <a:rPr lang="en-US"/>
              <a:t>Click to edit footnote text</a:t>
            </a:r>
          </a:p>
        </p:txBody>
      </p:sp>
      <p:sp>
        <p:nvSpPr>
          <p:cNvPr id="36" name="TextBox 35">
            <a:extLst>
              <a:ext uri="{FF2B5EF4-FFF2-40B4-BE49-F238E27FC236}">
                <a16:creationId xmlns:a16="http://schemas.microsoft.com/office/drawing/2014/main" id="{6FB6A688-DE62-2C50-1F07-A875B4CF54C7}"/>
              </a:ext>
            </a:extLst>
          </p:cNvPr>
          <p:cNvSpPr txBox="1"/>
          <p:nvPr userDrawn="1"/>
        </p:nvSpPr>
        <p:spPr>
          <a:xfrm>
            <a:off x="2777988" y="6433931"/>
            <a:ext cx="368410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a:latin typeface="Aptos Light" panose="020B0004020202020204" pitchFamily="34" charset="0"/>
              </a:rPr>
              <a:t>Confidential – for internal use only</a:t>
            </a:r>
          </a:p>
        </p:txBody>
      </p:sp>
      <p:sp>
        <p:nvSpPr>
          <p:cNvPr id="38" name="Media Placeholder 37">
            <a:extLst>
              <a:ext uri="{FF2B5EF4-FFF2-40B4-BE49-F238E27FC236}">
                <a16:creationId xmlns:a16="http://schemas.microsoft.com/office/drawing/2014/main" id="{1EA9BEF8-3B2D-902F-B596-28ABF8F5C4F2}"/>
              </a:ext>
            </a:extLst>
          </p:cNvPr>
          <p:cNvSpPr>
            <a:spLocks noGrp="1"/>
          </p:cNvSpPr>
          <p:nvPr>
            <p:ph type="media" sz="quarter" idx="15"/>
          </p:nvPr>
        </p:nvSpPr>
        <p:spPr>
          <a:xfrm>
            <a:off x="397565" y="1338470"/>
            <a:ext cx="11343861" cy="4757530"/>
          </a:xfrm>
        </p:spPr>
        <p:txBody>
          <a:bodyPr/>
          <a:lstStyle/>
          <a:p>
            <a:endParaRPr lang="en-US"/>
          </a:p>
        </p:txBody>
      </p:sp>
      <p:pic>
        <p:nvPicPr>
          <p:cNvPr id="3" name="Picture 2">
            <a:extLst>
              <a:ext uri="{FF2B5EF4-FFF2-40B4-BE49-F238E27FC236}">
                <a16:creationId xmlns:a16="http://schemas.microsoft.com/office/drawing/2014/main" id="{491EB6A4-8F41-1AB8-310B-E2375CBB583D}"/>
              </a:ext>
            </a:extLst>
          </p:cNvPr>
          <p:cNvPicPr>
            <a:picLocks noChangeAspect="1"/>
          </p:cNvPicPr>
          <p:nvPr userDrawn="1"/>
        </p:nvPicPr>
        <p:blipFill>
          <a:blip r:embed="rId2">
            <a:biLevel thresh="25000"/>
          </a:blip>
          <a:stretch>
            <a:fillRect/>
          </a:stretch>
        </p:blipFill>
        <p:spPr>
          <a:xfrm>
            <a:off x="336550" y="6288110"/>
            <a:ext cx="673768" cy="228600"/>
          </a:xfrm>
          <a:prstGeom prst="rect">
            <a:avLst/>
          </a:prstGeom>
        </p:spPr>
      </p:pic>
    </p:spTree>
    <p:extLst>
      <p:ext uri="{BB962C8B-B14F-4D97-AF65-F5344CB8AC3E}">
        <p14:creationId xmlns:p14="http://schemas.microsoft.com/office/powerpoint/2010/main" val="1422352462"/>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separator">
    <p:bg>
      <p:bgRef idx="1002">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A7EEDEF-DFA0-FB6A-E1C3-6ABF78F8CF44}"/>
              </a:ext>
            </a:extLst>
          </p:cNvPr>
          <p:cNvPicPr>
            <a:picLocks noChangeAspect="1"/>
          </p:cNvPicPr>
          <p:nvPr userDrawn="1"/>
        </p:nvPicPr>
        <p:blipFill>
          <a:blip r:embed="rId2">
            <a:biLevel thresh="25000"/>
          </a:blip>
          <a:stretch>
            <a:fillRect/>
          </a:stretch>
        </p:blipFill>
        <p:spPr>
          <a:xfrm>
            <a:off x="336550" y="6288110"/>
            <a:ext cx="673768" cy="228600"/>
          </a:xfrm>
          <a:prstGeom prst="rect">
            <a:avLst/>
          </a:prstGeom>
        </p:spPr>
      </p:pic>
      <p:sp>
        <p:nvSpPr>
          <p:cNvPr id="14" name="Slide Number Placeholder 5">
            <a:extLst>
              <a:ext uri="{FF2B5EF4-FFF2-40B4-BE49-F238E27FC236}">
                <a16:creationId xmlns:a16="http://schemas.microsoft.com/office/drawing/2014/main" id="{3F4B6FEC-C223-86A4-9868-5E605718CB69}"/>
              </a:ext>
            </a:extLst>
          </p:cNvPr>
          <p:cNvSpPr>
            <a:spLocks noGrp="1"/>
          </p:cNvSpPr>
          <p:nvPr>
            <p:ph type="sldNum" sz="quarter" idx="4"/>
          </p:nvPr>
        </p:nvSpPr>
        <p:spPr>
          <a:xfrm>
            <a:off x="9198592" y="6440510"/>
            <a:ext cx="2743200" cy="365125"/>
          </a:xfrm>
          <a:prstGeom prst="rect">
            <a:avLst/>
          </a:prstGeom>
        </p:spPr>
        <p:txBody>
          <a:bodyPr/>
          <a:lstStyle>
            <a:lvl1pPr algn="r">
              <a:defRPr sz="1200" b="0" i="0">
                <a:solidFill>
                  <a:schemeClr val="tx1"/>
                </a:solidFill>
                <a:latin typeface="Aptos" panose="020B0004020202020204" pitchFamily="34" charset="0"/>
                <a:ea typeface="Noto Sans Linear A" panose="020B0502040504020204" pitchFamily="34" charset="0"/>
                <a:cs typeface="Helvetica Neue" panose="02000503000000020004" pitchFamily="2" charset="0"/>
              </a:defRPr>
            </a:lvl1pPr>
          </a:lstStyle>
          <a:p>
            <a:fld id="{28874E94-A9F8-5A41-9D43-235A602D77DE}" type="slidenum">
              <a:rPr lang="en-US" smtClean="0"/>
              <a:pPr/>
              <a:t>‹#›</a:t>
            </a:fld>
            <a:endParaRPr lang="en-US"/>
          </a:p>
        </p:txBody>
      </p:sp>
      <p:sp>
        <p:nvSpPr>
          <p:cNvPr id="17" name="Text Placeholder 2">
            <a:extLst>
              <a:ext uri="{FF2B5EF4-FFF2-40B4-BE49-F238E27FC236}">
                <a16:creationId xmlns:a16="http://schemas.microsoft.com/office/drawing/2014/main" id="{EB19C96E-4741-7C7C-5F2C-49FBF22F8504}"/>
              </a:ext>
            </a:extLst>
          </p:cNvPr>
          <p:cNvSpPr>
            <a:spLocks noGrp="1"/>
          </p:cNvSpPr>
          <p:nvPr>
            <p:ph type="body" sz="quarter" idx="15"/>
          </p:nvPr>
        </p:nvSpPr>
        <p:spPr>
          <a:xfrm>
            <a:off x="609600" y="3021227"/>
            <a:ext cx="10972800" cy="815546"/>
          </a:xfrm>
        </p:spPr>
        <p:txBody>
          <a:bodyPr anchor="ctr">
            <a:normAutofit lnSpcReduction="10000"/>
          </a:bodyPr>
          <a:lstStyle>
            <a:lvl1pPr algn="ctr">
              <a:buNone/>
              <a:defRPr sz="4800" b="0" i="0">
                <a:solidFill>
                  <a:schemeClr val="tx1"/>
                </a:solidFill>
                <a:latin typeface="Clash Grotesk Medium" pitchFamily="2" charset="77"/>
              </a:defRPr>
            </a:lvl1pPr>
          </a:lstStyle>
          <a:p>
            <a:endParaRPr lang="en-US"/>
          </a:p>
        </p:txBody>
      </p:sp>
      <p:sp>
        <p:nvSpPr>
          <p:cNvPr id="18" name="Text Placeholder 4">
            <a:extLst>
              <a:ext uri="{FF2B5EF4-FFF2-40B4-BE49-F238E27FC236}">
                <a16:creationId xmlns:a16="http://schemas.microsoft.com/office/drawing/2014/main" id="{0E49417B-35B0-39FE-9883-BEAE21D36BA8}"/>
              </a:ext>
            </a:extLst>
          </p:cNvPr>
          <p:cNvSpPr>
            <a:spLocks noGrp="1"/>
          </p:cNvSpPr>
          <p:nvPr>
            <p:ph type="body" sz="quarter" idx="17"/>
          </p:nvPr>
        </p:nvSpPr>
        <p:spPr>
          <a:xfrm>
            <a:off x="1536700" y="3896407"/>
            <a:ext cx="9144000" cy="365125"/>
          </a:xfrm>
        </p:spPr>
        <p:txBody>
          <a:bodyPr>
            <a:normAutofit lnSpcReduction="10000"/>
          </a:bodyPr>
          <a:lstStyle>
            <a:lvl1pPr algn="ctr">
              <a:buNone/>
              <a:defRPr b="0" i="0">
                <a:solidFill>
                  <a:schemeClr val="tx1"/>
                </a:solidFill>
                <a:latin typeface="Clash Grotesk" pitchFamily="2" charset="77"/>
              </a:defRPr>
            </a:lvl1pPr>
          </a:lstStyle>
          <a:p>
            <a:endParaRPr lang="en-US"/>
          </a:p>
        </p:txBody>
      </p:sp>
      <p:sp>
        <p:nvSpPr>
          <p:cNvPr id="26" name="TextBox 25">
            <a:extLst>
              <a:ext uri="{FF2B5EF4-FFF2-40B4-BE49-F238E27FC236}">
                <a16:creationId xmlns:a16="http://schemas.microsoft.com/office/drawing/2014/main" id="{72CAA42E-3465-5E49-94B8-E6EB5AD91014}"/>
              </a:ext>
            </a:extLst>
          </p:cNvPr>
          <p:cNvSpPr txBox="1"/>
          <p:nvPr userDrawn="1"/>
        </p:nvSpPr>
        <p:spPr>
          <a:xfrm>
            <a:off x="2777988" y="6433931"/>
            <a:ext cx="368410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a:solidFill>
                  <a:schemeClr val="tx1"/>
                </a:solidFill>
                <a:latin typeface="Aptos Light" panose="020B0004020202020204" pitchFamily="34" charset="0"/>
              </a:rPr>
              <a:t>Confidential – for internal use only</a:t>
            </a:r>
          </a:p>
        </p:txBody>
      </p:sp>
    </p:spTree>
    <p:extLst>
      <p:ext uri="{BB962C8B-B14F-4D97-AF65-F5344CB8AC3E}">
        <p14:creationId xmlns:p14="http://schemas.microsoft.com/office/powerpoint/2010/main" val="79862511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4104">
          <p15:clr>
            <a:srgbClr val="FBAE40"/>
          </p15:clr>
        </p15:guide>
        <p15:guide id="2" pos="73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ote">
    <p:bg>
      <p:bgPr>
        <a:gradFill flip="none" rotWithShape="1">
          <a:gsLst>
            <a:gs pos="0">
              <a:srgbClr val="BBBBBB"/>
            </a:gs>
            <a:gs pos="97000">
              <a:srgbClr val="767A7A"/>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C2394CF-828F-B2F7-41AA-C126027443A4}"/>
              </a:ext>
            </a:extLst>
          </p:cNvPr>
          <p:cNvSpPr>
            <a:spLocks noGrp="1"/>
          </p:cNvSpPr>
          <p:nvPr>
            <p:ph type="sldNum" sz="quarter" idx="11"/>
          </p:nvPr>
        </p:nvSpPr>
        <p:spPr>
          <a:xfrm>
            <a:off x="9198592" y="6440510"/>
            <a:ext cx="2743200" cy="365125"/>
          </a:xfrm>
        </p:spPr>
        <p:txBody>
          <a:bodyPr/>
          <a:lstStyle>
            <a:lvl1pPr>
              <a:defRPr>
                <a:solidFill>
                  <a:schemeClr val="tx1"/>
                </a:solidFill>
              </a:defRPr>
            </a:lvl1pPr>
          </a:lstStyle>
          <a:p>
            <a:fld id="{28874E94-A9F8-5A41-9D43-235A602D77DE}" type="slidenum">
              <a:rPr lang="en-US" smtClean="0"/>
              <a:pPr/>
              <a:t>‹#›</a:t>
            </a:fld>
            <a:endParaRPr lang="en-US"/>
          </a:p>
        </p:txBody>
      </p:sp>
      <p:sp>
        <p:nvSpPr>
          <p:cNvPr id="8" name="TextBox 7">
            <a:extLst>
              <a:ext uri="{FF2B5EF4-FFF2-40B4-BE49-F238E27FC236}">
                <a16:creationId xmlns:a16="http://schemas.microsoft.com/office/drawing/2014/main" id="{4876183E-10E0-41CB-C0A8-DDC96000AD9A}"/>
              </a:ext>
            </a:extLst>
          </p:cNvPr>
          <p:cNvSpPr txBox="1"/>
          <p:nvPr userDrawn="1"/>
        </p:nvSpPr>
        <p:spPr>
          <a:xfrm>
            <a:off x="2777988" y="6433931"/>
            <a:ext cx="368410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a:latin typeface="Aptos Light" panose="020B0004020202020204" pitchFamily="34" charset="0"/>
              </a:rPr>
              <a:t>Confidential – for internal use only</a:t>
            </a:r>
          </a:p>
        </p:txBody>
      </p:sp>
    </p:spTree>
    <p:extLst>
      <p:ext uri="{BB962C8B-B14F-4D97-AF65-F5344CB8AC3E}">
        <p14:creationId xmlns:p14="http://schemas.microsoft.com/office/powerpoint/2010/main" val="2816173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02284E1E-A868-1929-05D5-9BF90E5DDF37}"/>
              </a:ext>
            </a:extLst>
          </p:cNvPr>
          <p:cNvSpPr>
            <a:spLocks noGrp="1"/>
          </p:cNvSpPr>
          <p:nvPr>
            <p:ph type="subTitle" idx="1"/>
          </p:nvPr>
        </p:nvSpPr>
        <p:spPr>
          <a:xfrm>
            <a:off x="366548" y="326579"/>
            <a:ext cx="5532120" cy="393049"/>
          </a:xfrm>
        </p:spPr>
        <p:txBody>
          <a:bodyPr>
            <a:normAutofit/>
          </a:bodyPr>
          <a:lstStyle>
            <a:lvl1pPr marL="0" indent="0" algn="l">
              <a:buNone/>
              <a:defRPr sz="1400" b="0" i="0">
                <a:solidFill>
                  <a:srgbClr val="4A4B54"/>
                </a:solidFill>
                <a:latin typeface="Noto Sans Linear A" panose="020B0502040504020204" pitchFamily="34" charset="0"/>
                <a:ea typeface="Noto Sans Linear A" panose="020B0502040504020204" pitchFamily="34" charset="0"/>
                <a:cs typeface="Helvetica Neue Medium" panose="02000503000000020004"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p>
        </p:txBody>
      </p:sp>
      <p:pic>
        <p:nvPicPr>
          <p:cNvPr id="4" name="Picture 3">
            <a:extLst>
              <a:ext uri="{FF2B5EF4-FFF2-40B4-BE49-F238E27FC236}">
                <a16:creationId xmlns:a16="http://schemas.microsoft.com/office/drawing/2014/main" id="{3EF0FA79-F5A4-8CBE-2199-EECCF470422D}"/>
              </a:ext>
            </a:extLst>
          </p:cNvPr>
          <p:cNvPicPr>
            <a:picLocks noChangeAspect="1"/>
          </p:cNvPicPr>
          <p:nvPr userDrawn="1"/>
        </p:nvPicPr>
        <p:blipFill>
          <a:blip r:embed="rId2">
            <a:biLevel thresh="75000"/>
          </a:blip>
          <a:stretch>
            <a:fillRect/>
          </a:stretch>
        </p:blipFill>
        <p:spPr>
          <a:xfrm>
            <a:off x="457200" y="6288110"/>
            <a:ext cx="673768" cy="228600"/>
          </a:xfrm>
          <a:prstGeom prst="rect">
            <a:avLst/>
          </a:prstGeom>
        </p:spPr>
      </p:pic>
      <p:sp>
        <p:nvSpPr>
          <p:cNvPr id="6" name="Footer Placeholder 4">
            <a:extLst>
              <a:ext uri="{FF2B5EF4-FFF2-40B4-BE49-F238E27FC236}">
                <a16:creationId xmlns:a16="http://schemas.microsoft.com/office/drawing/2014/main" id="{432206FB-CE94-2E7C-4067-D873E2278127}"/>
              </a:ext>
            </a:extLst>
          </p:cNvPr>
          <p:cNvSpPr>
            <a:spLocks noGrp="1"/>
          </p:cNvSpPr>
          <p:nvPr>
            <p:ph type="ftr" sz="quarter" idx="11"/>
          </p:nvPr>
        </p:nvSpPr>
        <p:spPr>
          <a:xfrm>
            <a:off x="4038600" y="6288110"/>
            <a:ext cx="4114800" cy="365125"/>
          </a:xfrm>
          <a:prstGeom prst="rect">
            <a:avLst/>
          </a:prstGeom>
        </p:spPr>
        <p:txBody>
          <a:bodyPr/>
          <a:lstStyle>
            <a:lvl1pPr>
              <a:defRPr sz="1200" b="0" i="0">
                <a:solidFill>
                  <a:srgbClr val="4A4B54"/>
                </a:solidFill>
                <a:latin typeface="Noto Sans Armenian" panose="020B0502040504020204" pitchFamily="34" charset="0"/>
                <a:ea typeface="Noto Sans Linear A" panose="020B0502040504020204" pitchFamily="34" charset="0"/>
                <a:cs typeface="Helvetica Neue" panose="02000503000000020004" pitchFamily="2" charset="0"/>
              </a:defRPr>
            </a:lvl1pPr>
          </a:lstStyle>
          <a:p>
            <a:endParaRPr lang="en-US"/>
          </a:p>
        </p:txBody>
      </p:sp>
      <p:sp>
        <p:nvSpPr>
          <p:cNvPr id="8" name="Slide Number Placeholder 5">
            <a:extLst>
              <a:ext uri="{FF2B5EF4-FFF2-40B4-BE49-F238E27FC236}">
                <a16:creationId xmlns:a16="http://schemas.microsoft.com/office/drawing/2014/main" id="{B0C1730A-C3B8-260D-F1B3-82701581D96B}"/>
              </a:ext>
            </a:extLst>
          </p:cNvPr>
          <p:cNvSpPr>
            <a:spLocks noGrp="1"/>
          </p:cNvSpPr>
          <p:nvPr>
            <p:ph type="sldNum" sz="quarter" idx="12"/>
          </p:nvPr>
        </p:nvSpPr>
        <p:spPr>
          <a:xfrm>
            <a:off x="9046192" y="6288110"/>
            <a:ext cx="2743200" cy="365125"/>
          </a:xfrm>
          <a:prstGeom prst="rect">
            <a:avLst/>
          </a:prstGeom>
        </p:spPr>
        <p:txBody>
          <a:bodyPr/>
          <a:lstStyle>
            <a:lvl1pPr algn="r">
              <a:defRPr sz="1200" b="0" i="0">
                <a:solidFill>
                  <a:srgbClr val="4A4B54"/>
                </a:solidFill>
                <a:latin typeface="Noto Sans Armenian" panose="020B0502040504020204" pitchFamily="34" charset="0"/>
                <a:ea typeface="Noto Sans Linear A" panose="020B0502040504020204" pitchFamily="34" charset="0"/>
                <a:cs typeface="Helvetica Neue" panose="02000503000000020004" pitchFamily="2" charset="0"/>
              </a:defRPr>
            </a:lvl1pPr>
          </a:lstStyle>
          <a:p>
            <a:fld id="{28874E94-A9F8-5A41-9D43-235A602D77DE}" type="slidenum">
              <a:rPr lang="en-US" smtClean="0"/>
              <a:pPr/>
              <a:t>‹#›</a:t>
            </a:fld>
            <a:endParaRPr lang="en-US"/>
          </a:p>
        </p:txBody>
      </p:sp>
    </p:spTree>
    <p:extLst>
      <p:ext uri="{BB962C8B-B14F-4D97-AF65-F5344CB8AC3E}">
        <p14:creationId xmlns:p14="http://schemas.microsoft.com/office/powerpoint/2010/main" val="2685669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F222C0-B251-7C3B-9988-6C6DA1245B10}"/>
              </a:ext>
            </a:extLst>
          </p:cNvPr>
          <p:cNvSpPr>
            <a:spLocks noGrp="1"/>
          </p:cNvSpPr>
          <p:nvPr>
            <p:ph type="title"/>
          </p:nvPr>
        </p:nvSpPr>
        <p:spPr>
          <a:xfrm>
            <a:off x="2777545" y="568188"/>
            <a:ext cx="8923020" cy="681355"/>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1F23CABB-EC45-9DFD-990D-1370D0A73C1D}"/>
              </a:ext>
            </a:extLst>
          </p:cNvPr>
          <p:cNvSpPr>
            <a:spLocks noGrp="1"/>
          </p:cNvSpPr>
          <p:nvPr>
            <p:ph type="body" idx="1"/>
          </p:nvPr>
        </p:nvSpPr>
        <p:spPr>
          <a:xfrm>
            <a:off x="2857500" y="1287758"/>
            <a:ext cx="836676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145FA129-3B8C-4A59-1A71-5B686D95CCDA}"/>
              </a:ext>
            </a:extLst>
          </p:cNvPr>
          <p:cNvPicPr>
            <a:picLocks noChangeAspect="1"/>
          </p:cNvPicPr>
          <p:nvPr userDrawn="1"/>
        </p:nvPicPr>
        <p:blipFill>
          <a:blip r:embed="rId12">
            <a:biLevel thresh="75000"/>
          </a:blip>
          <a:stretch>
            <a:fillRect/>
          </a:stretch>
        </p:blipFill>
        <p:spPr>
          <a:xfrm>
            <a:off x="336550" y="6288110"/>
            <a:ext cx="673768" cy="228600"/>
          </a:xfrm>
          <a:prstGeom prst="rect">
            <a:avLst/>
          </a:prstGeom>
        </p:spPr>
      </p:pic>
      <p:sp>
        <p:nvSpPr>
          <p:cNvPr id="5" name="Footer Placeholder 4">
            <a:extLst>
              <a:ext uri="{FF2B5EF4-FFF2-40B4-BE49-F238E27FC236}">
                <a16:creationId xmlns:a16="http://schemas.microsoft.com/office/drawing/2014/main" id="{58C0EAB4-40E3-BA18-A913-A18DA57D668D}"/>
              </a:ext>
            </a:extLst>
          </p:cNvPr>
          <p:cNvSpPr>
            <a:spLocks noGrp="1"/>
          </p:cNvSpPr>
          <p:nvPr>
            <p:ph type="ftr" sz="quarter" idx="3"/>
          </p:nvPr>
        </p:nvSpPr>
        <p:spPr>
          <a:xfrm>
            <a:off x="4038600" y="6440510"/>
            <a:ext cx="4114800" cy="365125"/>
          </a:xfrm>
          <a:prstGeom prst="rect">
            <a:avLst/>
          </a:prstGeom>
        </p:spPr>
        <p:txBody>
          <a:bodyPr/>
          <a:lstStyle>
            <a:lvl1pPr>
              <a:defRPr sz="1200" b="0" i="0">
                <a:solidFill>
                  <a:srgbClr val="4A4B54"/>
                </a:solidFill>
                <a:latin typeface="Aptos" panose="020B0004020202020204" pitchFamily="34" charset="0"/>
                <a:ea typeface="Noto Sans Linear A" panose="020B0502040504020204" pitchFamily="34" charset="0"/>
                <a:cs typeface="Helvetica Neue" panose="02000503000000020004" pitchFamily="2" charset="0"/>
              </a:defRPr>
            </a:lvl1pPr>
          </a:lstStyle>
          <a:p>
            <a:r>
              <a:rPr lang="en-US"/>
              <a:t>Confidential – for internal use only</a:t>
            </a:r>
            <a:endParaRPr lang="en-US">
              <a:latin typeface="Aptos" panose="020B0004020202020204" pitchFamily="34" charset="0"/>
            </a:endParaRPr>
          </a:p>
        </p:txBody>
      </p:sp>
      <p:sp>
        <p:nvSpPr>
          <p:cNvPr id="6" name="Slide Number Placeholder 5">
            <a:extLst>
              <a:ext uri="{FF2B5EF4-FFF2-40B4-BE49-F238E27FC236}">
                <a16:creationId xmlns:a16="http://schemas.microsoft.com/office/drawing/2014/main" id="{AE75425E-333B-0351-6093-CBD3BB45A9F1}"/>
              </a:ext>
            </a:extLst>
          </p:cNvPr>
          <p:cNvSpPr>
            <a:spLocks noGrp="1"/>
          </p:cNvSpPr>
          <p:nvPr>
            <p:ph type="sldNum" sz="quarter" idx="4"/>
          </p:nvPr>
        </p:nvSpPr>
        <p:spPr>
          <a:xfrm>
            <a:off x="9198592" y="6440510"/>
            <a:ext cx="2743200" cy="365125"/>
          </a:xfrm>
          <a:prstGeom prst="rect">
            <a:avLst/>
          </a:prstGeom>
        </p:spPr>
        <p:txBody>
          <a:bodyPr/>
          <a:lstStyle>
            <a:lvl1pPr algn="r">
              <a:defRPr sz="1200" b="0" i="0">
                <a:solidFill>
                  <a:srgbClr val="4A4B54"/>
                </a:solidFill>
                <a:latin typeface="Aptos" panose="020B0004020202020204" pitchFamily="34" charset="0"/>
                <a:ea typeface="Noto Sans Linear A" panose="020B0502040504020204" pitchFamily="34" charset="0"/>
                <a:cs typeface="Helvetica Neue" panose="02000503000000020004" pitchFamily="2" charset="0"/>
              </a:defRPr>
            </a:lvl1pPr>
          </a:lstStyle>
          <a:p>
            <a:fld id="{28874E94-A9F8-5A41-9D43-235A602D77DE}" type="slidenum">
              <a:rPr lang="en-US" smtClean="0"/>
              <a:pPr/>
              <a:t>‹#›</a:t>
            </a:fld>
            <a:endParaRPr lang="en-US">
              <a:latin typeface="Aptos" panose="020B0004020202020204" pitchFamily="34" charset="0"/>
            </a:endParaRPr>
          </a:p>
        </p:txBody>
      </p:sp>
    </p:spTree>
    <p:extLst>
      <p:ext uri="{BB962C8B-B14F-4D97-AF65-F5344CB8AC3E}">
        <p14:creationId xmlns:p14="http://schemas.microsoft.com/office/powerpoint/2010/main" val="850386192"/>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9" r:id="rId3"/>
    <p:sldLayoutId id="2147483664" r:id="rId4"/>
    <p:sldLayoutId id="2147483662" r:id="rId5"/>
    <p:sldLayoutId id="2147483663" r:id="rId6"/>
    <p:sldLayoutId id="2147483650" r:id="rId7"/>
    <p:sldLayoutId id="2147483661" r:id="rId8"/>
    <p:sldLayoutId id="2147483658" r:id="rId9"/>
    <p:sldLayoutId id="2147483665" r:id="rId10"/>
  </p:sldLayoutIdLst>
  <p:hf hdr="0" ftr="0" dt="0"/>
  <p:txStyles>
    <p:titleStyle>
      <a:lvl1pPr algn="l" defTabSz="914400" rtl="0" eaLnBrk="1" latinLnBrk="0" hangingPunct="1">
        <a:lnSpc>
          <a:spcPct val="90000"/>
        </a:lnSpc>
        <a:spcBef>
          <a:spcPct val="0"/>
        </a:spcBef>
        <a:buNone/>
        <a:defRPr sz="2800" b="0" i="0" kern="1200">
          <a:solidFill>
            <a:schemeClr val="tx1"/>
          </a:solidFill>
          <a:latin typeface="Clash Grotesk Medium"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 userDrawn="1">
          <p15:clr>
            <a:srgbClr val="F26B43"/>
          </p15:clr>
        </p15:guide>
        <p15:guide id="2" pos="180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nyc.gov/site/mopd/initiatives/digital-accessibility.page"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digitalgovernmenthub.org/library/fact-sheet-new-rule-on-the-accessibility-of-web-content-and-mobile-apps-provided-by-state-and-local-government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hyperlink" Target="https://www.ada.gov/resources/2024-03-08-web-rule/" TargetMode="Externa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hyperlink" Target="https://designsystem.nyc.gov/standards/pdf-standards.html" TargetMode="External"/><Relationship Id="rId2" Type="http://schemas.openxmlformats.org/officeDocument/2006/relationships/hyperlink" Target="https://gcc02.safelinks.protection.outlook.com/?url=https%3A%2F%2Fdesignsystem.nyc.gov%2Fstandards%2Fremoving-content.html&amp;data=05%7C02%7Chtownley%40oti.nyc.gov%7Cb38c8e41deff47ab95fa08df037ffe08%7C73d61799c28440228d4154cc4f1929ef%7C0%7C0%7C639233520424491290%7CUnknown%7CTWFpbGZsb3d8eyJFbXB0eU1hcGkiOnRydWUsIlYiOiIwLjAuMDAwMCIsIlAiOiJXaW4zMiIsIkFOIjoiTWFpbCIsIldUIjoyfQ%3D%3D%7C0%7C%7C%7C&amp;sdata=P1rZpyrZn0T%2BbW%2Bez%2BBO6YlDViGMWBkZocwQgPeGndE%3D&amp;reserved=0" TargetMode="Externa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hyperlink" Target="https://gcc02.safelinks.protection.outlook.com/?url=https%3A%2F%2Fdrive.google.com%2Fdrive%2Ffolders%2F1lcmlgLYTAPYBV_cy3uPl-sv-AT71YN4_%3Fusp%3Dsharing&amp;data=05%7C02%7Ckphimmasone%40oti.nyc.gov%7C77ac2cbab4e5479e6f9f08deb5ca9aaf%7C73d61799c28440228d4154cc4f1929ef%7C0%7C0%7C639148078942859678%7CUnknown%7CTWFpbGZsb3d8eyJFbXB0eU1hcGkiOnRydWUsIlYiOiIwLjAuMDAwMCIsIlAiOiJXaW4zMiIsIkFOIjoiTWFpbCIsIldUIjoyfQ%3D%3D%7C0%7C%7C%7C&amp;sdata=lDplmjq%2FU9wzl5QX2TXf%2F1ftZI6xrEVFrvryrzmOKMM%3D&amp;reserved=0" TargetMode="External"/><Relationship Id="rId2" Type="http://schemas.openxmlformats.org/officeDocument/2006/relationships/hyperlink" Target="https://designsystem.nyc.gov/standards/pdf-standards.html" TargetMode="External"/><Relationship Id="rId1" Type="http://schemas.openxmlformats.org/officeDocument/2006/relationships/slideLayout" Target="../slideLayouts/slideLayout5.xml"/><Relationship Id="rId4" Type="http://schemas.openxmlformats.org/officeDocument/2006/relationships/hyperlink" Target="https://designsystem.nyc.gov/standards/removing-content.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hyperlink" Target="https://chromewebstore.google.com/detail/accessibility-insights-fo/pbjjkligggfmakdaogkfomddhfmpjeni?pli=1" TargetMode="External"/><Relationship Id="rId2" Type="http://schemas.openxmlformats.org/officeDocument/2006/relationships/hyperlink" Target="https://designsystem.nyc.gov/get-started/getting-started-for-designers.html" TargetMode="Externa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hyperlink" Target="https://outlook.office.com/book/ArthurJacobs@NYCCityhall.onmicrosoft.com/s/vElBPM97yEGQYWMzi9OKQQ2?ismsaljsauthenabled" TargetMode="External"/><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hyperlink" Target="https://accessibilityinsights.io/downloads/" TargetMode="External"/></Relationships>
</file>

<file path=ppt/slides/_rels/slide14.xml.rels><?xml version="1.0" encoding="UTF-8" standalone="yes"?>
<Relationships xmlns="http://schemas.openxmlformats.org/package/2006/relationships"><Relationship Id="rId2" Type="http://schemas.openxmlformats.org/officeDocument/2006/relationships/hyperlink" Target="https://www.ada.gov/resources/2024-03-08-web-rule/#other-information-about-complying-with-the-rule:~:text=What%20Happens%20If%20a%20State%20or%20Local%20Government%20Has%20Failed%20to%20Meet%20WCAG%202.1%2C%20Level%20AA%20in%20a%20Minor%20Way%3F" TargetMode="Externa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hyperlink" Target="https://www.deque.com/" TargetMode="External"/><Relationship Id="rId7" Type="http://schemas.openxmlformats.org/officeDocument/2006/relationships/hyperlink" Target="https://www.nyc.gov/site/mopd/index.page" TargetMode="External"/><Relationship Id="rId2" Type="http://schemas.openxmlformats.org/officeDocument/2006/relationships/hyperlink" Target="https://accessabilityofficer.com/" TargetMode="External"/><Relationship Id="rId1" Type="http://schemas.openxmlformats.org/officeDocument/2006/relationships/slideLayout" Target="../slideLayouts/slideLayout5.xml"/><Relationship Id="rId6" Type="http://schemas.openxmlformats.org/officeDocument/2006/relationships/hyperlink" Target="https://outlook.office.com/book/ArthurJacobs@NYCCityhall.onmicrosoft.com/s/vElBPM97yEGQYWMzi9OKQQ2?ismsaljsauthenabled" TargetMode="External"/><Relationship Id="rId5" Type="http://schemas.openxmlformats.org/officeDocument/2006/relationships/hyperlink" Target="mailto:ajacobs2@mopd.nyc.gov" TargetMode="External"/><Relationship Id="rId4" Type="http://schemas.openxmlformats.org/officeDocument/2006/relationships/hyperlink" Target="https://www.nibny.org/"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hyperlink" Target="https://designsystem.nyc.gov/index.html" TargetMode="External"/><Relationship Id="rId2" Type="http://schemas.openxmlformats.org/officeDocument/2006/relationships/hyperlink" Target="https://designsystem.nyc.gov/about/contact-us.html" TargetMode="Externa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mailto:https://www.deque.com/blog/why-false-claims-and-false-positives-ruin-digital-accessibility-programs/" TargetMode="Externa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hyperlink" Target="https://microsoftedge.microsoft.com/addons/detail/accessibility-insights-fo/ghbhpcookfemncgoinjblecnilppimih" TargetMode="External"/><Relationship Id="rId2" Type="http://schemas.openxmlformats.org/officeDocument/2006/relationships/hyperlink" Target="mailto:https://chromewebstore.google.com/detail/accessibility-insights-fo/pbjjkligggfmakdaogkfomddhfmpjeni" TargetMode="External"/><Relationship Id="rId1" Type="http://schemas.openxmlformats.org/officeDocument/2006/relationships/slideLayout" Target="../slideLayouts/slideLayout5.xml"/><Relationship Id="rId4" Type="http://schemas.openxmlformats.org/officeDocument/2006/relationships/hyperlink" Target="https://accessibilityinsights.io/docs/web/getstarted/fastpass/"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8" Type="http://schemas.openxmlformats.org/officeDocument/2006/relationships/hyperlink" Target="https://www.nyc.gov/site/mopd/index.page" TargetMode="External"/><Relationship Id="rId3" Type="http://schemas.openxmlformats.org/officeDocument/2006/relationships/hyperlink" Target="https://accessabilityofficer.com/" TargetMode="External"/><Relationship Id="rId7" Type="http://schemas.openxmlformats.org/officeDocument/2006/relationships/hyperlink" Target="https://outlook.office.com/book/ArthurJacobs@NYCCityhall.onmicrosoft.com/s/vElBPM97yEGQYWMzi9OKQQ2?ismsaljsauthenabled" TargetMode="Externa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hyperlink" Target="mailto:ajacobs2@mopd.nyc.gov" TargetMode="External"/><Relationship Id="rId5" Type="http://schemas.openxmlformats.org/officeDocument/2006/relationships/hyperlink" Target="https://www.nibny.org/" TargetMode="External"/><Relationship Id="rId4" Type="http://schemas.openxmlformats.org/officeDocument/2006/relationships/hyperlink" Target="https://www.deque.com/"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hyperlink" Target="https://support.apple.com/guide/voiceover/welcome/mac" TargetMode="External"/><Relationship Id="rId2" Type="http://schemas.openxmlformats.org/officeDocument/2006/relationships/hyperlink" Target="https://www.nvaccess.org/download/" TargetMode="External"/><Relationship Id="rId1" Type="http://schemas.openxmlformats.org/officeDocument/2006/relationships/slideLayout" Target="../slideLayouts/slideLayout5.xml"/><Relationship Id="rId5" Type="http://schemas.openxmlformats.org/officeDocument/2006/relationships/hyperlink" Target="https://cityofnewyork.github.io/accessibility-nyc/" TargetMode="External"/><Relationship Id="rId4" Type="http://schemas.openxmlformats.org/officeDocument/2006/relationships/hyperlink" Target="https://github.com/dequelabs/axe-core"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microsoftedge.microsoft.com/addons/detail/accessibility-insights-fo/ghbhpcookfemncgoinjblecnilppimih" TargetMode="External"/><Relationship Id="rId2" Type="http://schemas.openxmlformats.org/officeDocument/2006/relationships/hyperlink" Target="https://chromewebstore.google.com/detail/accessibility-insights-fo/pbjjkligggfmakdaogkfomddhfmpjeni" TargetMode="External"/><Relationship Id="rId1" Type="http://schemas.openxmlformats.org/officeDocument/2006/relationships/slideLayout" Target="../slideLayouts/slideLayout5.xml"/><Relationship Id="rId5" Type="http://schemas.openxmlformats.org/officeDocument/2006/relationships/hyperlink" Target="mailto:ajacobs2@mopd.nyc.gov" TargetMode="External"/><Relationship Id="rId4" Type="http://schemas.openxmlformats.org/officeDocument/2006/relationships/hyperlink" Target="https://outlook.office.com/book/ArthurJacobs@NYCCityhall.onmicrosoft.com/s/vElBPM97yEGQYWMzi9OKQQ2?ismsaljsauthenabled"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hyperlink" Target="https://www.deque.com/blog/why-false-claims-and-false-positives-ruin-digital-accessibility-programs/#:~:text=That%E2%80%99s%20precisely%20why%20Deque%20took%20the%20groundbreaking%20step%20of%20open%2Dsourcing%20axe%2Dcore%20and%20setting%20new%20standards%20for%20digital%20accessibility%20testing%20with%20a%20zero%2Dfalse%2Dpositive%20promise." TargetMode="Externa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hyperlink" Target="https://accessibilityinsights.io/docs/web/getstarted/fastpass/" TargetMode="Externa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hyperlink" Target="https://support.apple.com/guide/voiceover/welcome/mac" TargetMode="External"/><Relationship Id="rId2" Type="http://schemas.openxmlformats.org/officeDocument/2006/relationships/hyperlink" Target="https://www.nvaccess.org/download/" TargetMode="External"/><Relationship Id="rId1" Type="http://schemas.openxmlformats.org/officeDocument/2006/relationships/slideLayout" Target="../slideLayouts/slideLayout5.xml"/><Relationship Id="rId4" Type="http://schemas.openxmlformats.org/officeDocument/2006/relationships/hyperlink" Target="mailto:ajacobs2@mopd.nyc.gov" TargetMode="External"/></Relationships>
</file>

<file path=ppt/slides/_rels/slide43.xml.rels><?xml version="1.0" encoding="UTF-8" standalone="yes"?>
<Relationships xmlns="http://schemas.openxmlformats.org/package/2006/relationships"><Relationship Id="rId3" Type="http://schemas.openxmlformats.org/officeDocument/2006/relationships/hyperlink" Target="https://cityofnewyork.github.io/accessibility-nyc/" TargetMode="External"/><Relationship Id="rId2" Type="http://schemas.openxmlformats.org/officeDocument/2006/relationships/hyperlink" Target="https://www.deque.com/blog/why-false-claims-and-false-positives-ruin-digital-accessibility-programs/" TargetMode="External"/><Relationship Id="rId1" Type="http://schemas.openxmlformats.org/officeDocument/2006/relationships/slideLayout" Target="../slideLayouts/slideLayout5.xml"/><Relationship Id="rId4" Type="http://schemas.openxmlformats.org/officeDocument/2006/relationships/hyperlink" Target="https://github.com/dequelabs/axe-core" TargetMode="External"/></Relationships>
</file>

<file path=ppt/slides/_rels/slide44.xml.rels><?xml version="1.0" encoding="UTF-8" standalone="yes"?>
<Relationships xmlns="http://schemas.openxmlformats.org/package/2006/relationships"><Relationship Id="rId3" Type="http://schemas.openxmlformats.org/officeDocument/2006/relationships/hyperlink" Target="https://www.figma.com/community/plugin/732603254453395948/stark-contrast-accessibility-ai-checker" TargetMode="External"/><Relationship Id="rId2" Type="http://schemas.openxmlformats.org/officeDocument/2006/relationships/hyperlink" Target="https://color.adobe.com/create/color-contrast-analyzer" TargetMode="Externa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45.xml.rels><?xml version="1.0" encoding="UTF-8" standalone="yes"?>
<Relationships xmlns="http://schemas.openxmlformats.org/package/2006/relationships"><Relationship Id="rId3" Type="http://schemas.openxmlformats.org/officeDocument/2006/relationships/hyperlink" Target="https://support.microsoft.com/en-us/word/get-your-document-s-readability-and-level-statistics-in-microsoft-word" TargetMode="External"/><Relationship Id="rId2" Type="http://schemas.openxmlformats.org/officeDocument/2006/relationships/hyperlink" Target="https://designsystem.nyc.gov/standards/nyc-web-content-style-guide/top-tips.html" TargetMode="Externa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950581-F3DB-DA3D-1D09-1549B7207DD2}"/>
              </a:ext>
            </a:extLst>
          </p:cNvPr>
          <p:cNvSpPr>
            <a:spLocks noGrp="1"/>
          </p:cNvSpPr>
          <p:nvPr>
            <p:ph type="sldNum" sz="quarter" idx="4"/>
          </p:nvPr>
        </p:nvSpPr>
        <p:spPr/>
        <p:txBody>
          <a:bodyPr/>
          <a:lstStyle/>
          <a:p>
            <a:fld id="{28874E94-A9F8-5A41-9D43-235A602D77DE}" type="slidenum">
              <a:rPr lang="en-US" smtClean="0"/>
              <a:pPr/>
              <a:t>1</a:t>
            </a:fld>
            <a:endParaRPr lang="en-US"/>
          </a:p>
        </p:txBody>
      </p:sp>
      <p:sp>
        <p:nvSpPr>
          <p:cNvPr id="5" name="Text Placeholder 4">
            <a:extLst>
              <a:ext uri="{FF2B5EF4-FFF2-40B4-BE49-F238E27FC236}">
                <a16:creationId xmlns:a16="http://schemas.microsoft.com/office/drawing/2014/main" id="{254C4F46-5F9A-EC7E-6DB7-B1E165131928}"/>
              </a:ext>
            </a:extLst>
          </p:cNvPr>
          <p:cNvSpPr>
            <a:spLocks noGrp="1"/>
          </p:cNvSpPr>
          <p:nvPr>
            <p:ph type="body" sz="quarter" idx="13"/>
          </p:nvPr>
        </p:nvSpPr>
        <p:spPr/>
        <p:txBody>
          <a:bodyPr/>
          <a:lstStyle/>
          <a:p>
            <a:r>
              <a:rPr lang="en-US"/>
              <a:t>September 2026</a:t>
            </a:r>
          </a:p>
        </p:txBody>
      </p:sp>
      <p:sp>
        <p:nvSpPr>
          <p:cNvPr id="3" name="Text Placeholder 2">
            <a:extLst>
              <a:ext uri="{FF2B5EF4-FFF2-40B4-BE49-F238E27FC236}">
                <a16:creationId xmlns:a16="http://schemas.microsoft.com/office/drawing/2014/main" id="{68B08253-5408-4A1D-6803-BB937C1573FB}"/>
              </a:ext>
            </a:extLst>
          </p:cNvPr>
          <p:cNvSpPr>
            <a:spLocks noGrp="1"/>
          </p:cNvSpPr>
          <p:nvPr>
            <p:ph type="title" idx="4294967295"/>
          </p:nvPr>
        </p:nvSpPr>
        <p:spPr>
          <a:xfrm>
            <a:off x="622300" y="2524125"/>
            <a:ext cx="10972800" cy="8159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marL="228600" indent="-228600" algn="ctr">
              <a:spcBef>
                <a:spcPts val="1000"/>
              </a:spcBef>
              <a:defRPr/>
            </a:pPr>
            <a:r>
              <a:rPr lang="en-US" sz="4800">
                <a:solidFill>
                  <a:schemeClr val="bg1"/>
                </a:solidFill>
                <a:latin typeface="Aptos ExtraBold"/>
                <a:ea typeface="Lato"/>
                <a:cs typeface="Lato"/>
              </a:rPr>
              <a:t>Accessibility Playbook</a:t>
            </a:r>
            <a:endParaRPr lang="en-US">
              <a:solidFill>
                <a:schemeClr val="bg1"/>
              </a:solidFill>
              <a:latin typeface="Aptos ExtraBold"/>
            </a:endParaRPr>
          </a:p>
        </p:txBody>
      </p:sp>
      <p:sp>
        <p:nvSpPr>
          <p:cNvPr id="4" name="Text Placeholder 3">
            <a:extLst>
              <a:ext uri="{FF2B5EF4-FFF2-40B4-BE49-F238E27FC236}">
                <a16:creationId xmlns:a16="http://schemas.microsoft.com/office/drawing/2014/main" id="{A0DEB95F-ADA1-E075-4C50-DA674CAC8F75}"/>
              </a:ext>
            </a:extLst>
          </p:cNvPr>
          <p:cNvSpPr>
            <a:spLocks noGrp="1"/>
          </p:cNvSpPr>
          <p:nvPr>
            <p:ph type="body" sz="quarter" idx="17"/>
          </p:nvPr>
        </p:nvSpPr>
        <p:spPr/>
        <p:txBody>
          <a:bodyPr vert="horz" lIns="91440" tIns="45720" rIns="91440" bIns="45720" rtlCol="0" anchor="t">
            <a:normAutofit fontScale="92500" lnSpcReduction="20000"/>
          </a:bodyPr>
          <a:lstStyle/>
          <a:p>
            <a:r>
              <a:rPr lang="en-US" b="1">
                <a:latin typeface="Aptos"/>
              </a:rPr>
              <a:t>Tools &amp; practices to check for digital accessibility</a:t>
            </a:r>
          </a:p>
        </p:txBody>
      </p:sp>
    </p:spTree>
    <p:extLst>
      <p:ext uri="{BB962C8B-B14F-4D97-AF65-F5344CB8AC3E}">
        <p14:creationId xmlns:p14="http://schemas.microsoft.com/office/powerpoint/2010/main" val="39060385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50DC97-4A42-202B-0EDD-B316D3520880}"/>
              </a:ext>
            </a:extLst>
          </p:cNvPr>
          <p:cNvSpPr>
            <a:spLocks noGrp="1"/>
          </p:cNvSpPr>
          <p:nvPr>
            <p:ph type="sldNum" sz="quarter" idx="11"/>
          </p:nvPr>
        </p:nvSpPr>
        <p:spPr/>
        <p:txBody>
          <a:bodyPr/>
          <a:lstStyle/>
          <a:p>
            <a:fld id="{28874E94-A9F8-5A41-9D43-235A602D77DE}" type="slidenum">
              <a:rPr lang="en-US" smtClean="0"/>
              <a:pPr/>
              <a:t>2</a:t>
            </a:fld>
            <a:endParaRPr lang="en-US">
              <a:latin typeface="Aptos" panose="020B0004020202020204" pitchFamily="34" charset="0"/>
            </a:endParaRPr>
          </a:p>
        </p:txBody>
      </p:sp>
      <p:sp>
        <p:nvSpPr>
          <p:cNvPr id="4" name="Text Placeholder 3">
            <a:extLst>
              <a:ext uri="{FF2B5EF4-FFF2-40B4-BE49-F238E27FC236}">
                <a16:creationId xmlns:a16="http://schemas.microsoft.com/office/drawing/2014/main" id="{50368329-6C3B-BC45-CFE8-02862BB542EE}"/>
              </a:ext>
            </a:extLst>
          </p:cNvPr>
          <p:cNvSpPr>
            <a:spLocks noGrp="1"/>
          </p:cNvSpPr>
          <p:nvPr>
            <p:ph type="body" sz="quarter" idx="13"/>
          </p:nvPr>
        </p:nvSpPr>
        <p:spPr/>
        <p:txBody>
          <a:bodyPr/>
          <a:lstStyle/>
          <a:p>
            <a:r>
              <a:rPr lang="en-US"/>
              <a:t>September 2026</a:t>
            </a:r>
          </a:p>
        </p:txBody>
      </p:sp>
      <p:sp>
        <p:nvSpPr>
          <p:cNvPr id="3" name="Title 2">
            <a:extLst>
              <a:ext uri="{FF2B5EF4-FFF2-40B4-BE49-F238E27FC236}">
                <a16:creationId xmlns:a16="http://schemas.microsoft.com/office/drawing/2014/main" id="{12A1DE2A-FB39-9F36-F5D8-553EC5E97FFD}"/>
              </a:ext>
            </a:extLst>
          </p:cNvPr>
          <p:cNvSpPr>
            <a:spLocks noGrp="1"/>
          </p:cNvSpPr>
          <p:nvPr>
            <p:ph type="title"/>
          </p:nvPr>
        </p:nvSpPr>
        <p:spPr/>
        <p:txBody>
          <a:bodyPr>
            <a:noAutofit/>
          </a:bodyPr>
          <a:lstStyle/>
          <a:p>
            <a:r>
              <a:rPr lang="en-US" sz="4900">
                <a:latin typeface="Aptos Black"/>
              </a:rPr>
              <a:t>Agenda</a:t>
            </a:r>
          </a:p>
        </p:txBody>
      </p:sp>
      <p:sp>
        <p:nvSpPr>
          <p:cNvPr id="8" name="Text Placeholder 4">
            <a:extLst>
              <a:ext uri="{FF2B5EF4-FFF2-40B4-BE49-F238E27FC236}">
                <a16:creationId xmlns:a16="http://schemas.microsoft.com/office/drawing/2014/main" id="{4166D696-EC39-F7A6-1CC1-AC9EBBBB1A93}"/>
              </a:ext>
            </a:extLst>
          </p:cNvPr>
          <p:cNvSpPr>
            <a:spLocks noGrp="1"/>
          </p:cNvSpPr>
          <p:nvPr>
            <p:ph type="body" sz="quarter" idx="12"/>
          </p:nvPr>
        </p:nvSpPr>
        <p:spPr>
          <a:xfrm>
            <a:off x="2781298" y="1542318"/>
            <a:ext cx="6593430" cy="2109281"/>
          </a:xfrm>
        </p:spPr>
        <p:txBody>
          <a:bodyPr vert="horz" lIns="91440" tIns="45720" rIns="91440" bIns="45720" rtlCol="0" anchor="t">
            <a:noAutofit/>
          </a:bodyPr>
          <a:lstStyle/>
          <a:p>
            <a:r>
              <a:rPr lang="en-US" sz="2000" b="1">
                <a:latin typeface="Aptos"/>
                <a:ea typeface="Lato"/>
                <a:cs typeface="Lato"/>
              </a:rPr>
              <a:t>Objective</a:t>
            </a:r>
            <a:r>
              <a:rPr lang="en-US" sz="2000">
                <a:latin typeface="Aptos"/>
                <a:ea typeface="Lato"/>
                <a:cs typeface="Lato"/>
              </a:rPr>
              <a:t>: </a:t>
            </a:r>
            <a:r>
              <a:rPr lang="en-US" sz="2000">
                <a:latin typeface="Aptos Light"/>
                <a:ea typeface="Lato"/>
                <a:cs typeface="Lato"/>
              </a:rPr>
              <a:t>Share the tools and practices your teams can use to measure and prioritize website accessibility with limited time and resources.</a:t>
            </a:r>
          </a:p>
          <a:p>
            <a:r>
              <a:rPr lang="en-US" sz="2000" b="1">
                <a:latin typeface="Aptos"/>
                <a:ea typeface="Lato"/>
                <a:cs typeface="Lato"/>
              </a:rPr>
              <a:t>Context</a:t>
            </a:r>
            <a:r>
              <a:rPr lang="en-US" sz="2000">
                <a:latin typeface="Aptos"/>
                <a:ea typeface="Lato"/>
                <a:cs typeface="Lato"/>
              </a:rPr>
              <a:t>: </a:t>
            </a:r>
            <a:r>
              <a:rPr lang="en-US" sz="2000">
                <a:latin typeface="Aptos Light"/>
                <a:ea typeface="Lato"/>
                <a:cs typeface="Lato"/>
              </a:rPr>
              <a:t>Under Local Law 26 of 2016 the city has adopted </a:t>
            </a:r>
            <a:r>
              <a:rPr lang="en-US" sz="2000">
                <a:latin typeface="Aptos Light"/>
                <a:ea typeface="Lato"/>
                <a:cs typeface="Lato"/>
                <a:hlinkClick r:id="rId3"/>
              </a:rPr>
              <a:t>WCAG 2.2 AA*</a:t>
            </a:r>
            <a:r>
              <a:rPr lang="en-US" sz="2000">
                <a:latin typeface="Aptos Light"/>
                <a:ea typeface="Lato"/>
                <a:cs typeface="Lato"/>
              </a:rPr>
              <a:t> as its standard for digital accessibility. A federal rule mandates </a:t>
            </a:r>
            <a:r>
              <a:rPr lang="en-US" sz="2000">
                <a:latin typeface="Aptos Light"/>
                <a:ea typeface="Lato"/>
                <a:cs typeface="Lato"/>
                <a:hlinkClick r:id="rId4"/>
              </a:rPr>
              <a:t>April 26, 2027</a:t>
            </a:r>
            <a:r>
              <a:rPr lang="en-US" sz="2000">
                <a:latin typeface="Aptos Light"/>
                <a:ea typeface="Lato"/>
                <a:cs typeface="Lato"/>
              </a:rPr>
              <a:t> as a deadline to meet WCAG 2.1 AA.</a:t>
            </a:r>
          </a:p>
        </p:txBody>
      </p:sp>
      <p:sp>
        <p:nvSpPr>
          <p:cNvPr id="7" name="TextBox 6">
            <a:extLst>
              <a:ext uri="{FF2B5EF4-FFF2-40B4-BE49-F238E27FC236}">
                <a16:creationId xmlns:a16="http://schemas.microsoft.com/office/drawing/2014/main" id="{1664F998-EE89-2653-B7A8-F80302094057}"/>
              </a:ext>
            </a:extLst>
          </p:cNvPr>
          <p:cNvSpPr txBox="1"/>
          <p:nvPr/>
        </p:nvSpPr>
        <p:spPr>
          <a:xfrm>
            <a:off x="2781298" y="3935226"/>
            <a:ext cx="6123215" cy="1785104"/>
          </a:xfrm>
          <a:prstGeom prst="rect">
            <a:avLst/>
          </a:prstGeom>
          <a:noFill/>
        </p:spPr>
        <p:txBody>
          <a:bodyPr wrap="square" lIns="91440" tIns="45720" rIns="91440" bIns="45720" anchor="t">
            <a:spAutoFit/>
          </a:bodyPr>
          <a:lstStyle/>
          <a:p>
            <a:pPr marL="342900" indent="-342900">
              <a:lnSpc>
                <a:spcPct val="150000"/>
              </a:lnSpc>
              <a:buAutoNum type="arabicPeriod"/>
            </a:pPr>
            <a:r>
              <a:rPr lang="en-US" sz="2000">
                <a:latin typeface="Aptos"/>
                <a:ea typeface="+mn-lt"/>
                <a:cs typeface="+mn-lt"/>
              </a:rPr>
              <a:t>What does good look like? </a:t>
            </a:r>
          </a:p>
          <a:p>
            <a:pPr marL="342900" indent="-342900">
              <a:lnSpc>
                <a:spcPct val="150000"/>
              </a:lnSpc>
              <a:buFontTx/>
              <a:buAutoNum type="arabicPeriod"/>
            </a:pPr>
            <a:r>
              <a:rPr lang="en-US" sz="2000">
                <a:latin typeface="Aptos"/>
              </a:rPr>
              <a:t>Three recommended practices for all teams</a:t>
            </a:r>
          </a:p>
          <a:p>
            <a:pPr marL="342900" indent="-342900">
              <a:lnSpc>
                <a:spcPct val="150000"/>
              </a:lnSpc>
              <a:buFontTx/>
              <a:buAutoNum type="arabicPeriod"/>
            </a:pPr>
            <a:r>
              <a:rPr lang="en-US" sz="2000">
                <a:latin typeface="Aptos"/>
              </a:rPr>
              <a:t>Tools for advanced teams</a:t>
            </a:r>
            <a:endParaRPr lang="en-US" sz="2000">
              <a:latin typeface="Aptos" panose="020B0004020202020204" pitchFamily="34" charset="0"/>
            </a:endParaRPr>
          </a:p>
          <a:p>
            <a:pPr marL="342900" indent="-342900">
              <a:buAutoNum type="arabicPlain"/>
            </a:pPr>
            <a:endParaRPr lang="en-US" sz="2000">
              <a:latin typeface="Aptos" panose="020B0004020202020204" pitchFamily="34" charset="0"/>
            </a:endParaRPr>
          </a:p>
        </p:txBody>
      </p:sp>
      <p:sp>
        <p:nvSpPr>
          <p:cNvPr id="5" name="TextBox 4">
            <a:extLst>
              <a:ext uri="{FF2B5EF4-FFF2-40B4-BE49-F238E27FC236}">
                <a16:creationId xmlns:a16="http://schemas.microsoft.com/office/drawing/2014/main" id="{0D1F73ED-9FA1-F796-BA29-513296B8458F}"/>
              </a:ext>
            </a:extLst>
          </p:cNvPr>
          <p:cNvSpPr txBox="1"/>
          <p:nvPr/>
        </p:nvSpPr>
        <p:spPr>
          <a:xfrm>
            <a:off x="7245681" y="6148122"/>
            <a:ext cx="446151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1">
                <a:latin typeface="Aptos"/>
              </a:rPr>
              <a:t>*</a:t>
            </a:r>
            <a:r>
              <a:rPr lang="en-US" sz="1600" i="1">
                <a:latin typeface="Aptos"/>
              </a:rPr>
              <a:t> WCAG = Web Content Accessibility Guidelines. Commonly pronounced “</a:t>
            </a:r>
            <a:r>
              <a:rPr lang="en-US" sz="1600" i="1" err="1">
                <a:latin typeface="Aptos"/>
              </a:rPr>
              <a:t>wuh</a:t>
            </a:r>
            <a:r>
              <a:rPr lang="en-US" sz="1600" i="1">
                <a:latin typeface="Aptos"/>
              </a:rPr>
              <a:t>-cag”.</a:t>
            </a:r>
          </a:p>
        </p:txBody>
      </p:sp>
    </p:spTree>
    <p:extLst>
      <p:ext uri="{BB962C8B-B14F-4D97-AF65-F5344CB8AC3E}">
        <p14:creationId xmlns:p14="http://schemas.microsoft.com/office/powerpoint/2010/main" val="2501893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42932-9C56-5A8F-61F2-787A9E30188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98F835-BD12-5A5B-741F-F34D1650EBBA}"/>
              </a:ext>
            </a:extLst>
          </p:cNvPr>
          <p:cNvSpPr>
            <a:spLocks noGrp="1"/>
          </p:cNvSpPr>
          <p:nvPr>
            <p:ph type="sldNum" sz="quarter" idx="4"/>
          </p:nvPr>
        </p:nvSpPr>
        <p:spPr/>
        <p:txBody>
          <a:bodyPr/>
          <a:lstStyle/>
          <a:p>
            <a:fld id="{28874E94-A9F8-5A41-9D43-235A602D77DE}" type="slidenum">
              <a:rPr lang="en-US" smtClean="0"/>
              <a:pPr/>
              <a:t>3</a:t>
            </a:fld>
            <a:endParaRPr lang="en-US"/>
          </a:p>
        </p:txBody>
      </p:sp>
      <p:sp>
        <p:nvSpPr>
          <p:cNvPr id="3" name="Text Placeholder 2">
            <a:extLst>
              <a:ext uri="{FF2B5EF4-FFF2-40B4-BE49-F238E27FC236}">
                <a16:creationId xmlns:a16="http://schemas.microsoft.com/office/drawing/2014/main" id="{AEBDC6DE-8A11-5560-62C0-662AD60D0E27}"/>
              </a:ext>
            </a:extLst>
          </p:cNvPr>
          <p:cNvSpPr>
            <a:spLocks noGrp="1"/>
          </p:cNvSpPr>
          <p:nvPr>
            <p:ph type="title" idx="4294967295"/>
          </p:nvPr>
        </p:nvSpPr>
        <p:spPr>
          <a:xfrm>
            <a:off x="609600" y="3021013"/>
            <a:ext cx="10972800" cy="8159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fontScale="90000"/>
          </a:bodyPr>
          <a:lstStyle/>
          <a:p>
            <a:pPr marL="228600" marR="0" lvl="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0" i="0" u="none" strike="noStrike" kern="1200" cap="none" spc="0" normalizeH="0" baseline="0" noProof="0">
                <a:ln>
                  <a:noFill/>
                </a:ln>
                <a:effectLst/>
                <a:uLnTx/>
                <a:uFillTx/>
                <a:latin typeface="Aptos ExtraBold"/>
                <a:ea typeface="+mn-ea"/>
                <a:cs typeface="+mn-cs"/>
              </a:rPr>
              <a:t>Catching up on previous accessibility guidance</a:t>
            </a:r>
            <a:endParaRPr lang="en-US" sz="4800" b="0" i="0" u="none" strike="noStrike" kern="1200" cap="none" spc="0" normalizeH="0" baseline="0" noProof="0">
              <a:ln>
                <a:noFill/>
              </a:ln>
              <a:effectLst/>
              <a:uLnTx/>
              <a:uFillTx/>
              <a:latin typeface="Aptos ExtraBold"/>
              <a:ea typeface="+mn-ea"/>
              <a:cs typeface="+mn-cs"/>
            </a:endParaRPr>
          </a:p>
        </p:txBody>
      </p:sp>
    </p:spTree>
    <p:extLst>
      <p:ext uri="{BB962C8B-B14F-4D97-AF65-F5344CB8AC3E}">
        <p14:creationId xmlns:p14="http://schemas.microsoft.com/office/powerpoint/2010/main" val="2434067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C9763-116E-949B-7AFC-CE8F2C6F083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31306E2-5CD2-0D80-F17C-56BFD5A8B86B}"/>
              </a:ext>
            </a:extLst>
          </p:cNvPr>
          <p:cNvSpPr>
            <a:spLocks noGrp="1"/>
          </p:cNvSpPr>
          <p:nvPr>
            <p:ph type="sldNum" sz="quarter" idx="12"/>
          </p:nvPr>
        </p:nvSpPr>
        <p:spPr/>
        <p:txBody>
          <a:bodyPr/>
          <a:lstStyle/>
          <a:p>
            <a:fld id="{28874E94-A9F8-5A41-9D43-235A602D77DE}" type="slidenum">
              <a:rPr lang="en-US" smtClean="0"/>
              <a:pPr/>
              <a:t>4</a:t>
            </a:fld>
            <a:endParaRPr lang="en-US"/>
          </a:p>
        </p:txBody>
      </p:sp>
      <p:sp>
        <p:nvSpPr>
          <p:cNvPr id="5" name="Title 4">
            <a:extLst>
              <a:ext uri="{FF2B5EF4-FFF2-40B4-BE49-F238E27FC236}">
                <a16:creationId xmlns:a16="http://schemas.microsoft.com/office/drawing/2014/main" id="{8327DE37-97BF-463B-89E5-B0CDBBF247AE}"/>
              </a:ext>
            </a:extLst>
          </p:cNvPr>
          <p:cNvSpPr txBox="1">
            <a:spLocks noGrp="1"/>
          </p:cNvSpPr>
          <p:nvPr>
            <p:ph type="title" idx="4294967295"/>
          </p:nvPr>
        </p:nvSpPr>
        <p:spPr>
          <a:xfrm>
            <a:off x="1857913" y="889844"/>
            <a:ext cx="8476175" cy="34778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a:noFill/>
                </a:ln>
                <a:solidFill>
                  <a:srgbClr val="212121"/>
                </a:solidFill>
                <a:effectLst/>
                <a:uLnTx/>
                <a:uFillTx/>
                <a:latin typeface="Aptos Black"/>
                <a:ea typeface="+mn-ea"/>
                <a:cs typeface="+mn-cs"/>
              </a:rPr>
              <a:t>All websites and mobile apps maintained by or on behalf of the City and content posted need to comply with WCAG 2.2 Level AA by </a:t>
            </a:r>
            <a:r>
              <a:rPr kumimoji="0" lang="en-US" sz="4400" b="0" i="0" u="none" strike="noStrike" kern="1200" cap="none" spc="0" normalizeH="0" baseline="0" noProof="0">
                <a:ln>
                  <a:noFill/>
                </a:ln>
                <a:solidFill>
                  <a:srgbClr val="212121"/>
                </a:solidFill>
                <a:effectLst/>
                <a:uLnTx/>
                <a:uFillTx/>
                <a:latin typeface="Aptos Black"/>
                <a:ea typeface="+mn-lt"/>
                <a:cs typeface="+mn-lt"/>
              </a:rPr>
              <a:t>April 26, 2027</a:t>
            </a:r>
            <a:endParaRPr kumimoji="0" lang="en-US" sz="1800" b="0" i="0" u="none" strike="noStrike" kern="1200" cap="none" spc="0" normalizeH="0" baseline="0" noProof="0">
              <a:ln>
                <a:noFill/>
              </a:ln>
              <a:solidFill>
                <a:srgbClr val="000000"/>
              </a:solidFill>
              <a:effectLst/>
              <a:uLnTx/>
              <a:uFillTx/>
              <a:latin typeface="Aptos Black"/>
              <a:ea typeface="Calibri" panose="020F0502020204030204"/>
              <a:cs typeface="Calibri" panose="020F0502020204030204"/>
            </a:endParaRPr>
          </a:p>
        </p:txBody>
      </p:sp>
      <p:sp>
        <p:nvSpPr>
          <p:cNvPr id="4" name="TextBox 3">
            <a:extLst>
              <a:ext uri="{FF2B5EF4-FFF2-40B4-BE49-F238E27FC236}">
                <a16:creationId xmlns:a16="http://schemas.microsoft.com/office/drawing/2014/main" id="{8F687B9B-3982-00E8-2723-0E182C175815}"/>
              </a:ext>
            </a:extLst>
          </p:cNvPr>
          <p:cNvSpPr txBox="1"/>
          <p:nvPr/>
        </p:nvSpPr>
        <p:spPr>
          <a:xfrm>
            <a:off x="1854969" y="4652818"/>
            <a:ext cx="8489757"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aseline="0">
                <a:solidFill>
                  <a:srgbClr val="212121"/>
                </a:solidFill>
                <a:latin typeface="Calibri"/>
              </a:rPr>
              <a:t>Compliance is not required where the City can demonstrate that compliance would constitute an undue burden or result in a fundamental alteration to a program, service or activity.</a:t>
            </a:r>
            <a:r>
              <a:rPr sz="2000">
                <a:latin typeface="Calibri"/>
                <a:ea typeface="Calibri"/>
                <a:cs typeface="Calibri"/>
              </a:rPr>
              <a:t>​</a:t>
            </a:r>
            <a:endParaRPr lang="en-US" sz="2000">
              <a:ea typeface="Calibri"/>
              <a:cs typeface="Calibri"/>
            </a:endParaRPr>
          </a:p>
          <a:p>
            <a:pPr algn="ctr"/>
            <a:endParaRPr lang="en-US" sz="2000">
              <a:ea typeface="Calibri"/>
              <a:cs typeface="Calibri"/>
            </a:endParaRPr>
          </a:p>
        </p:txBody>
      </p:sp>
    </p:spTree>
    <p:extLst>
      <p:ext uri="{BB962C8B-B14F-4D97-AF65-F5344CB8AC3E}">
        <p14:creationId xmlns:p14="http://schemas.microsoft.com/office/powerpoint/2010/main" val="2271508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E3936-C239-E110-F5BD-31DAEAD7FB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CB1C97-11BF-FCD4-3BFB-6F76D23805F4}"/>
              </a:ext>
            </a:extLst>
          </p:cNvPr>
          <p:cNvSpPr>
            <a:spLocks noGrp="1"/>
          </p:cNvSpPr>
          <p:nvPr>
            <p:ph type="sldNum" sz="quarter" idx="11"/>
          </p:nvPr>
        </p:nvSpPr>
        <p:spPr>
          <a:xfrm>
            <a:off x="11582563" y="6440510"/>
            <a:ext cx="468086" cy="392339"/>
          </a:xfrm>
        </p:spPr>
        <p:txBody>
          <a:bodyPr/>
          <a:lstStyle/>
          <a:p>
            <a:fld id="{28874E94-A9F8-5A41-9D43-235A602D77DE}" type="slidenum">
              <a:rPr lang="en-US" smtClean="0"/>
              <a:pPr/>
              <a:t>5</a:t>
            </a:fld>
            <a:endParaRPr lang="en-US">
              <a:latin typeface="Aptos" panose="020B0004020202020204" pitchFamily="34" charset="0"/>
            </a:endParaRPr>
          </a:p>
        </p:txBody>
      </p:sp>
      <p:sp>
        <p:nvSpPr>
          <p:cNvPr id="4" name="Title 3">
            <a:extLst>
              <a:ext uri="{FF2B5EF4-FFF2-40B4-BE49-F238E27FC236}">
                <a16:creationId xmlns:a16="http://schemas.microsoft.com/office/drawing/2014/main" id="{0EB4C038-F1F8-817A-EAFA-117D76C9C7FD}"/>
              </a:ext>
            </a:extLst>
          </p:cNvPr>
          <p:cNvSpPr>
            <a:spLocks noGrp="1"/>
          </p:cNvSpPr>
          <p:nvPr>
            <p:ph type="title"/>
          </p:nvPr>
        </p:nvSpPr>
        <p:spPr/>
        <p:txBody>
          <a:bodyPr>
            <a:normAutofit fontScale="90000"/>
          </a:bodyPr>
          <a:lstStyle/>
          <a:p>
            <a:r>
              <a:rPr lang="en-US" b="1">
                <a:latin typeface="Aptos ExtraBold" panose="020B0004020202020204" pitchFamily="34" charset="0"/>
              </a:rPr>
              <a:t>Exceptions to federal DOJ rule</a:t>
            </a:r>
          </a:p>
        </p:txBody>
      </p:sp>
      <p:sp>
        <p:nvSpPr>
          <p:cNvPr id="5" name="Text Placeholder 4">
            <a:extLst>
              <a:ext uri="{FF2B5EF4-FFF2-40B4-BE49-F238E27FC236}">
                <a16:creationId xmlns:a16="http://schemas.microsoft.com/office/drawing/2014/main" id="{5681519C-7DFA-A4A0-A70C-7ECC38385AE9}"/>
              </a:ext>
            </a:extLst>
          </p:cNvPr>
          <p:cNvSpPr>
            <a:spLocks noGrp="1"/>
          </p:cNvSpPr>
          <p:nvPr>
            <p:ph type="body" sz="quarter" idx="12"/>
          </p:nvPr>
        </p:nvSpPr>
        <p:spPr>
          <a:xfrm>
            <a:off x="412036" y="1317096"/>
            <a:ext cx="8731963" cy="593951"/>
          </a:xfrm>
        </p:spPr>
        <p:txBody>
          <a:bodyPr vert="horz" lIns="91440" tIns="45720" rIns="91440" bIns="45720" rtlCol="0" anchor="t">
            <a:noAutofit/>
          </a:bodyPr>
          <a:lstStyle/>
          <a:p>
            <a:r>
              <a:rPr lang="en-US" sz="1800" dirty="0">
                <a:latin typeface="Aptos Light"/>
              </a:rPr>
              <a:t>Exceptions relevant to NYC websites are </a:t>
            </a:r>
            <a:r>
              <a:rPr lang="en-US" sz="1800" dirty="0">
                <a:highlight>
                  <a:srgbClr val="FFFF00"/>
                </a:highlight>
                <a:latin typeface="Aptos Light"/>
              </a:rPr>
              <a:t>*highlighted</a:t>
            </a:r>
            <a:r>
              <a:rPr lang="en-US" sz="1800" dirty="0">
                <a:latin typeface="Aptos Light"/>
              </a:rPr>
              <a:t>. As communicated on the </a:t>
            </a:r>
            <a:r>
              <a:rPr lang="en-US" sz="1800" dirty="0">
                <a:latin typeface="Aptos Light"/>
                <a:hlinkClick r:id="rId2"/>
              </a:rPr>
              <a:t>Fact Sheet: New Rule on the Accessibility of Web Content</a:t>
            </a:r>
            <a:r>
              <a:rPr lang="en-US" sz="1800" dirty="0">
                <a:latin typeface="Aptos Light"/>
              </a:rPr>
              <a:t>.</a:t>
            </a:r>
          </a:p>
          <a:p>
            <a:endParaRPr lang="en-US" sz="1800"/>
          </a:p>
        </p:txBody>
      </p:sp>
      <p:sp>
        <p:nvSpPr>
          <p:cNvPr id="7" name="Text Placeholder 4">
            <a:extLst>
              <a:ext uri="{FF2B5EF4-FFF2-40B4-BE49-F238E27FC236}">
                <a16:creationId xmlns:a16="http://schemas.microsoft.com/office/drawing/2014/main" id="{B38A5001-AF28-17F1-3D2B-ADB5B52EBA72}"/>
              </a:ext>
            </a:extLst>
          </p:cNvPr>
          <p:cNvSpPr txBox="1">
            <a:spLocks/>
          </p:cNvSpPr>
          <p:nvPr/>
        </p:nvSpPr>
        <p:spPr>
          <a:xfrm>
            <a:off x="412036" y="2155431"/>
            <a:ext cx="10414430" cy="4087434"/>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0" baseline="0">
                <a:solidFill>
                  <a:schemeClr val="tx1"/>
                </a:solidFill>
                <a:latin typeface="Aptos Light"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00000"/>
              </a:lnSpc>
              <a:spcBef>
                <a:spcPts val="0"/>
              </a:spcBef>
              <a:spcAft>
                <a:spcPts val="500"/>
              </a:spcAft>
              <a:buAutoNum type="arabicPeriod"/>
            </a:pPr>
            <a:r>
              <a:rPr lang="en-US" sz="2400" dirty="0">
                <a:highlight>
                  <a:srgbClr val="FFFF00"/>
                </a:highlight>
                <a:latin typeface="Aptos"/>
              </a:rPr>
              <a:t>*Archived web content </a:t>
            </a:r>
            <a:r>
              <a:rPr lang="en-US" sz="1800" dirty="0">
                <a:highlight>
                  <a:srgbClr val="FFFF00"/>
                </a:highlight>
                <a:latin typeface="Aptos Light"/>
              </a:rPr>
              <a:t>(kept only for reference)</a:t>
            </a:r>
          </a:p>
          <a:p>
            <a:pPr marL="342900" indent="-342900">
              <a:lnSpc>
                <a:spcPct val="100000"/>
              </a:lnSpc>
              <a:spcBef>
                <a:spcPts val="0"/>
              </a:spcBef>
              <a:spcAft>
                <a:spcPts val="500"/>
              </a:spcAft>
              <a:buAutoNum type="arabicPeriod"/>
            </a:pPr>
            <a:r>
              <a:rPr lang="en-US" sz="2400" dirty="0">
                <a:latin typeface="Aptos"/>
              </a:rPr>
              <a:t>Preexisting conventional electronic documents</a:t>
            </a:r>
          </a:p>
          <a:p>
            <a:pPr marL="342900" indent="-342900">
              <a:lnSpc>
                <a:spcPct val="100000"/>
              </a:lnSpc>
              <a:spcBef>
                <a:spcPts val="0"/>
              </a:spcBef>
              <a:spcAft>
                <a:spcPts val="500"/>
              </a:spcAft>
              <a:buAutoNum type="arabicPeriod"/>
            </a:pPr>
            <a:r>
              <a:rPr lang="en-US" sz="2400" dirty="0">
                <a:latin typeface="Aptos"/>
              </a:rPr>
              <a:t>Content posted by a third party </a:t>
            </a:r>
            <a:r>
              <a:rPr lang="en-US" sz="1800" dirty="0">
                <a:latin typeface="Aptos Light"/>
              </a:rPr>
              <a:t>(e.g. comment board)</a:t>
            </a:r>
          </a:p>
          <a:p>
            <a:pPr marL="342900" indent="-342900">
              <a:lnSpc>
                <a:spcPct val="100000"/>
              </a:lnSpc>
              <a:spcBef>
                <a:spcPts val="0"/>
              </a:spcBef>
              <a:spcAft>
                <a:spcPts val="500"/>
              </a:spcAft>
              <a:buAutoNum type="arabicPeriod"/>
            </a:pPr>
            <a:r>
              <a:rPr lang="en-US" sz="2400" dirty="0">
                <a:latin typeface="Aptos"/>
              </a:rPr>
              <a:t>Individualized documents that are password-protected</a:t>
            </a:r>
          </a:p>
          <a:p>
            <a:pPr marL="342900" indent="-342900">
              <a:lnSpc>
                <a:spcPct val="100000"/>
              </a:lnSpc>
              <a:spcBef>
                <a:spcPts val="0"/>
              </a:spcBef>
              <a:spcAft>
                <a:spcPts val="500"/>
              </a:spcAft>
              <a:buAutoNum type="arabicPeriod"/>
            </a:pPr>
            <a:r>
              <a:rPr lang="en-US" sz="2400" dirty="0">
                <a:latin typeface="Aptos"/>
              </a:rPr>
              <a:t>Preexisting social media posts</a:t>
            </a:r>
          </a:p>
          <a:p>
            <a:pPr>
              <a:lnSpc>
                <a:spcPct val="100000"/>
              </a:lnSpc>
              <a:spcBef>
                <a:spcPts val="0"/>
              </a:spcBef>
              <a:spcAft>
                <a:spcPts val="500"/>
              </a:spcAft>
            </a:pPr>
            <a:endParaRPr lang="en-US" sz="2400">
              <a:latin typeface="Aptos" panose="020B0004020202020204" pitchFamily="34" charset="0"/>
            </a:endParaRPr>
          </a:p>
          <a:p>
            <a:pPr>
              <a:lnSpc>
                <a:spcPct val="100000"/>
              </a:lnSpc>
              <a:spcBef>
                <a:spcPts val="0"/>
              </a:spcBef>
              <a:spcAft>
                <a:spcPts val="500"/>
              </a:spcAft>
            </a:pPr>
            <a:r>
              <a:rPr lang="en-US" sz="2400" dirty="0">
                <a:latin typeface="Aptos"/>
              </a:rPr>
              <a:t>Other Information About Complying with the Rule</a:t>
            </a:r>
          </a:p>
          <a:p>
            <a:pPr marL="342900" indent="-342900">
              <a:lnSpc>
                <a:spcPct val="100000"/>
              </a:lnSpc>
              <a:spcBef>
                <a:spcPts val="0"/>
              </a:spcBef>
              <a:spcAft>
                <a:spcPts val="500"/>
              </a:spcAft>
              <a:buAutoNum type="arabicPeriod"/>
            </a:pPr>
            <a:r>
              <a:rPr lang="en-US" sz="2400" dirty="0">
                <a:highlight>
                  <a:srgbClr val="FFFF00"/>
                </a:highlight>
                <a:latin typeface="Aptos"/>
              </a:rPr>
              <a:t>*Use of Conforming Alternate Versions</a:t>
            </a:r>
          </a:p>
          <a:p>
            <a:pPr marL="342900" indent="-342900">
              <a:lnSpc>
                <a:spcPct val="100000"/>
              </a:lnSpc>
              <a:spcBef>
                <a:spcPts val="0"/>
              </a:spcBef>
              <a:spcAft>
                <a:spcPts val="500"/>
              </a:spcAft>
              <a:buAutoNum type="arabicPeriod"/>
            </a:pPr>
            <a:r>
              <a:rPr lang="en-US" sz="2400" dirty="0">
                <a:highlight>
                  <a:srgbClr val="FFFF00"/>
                </a:highlight>
                <a:latin typeface="Aptos"/>
              </a:rPr>
              <a:t>*Effect of Noncompliance That Has a Minimal Impact on Access.</a:t>
            </a:r>
            <a:endParaRPr lang="en-US" sz="2400" dirty="0">
              <a:latin typeface="Aptos"/>
            </a:endParaRPr>
          </a:p>
        </p:txBody>
      </p:sp>
    </p:spTree>
    <p:extLst>
      <p:ext uri="{BB962C8B-B14F-4D97-AF65-F5344CB8AC3E}">
        <p14:creationId xmlns:p14="http://schemas.microsoft.com/office/powerpoint/2010/main" val="911907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C8917-6773-40C6-AB87-27B49E4D7BA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3A0785-AF9E-CD0A-5D33-556352ED631B}"/>
              </a:ext>
            </a:extLst>
          </p:cNvPr>
          <p:cNvSpPr>
            <a:spLocks noGrp="1"/>
          </p:cNvSpPr>
          <p:nvPr>
            <p:ph type="sldNum" sz="quarter" idx="11"/>
          </p:nvPr>
        </p:nvSpPr>
        <p:spPr>
          <a:xfrm>
            <a:off x="11582563" y="6440510"/>
            <a:ext cx="468086" cy="392339"/>
          </a:xfrm>
        </p:spPr>
        <p:txBody>
          <a:bodyPr/>
          <a:lstStyle/>
          <a:p>
            <a:fld id="{28874E94-A9F8-5A41-9D43-235A602D77DE}" type="slidenum">
              <a:rPr lang="en-US" smtClean="0"/>
              <a:pPr/>
              <a:t>6</a:t>
            </a:fld>
            <a:endParaRPr lang="en-US">
              <a:latin typeface="Aptos" panose="020B0004020202020204" pitchFamily="34" charset="0"/>
            </a:endParaRPr>
          </a:p>
        </p:txBody>
      </p:sp>
      <p:sp>
        <p:nvSpPr>
          <p:cNvPr id="4" name="Title 3">
            <a:extLst>
              <a:ext uri="{FF2B5EF4-FFF2-40B4-BE49-F238E27FC236}">
                <a16:creationId xmlns:a16="http://schemas.microsoft.com/office/drawing/2014/main" id="{668C984A-5189-C024-C4D8-DB59A4A26A52}"/>
              </a:ext>
            </a:extLst>
          </p:cNvPr>
          <p:cNvSpPr>
            <a:spLocks noGrp="1"/>
          </p:cNvSpPr>
          <p:nvPr>
            <p:ph type="title"/>
          </p:nvPr>
        </p:nvSpPr>
        <p:spPr/>
        <p:txBody>
          <a:bodyPr>
            <a:normAutofit fontScale="90000"/>
          </a:bodyPr>
          <a:lstStyle/>
          <a:p>
            <a:r>
              <a:rPr lang="en-US" b="1" dirty="0">
                <a:latin typeface="Aptos ExtraBold"/>
              </a:rPr>
              <a:t>Previous guidance</a:t>
            </a:r>
          </a:p>
        </p:txBody>
      </p:sp>
      <p:sp>
        <p:nvSpPr>
          <p:cNvPr id="7" name="Text Placeholder 4">
            <a:extLst>
              <a:ext uri="{FF2B5EF4-FFF2-40B4-BE49-F238E27FC236}">
                <a16:creationId xmlns:a16="http://schemas.microsoft.com/office/drawing/2014/main" id="{A1588392-C4A0-6D64-0FDE-A3EB8589D7B8}"/>
              </a:ext>
            </a:extLst>
          </p:cNvPr>
          <p:cNvSpPr txBox="1">
            <a:spLocks/>
          </p:cNvSpPr>
          <p:nvPr/>
        </p:nvSpPr>
        <p:spPr>
          <a:xfrm>
            <a:off x="412037" y="1678329"/>
            <a:ext cx="7771264" cy="4282633"/>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0" baseline="0">
                <a:solidFill>
                  <a:schemeClr val="tx1"/>
                </a:solidFill>
                <a:latin typeface="Aptos Light"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sz="2400" b="1" dirty="0">
                <a:latin typeface="Aptos"/>
              </a:rPr>
              <a:t>Outdated content</a:t>
            </a:r>
            <a:endParaRPr lang="en-US" sz="2400" dirty="0">
              <a:latin typeface="Aptos"/>
            </a:endParaRPr>
          </a:p>
          <a:p>
            <a:pPr lvl="0"/>
            <a:r>
              <a:rPr lang="en-US" sz="2400" dirty="0">
                <a:latin typeface="Aptos"/>
              </a:rPr>
              <a:t>Best way to be compliant is to </a:t>
            </a:r>
            <a:r>
              <a:rPr lang="en-US" sz="2400" b="1" dirty="0">
                <a:latin typeface="Aptos"/>
              </a:rPr>
              <a:t>remove outdated content </a:t>
            </a:r>
            <a:r>
              <a:rPr lang="en-US" sz="2400" dirty="0">
                <a:latin typeface="Aptos"/>
              </a:rPr>
              <a:t>based on our </a:t>
            </a:r>
            <a:r>
              <a:rPr lang="en-US" sz="2400" dirty="0">
                <a:latin typeface="Aptos"/>
                <a:hlinkClick r:id="rId2" tooltip="Original URL: https://designsystem.nyc.gov/standards/removing-content.html. Click or tap if you trust this link."/>
              </a:rPr>
              <a:t>content removal policy</a:t>
            </a:r>
            <a:r>
              <a:rPr lang="en-US" sz="2400" dirty="0">
                <a:latin typeface="Aptos"/>
              </a:rPr>
              <a:t>. Agencies have been asked to do this with TeamSite websites by September 30, 2026.</a:t>
            </a:r>
          </a:p>
          <a:p>
            <a:pPr lvl="0"/>
            <a:r>
              <a:rPr lang="en-US" sz="2400" b="1" dirty="0">
                <a:latin typeface="Aptos"/>
              </a:rPr>
              <a:t>PDFs</a:t>
            </a:r>
          </a:p>
          <a:p>
            <a:pPr lvl="0"/>
            <a:r>
              <a:rPr lang="en-US" sz="2400" dirty="0">
                <a:latin typeface="Aptos"/>
              </a:rPr>
              <a:t>Moving forward, it’s best to be </a:t>
            </a:r>
            <a:r>
              <a:rPr lang="en-US" sz="2400" b="1" dirty="0">
                <a:latin typeface="Aptos"/>
              </a:rPr>
              <a:t>HTML-first</a:t>
            </a:r>
            <a:r>
              <a:rPr lang="en-US" sz="2400" dirty="0">
                <a:latin typeface="Aptos"/>
              </a:rPr>
              <a:t> with your content and avoid PDF formats.</a:t>
            </a:r>
          </a:p>
          <a:p>
            <a:r>
              <a:rPr lang="en-US" sz="2400" dirty="0">
                <a:latin typeface="Aptos"/>
              </a:rPr>
              <a:t>If PDFs are necessary, OTI has created </a:t>
            </a:r>
            <a:r>
              <a:rPr lang="en-US" sz="2400" b="1" dirty="0">
                <a:latin typeface="Aptos"/>
              </a:rPr>
              <a:t>accessible report templates</a:t>
            </a:r>
            <a:r>
              <a:rPr lang="en-US" sz="2400" dirty="0">
                <a:latin typeface="Aptos"/>
              </a:rPr>
              <a:t> available for </a:t>
            </a:r>
            <a:r>
              <a:rPr lang="en-US" sz="2400" dirty="0">
                <a:latin typeface="Aptos"/>
                <a:hlinkClick r:id="rId3"/>
              </a:rPr>
              <a:t>download here</a:t>
            </a:r>
            <a:r>
              <a:rPr lang="en-US" sz="2400" dirty="0">
                <a:latin typeface="Aptos"/>
              </a:rPr>
              <a:t>.</a:t>
            </a:r>
          </a:p>
        </p:txBody>
      </p:sp>
    </p:spTree>
    <p:extLst>
      <p:ext uri="{BB962C8B-B14F-4D97-AF65-F5344CB8AC3E}">
        <p14:creationId xmlns:p14="http://schemas.microsoft.com/office/powerpoint/2010/main" val="1316390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21DD2-A99D-6539-9F50-52839B77F25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8B0138-7455-BDA3-9135-8009ED915B3C}"/>
              </a:ext>
            </a:extLst>
          </p:cNvPr>
          <p:cNvSpPr>
            <a:spLocks noGrp="1"/>
          </p:cNvSpPr>
          <p:nvPr>
            <p:ph type="sldNum" sz="quarter" idx="11"/>
          </p:nvPr>
        </p:nvSpPr>
        <p:spPr/>
        <p:txBody>
          <a:bodyPr/>
          <a:lstStyle/>
          <a:p>
            <a:fld id="{28874E94-A9F8-5A41-9D43-235A602D77DE}" type="slidenum">
              <a:rPr lang="en-US" smtClean="0"/>
              <a:pPr/>
              <a:t>7</a:t>
            </a:fld>
            <a:endParaRPr lang="en-US">
              <a:latin typeface="Aptos" panose="020B0004020202020204" pitchFamily="34" charset="0"/>
            </a:endParaRPr>
          </a:p>
        </p:txBody>
      </p:sp>
      <p:sp>
        <p:nvSpPr>
          <p:cNvPr id="4" name="Title 3">
            <a:extLst>
              <a:ext uri="{FF2B5EF4-FFF2-40B4-BE49-F238E27FC236}">
                <a16:creationId xmlns:a16="http://schemas.microsoft.com/office/drawing/2014/main" id="{D292D279-F349-B8B0-AA44-0BC0D4A1840D}"/>
              </a:ext>
            </a:extLst>
          </p:cNvPr>
          <p:cNvSpPr>
            <a:spLocks noGrp="1"/>
          </p:cNvSpPr>
          <p:nvPr>
            <p:ph type="title"/>
          </p:nvPr>
        </p:nvSpPr>
        <p:spPr>
          <a:xfrm>
            <a:off x="390266" y="609271"/>
            <a:ext cx="11408256" cy="681355"/>
          </a:xfrm>
        </p:spPr>
        <p:txBody>
          <a:bodyPr>
            <a:normAutofit fontScale="90000"/>
          </a:bodyPr>
          <a:lstStyle/>
          <a:p>
            <a:r>
              <a:rPr lang="en-US" b="1" dirty="0">
                <a:latin typeface="Aptos ExtraBold" panose="020B0004020202020204" pitchFamily="34" charset="0"/>
              </a:rPr>
              <a:t>Previous action items</a:t>
            </a:r>
          </a:p>
        </p:txBody>
      </p:sp>
      <p:sp>
        <p:nvSpPr>
          <p:cNvPr id="3" name="Text Placeholder 4">
            <a:extLst>
              <a:ext uri="{FF2B5EF4-FFF2-40B4-BE49-F238E27FC236}">
                <a16:creationId xmlns:a16="http://schemas.microsoft.com/office/drawing/2014/main" id="{DC8FAA0D-5385-EE64-2624-15FFDE85165F}"/>
              </a:ext>
            </a:extLst>
          </p:cNvPr>
          <p:cNvSpPr>
            <a:spLocks noGrp="1"/>
          </p:cNvSpPr>
          <p:nvPr/>
        </p:nvSpPr>
        <p:spPr>
          <a:xfrm>
            <a:off x="390266" y="1659678"/>
            <a:ext cx="8479062" cy="410129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0" baseline="0">
                <a:solidFill>
                  <a:schemeClr val="tx1"/>
                </a:solidFill>
                <a:latin typeface="Aptos Light"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US" sz="2400" b="1" kern="1200" dirty="0">
                <a:latin typeface="Aptos" panose="020B0004020202020204" pitchFamily="34" charset="0"/>
                <a:ea typeface="+mj-ea"/>
                <a:cs typeface="+mj-cs"/>
              </a:rPr>
              <a:t>CIOs: Install Microsoft Word templates </a:t>
            </a:r>
            <a:br>
              <a:rPr lang="en-US" sz="2400" kern="1200" dirty="0">
                <a:latin typeface="Clash Grotesk Medium" pitchFamily="2" charset="77"/>
                <a:ea typeface="+mj-ea"/>
                <a:cs typeface="+mj-cs"/>
              </a:rPr>
            </a:br>
            <a:r>
              <a:rPr lang="en-US" sz="1800" dirty="0"/>
              <a:t>Install the </a:t>
            </a:r>
            <a:r>
              <a:rPr lang="en-US" sz="1800" dirty="0">
                <a:hlinkClick r:id="rId2"/>
              </a:rPr>
              <a:t>Microsoft Word templates</a:t>
            </a:r>
            <a:r>
              <a:rPr lang="en-US" sz="1800" dirty="0"/>
              <a:t> into your agency SharePoint as soon as possible.</a:t>
            </a:r>
          </a:p>
          <a:p>
            <a:pPr marL="342900" indent="-342900">
              <a:buFont typeface="+mj-lt"/>
              <a:buAutoNum type="arabicPeriod"/>
            </a:pPr>
            <a:r>
              <a:rPr lang="en-US" sz="2400" b="1" kern="1200" dirty="0">
                <a:latin typeface="Aptos" panose="020B0004020202020204" pitchFamily="34" charset="0"/>
                <a:ea typeface="+mj-ea"/>
                <a:cs typeface="+mj-cs"/>
              </a:rPr>
              <a:t>Communicate to your teams</a:t>
            </a:r>
            <a:br>
              <a:rPr lang="en-US" sz="2400" dirty="0"/>
            </a:br>
            <a:r>
              <a:rPr lang="en-US" sz="1800" dirty="0"/>
              <a:t>Communicate to your agency teams about </a:t>
            </a:r>
            <a:r>
              <a:rPr lang="en-US" sz="1800" dirty="0">
                <a:hlinkClick r:id="rId2"/>
              </a:rPr>
              <a:t>accessible report templates</a:t>
            </a:r>
            <a:r>
              <a:rPr lang="en-US" sz="1800" dirty="0"/>
              <a:t> and that we need to comply with digital accessibility standards by April 26, 2027.</a:t>
            </a:r>
          </a:p>
          <a:p>
            <a:pPr marL="342900" indent="-342900">
              <a:buFont typeface="+mj-lt"/>
              <a:buAutoNum type="arabicPeriod"/>
            </a:pPr>
            <a:r>
              <a:rPr lang="en-US" sz="2400" b="1" kern="1200" dirty="0">
                <a:latin typeface="Aptos" panose="020B0004020202020204" pitchFamily="34" charset="0"/>
                <a:ea typeface="+mj-ea"/>
                <a:cs typeface="+mj-cs"/>
              </a:rPr>
              <a:t>September 30, 2026</a:t>
            </a:r>
            <a:br>
              <a:rPr lang="en-US" sz="1800" dirty="0"/>
            </a:br>
            <a:r>
              <a:rPr lang="en-US" sz="1800" dirty="0">
                <a:hlinkClick r:id="rId3"/>
              </a:rPr>
              <a:t>Complete auditing </a:t>
            </a:r>
            <a:r>
              <a:rPr lang="en-US" sz="1800" dirty="0"/>
              <a:t>and removing old and unused TeamSite content. </a:t>
            </a:r>
            <a:r>
              <a:rPr lang="en-US" sz="1800" dirty="0">
                <a:hlinkClick r:id="rId4"/>
              </a:rPr>
              <a:t>See guidance</a:t>
            </a:r>
            <a:r>
              <a:rPr lang="en-US" sz="1800" dirty="0"/>
              <a:t>.</a:t>
            </a:r>
          </a:p>
          <a:p>
            <a:pPr marL="342900" indent="-342900">
              <a:buFont typeface="+mj-lt"/>
              <a:buAutoNum type="arabicPeriod"/>
            </a:pPr>
            <a:r>
              <a:rPr lang="en-US" sz="2400" b="1" kern="1200" dirty="0">
                <a:latin typeface="Aptos" panose="020B0004020202020204" pitchFamily="34" charset="0"/>
              </a:rPr>
              <a:t>April 26, 2027</a:t>
            </a:r>
            <a:br>
              <a:rPr lang="en-US" sz="1800" kern="1200" dirty="0">
                <a:latin typeface="Clash Grotesk Medium" pitchFamily="2" charset="77"/>
                <a:ea typeface="+mj-ea"/>
                <a:cs typeface="+mj-cs"/>
              </a:rPr>
            </a:br>
            <a:r>
              <a:rPr lang="en-US" sz="1800" dirty="0"/>
              <a:t>Prioritize accessibility compliance for your most impactful and used websites and solidify plans for any remaining compliance work.</a:t>
            </a:r>
          </a:p>
        </p:txBody>
      </p:sp>
    </p:spTree>
    <p:extLst>
      <p:ext uri="{BB962C8B-B14F-4D97-AF65-F5344CB8AC3E}">
        <p14:creationId xmlns:p14="http://schemas.microsoft.com/office/powerpoint/2010/main" val="447678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B868B-D6E6-94CD-D164-890AA082197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9769D7-A42B-A692-1B52-E63DB2D1DCBF}"/>
              </a:ext>
            </a:extLst>
          </p:cNvPr>
          <p:cNvSpPr>
            <a:spLocks noGrp="1"/>
          </p:cNvSpPr>
          <p:nvPr>
            <p:ph type="sldNum" sz="quarter" idx="4"/>
          </p:nvPr>
        </p:nvSpPr>
        <p:spPr/>
        <p:txBody>
          <a:bodyPr/>
          <a:lstStyle/>
          <a:p>
            <a:fld id="{28874E94-A9F8-5A41-9D43-235A602D77DE}" type="slidenum">
              <a:rPr lang="en-US" smtClean="0"/>
              <a:pPr/>
              <a:t>8</a:t>
            </a:fld>
            <a:endParaRPr lang="en-US"/>
          </a:p>
        </p:txBody>
      </p:sp>
      <p:sp>
        <p:nvSpPr>
          <p:cNvPr id="3" name="Text Placeholder 2">
            <a:extLst>
              <a:ext uri="{FF2B5EF4-FFF2-40B4-BE49-F238E27FC236}">
                <a16:creationId xmlns:a16="http://schemas.microsoft.com/office/drawing/2014/main" id="{D3ACD1DD-E5B2-A343-A624-733E5E0B5955}"/>
              </a:ext>
            </a:extLst>
          </p:cNvPr>
          <p:cNvSpPr>
            <a:spLocks noGrp="1"/>
          </p:cNvSpPr>
          <p:nvPr>
            <p:ph type="title" idx="4294967295"/>
          </p:nvPr>
        </p:nvSpPr>
        <p:spPr>
          <a:xfrm>
            <a:off x="609600" y="3021013"/>
            <a:ext cx="10972800" cy="8159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marL="228600" marR="0" lvl="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0" i="0" u="none" strike="noStrike" kern="1200" cap="none" spc="0" normalizeH="0" baseline="0" noProof="0">
                <a:ln>
                  <a:noFill/>
                </a:ln>
                <a:effectLst/>
                <a:uLnTx/>
                <a:uFillTx/>
                <a:latin typeface="Aptos ExtraBold"/>
                <a:ea typeface="+mn-ea"/>
                <a:cs typeface="+mn-cs"/>
              </a:rPr>
              <a:t>What does good look like?</a:t>
            </a:r>
            <a:endParaRPr lang="en-US" sz="4800" b="0" i="0" u="none" strike="noStrike" kern="1200" cap="none" spc="0" normalizeH="0" baseline="0" noProof="0">
              <a:ln>
                <a:noFill/>
              </a:ln>
              <a:effectLst/>
              <a:uLnTx/>
              <a:uFillTx/>
              <a:latin typeface="Aptos ExtraBold"/>
              <a:ea typeface="+mn-ea"/>
              <a:cs typeface="+mn-cs"/>
            </a:endParaRPr>
          </a:p>
        </p:txBody>
      </p:sp>
    </p:spTree>
    <p:extLst>
      <p:ext uri="{BB962C8B-B14F-4D97-AF65-F5344CB8AC3E}">
        <p14:creationId xmlns:p14="http://schemas.microsoft.com/office/powerpoint/2010/main" val="3826834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CCBCA-3F67-3FFF-19B7-F4AE33EBEE7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90FD37-EBF0-012C-E73B-2F0DFD79FFCC}"/>
              </a:ext>
            </a:extLst>
          </p:cNvPr>
          <p:cNvSpPr>
            <a:spLocks noGrp="1"/>
          </p:cNvSpPr>
          <p:nvPr>
            <p:ph type="sldNum" sz="quarter" idx="11"/>
          </p:nvPr>
        </p:nvSpPr>
        <p:spPr/>
        <p:txBody>
          <a:bodyPr/>
          <a:lstStyle/>
          <a:p>
            <a:fld id="{28874E94-A9F8-5A41-9D43-235A602D77DE}" type="slidenum">
              <a:rPr lang="en-US" smtClean="0"/>
              <a:pPr/>
              <a:t>9</a:t>
            </a:fld>
            <a:endParaRPr lang="en-US">
              <a:latin typeface="Aptos" panose="020B0004020202020204" pitchFamily="34" charset="0"/>
            </a:endParaRPr>
          </a:p>
        </p:txBody>
      </p:sp>
      <p:sp>
        <p:nvSpPr>
          <p:cNvPr id="4" name="Title 3">
            <a:extLst>
              <a:ext uri="{FF2B5EF4-FFF2-40B4-BE49-F238E27FC236}">
                <a16:creationId xmlns:a16="http://schemas.microsoft.com/office/drawing/2014/main" id="{82137376-E094-654C-6951-BC630DBF6529}"/>
              </a:ext>
            </a:extLst>
          </p:cNvPr>
          <p:cNvSpPr>
            <a:spLocks noGrp="1"/>
          </p:cNvSpPr>
          <p:nvPr>
            <p:ph type="title"/>
          </p:nvPr>
        </p:nvSpPr>
        <p:spPr/>
        <p:txBody>
          <a:bodyPr>
            <a:normAutofit fontScale="90000"/>
          </a:bodyPr>
          <a:lstStyle/>
          <a:p>
            <a:r>
              <a:rPr lang="en-US" b="1">
                <a:latin typeface="Aptos ExtraBold" panose="020B0004020202020204" pitchFamily="34" charset="0"/>
                <a:ea typeface="Lato" panose="020F0502020204030203" pitchFamily="34" charset="0"/>
                <a:cs typeface="Lato" panose="020F0502020204030203" pitchFamily="34" charset="0"/>
              </a:rPr>
              <a:t>Scope of these recommendations: websites, not PDFs</a:t>
            </a:r>
          </a:p>
        </p:txBody>
      </p:sp>
      <p:grpSp>
        <p:nvGrpSpPr>
          <p:cNvPr id="13" name="Group 12" descr="Four boxes, ">
            <a:extLst>
              <a:ext uri="{FF2B5EF4-FFF2-40B4-BE49-F238E27FC236}">
                <a16:creationId xmlns:a16="http://schemas.microsoft.com/office/drawing/2014/main" id="{F1245BF0-40FB-F2A7-76FD-2565A3CB96DB}"/>
              </a:ext>
            </a:extLst>
          </p:cNvPr>
          <p:cNvGrpSpPr/>
          <p:nvPr/>
        </p:nvGrpSpPr>
        <p:grpSpPr>
          <a:xfrm>
            <a:off x="540896" y="2353020"/>
            <a:ext cx="11110207" cy="2538294"/>
            <a:chOff x="562643" y="2481082"/>
            <a:chExt cx="11110207" cy="3267636"/>
          </a:xfrm>
        </p:grpSpPr>
        <p:sp>
          <p:nvSpPr>
            <p:cNvPr id="5" name="Rounded Rectangle 4">
              <a:extLst>
                <a:ext uri="{FF2B5EF4-FFF2-40B4-BE49-F238E27FC236}">
                  <a16:creationId xmlns:a16="http://schemas.microsoft.com/office/drawing/2014/main" id="{3E34770C-5A6C-D3C3-984B-DDCE0E1220B8}"/>
                </a:ext>
              </a:extLst>
            </p:cNvPr>
            <p:cNvSpPr/>
            <p:nvPr/>
          </p:nvSpPr>
          <p:spPr>
            <a:xfrm>
              <a:off x="562643" y="2481082"/>
              <a:ext cx="2505109" cy="3238052"/>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1000"/>
                </a:spcAft>
              </a:pPr>
              <a:r>
                <a:rPr lang="en-US" sz="4000" b="1">
                  <a:solidFill>
                    <a:srgbClr val="375623"/>
                  </a:solidFill>
                  <a:ea typeface="Calibri"/>
                  <a:cs typeface="Calibri"/>
                </a:rPr>
                <a:t>✓​</a:t>
              </a:r>
              <a:endParaRPr lang="en-US">
                <a:solidFill>
                  <a:srgbClr val="375623"/>
                </a:solidFill>
                <a:ea typeface="Calibri"/>
                <a:cs typeface="Calibri"/>
              </a:endParaRPr>
            </a:p>
            <a:p>
              <a:pPr algn="ctr">
                <a:spcAft>
                  <a:spcPts val="1000"/>
                </a:spcAft>
              </a:pPr>
              <a:r>
                <a:rPr lang="en-US" sz="2200" b="1">
                  <a:solidFill>
                    <a:srgbClr val="375623"/>
                  </a:solidFill>
                </a:rPr>
                <a:t>Websites &amp; web applications</a:t>
              </a:r>
            </a:p>
            <a:p>
              <a:pPr algn="ctr">
                <a:spcAft>
                  <a:spcPts val="1000"/>
                </a:spcAft>
              </a:pPr>
              <a:endParaRPr lang="en-US" sz="2200" b="1">
                <a:solidFill>
                  <a:srgbClr val="375623"/>
                </a:solidFill>
              </a:endParaRPr>
            </a:p>
          </p:txBody>
        </p:sp>
        <p:sp>
          <p:nvSpPr>
            <p:cNvPr id="6" name="Rounded Rectangle 5">
              <a:extLst>
                <a:ext uri="{FF2B5EF4-FFF2-40B4-BE49-F238E27FC236}">
                  <a16:creationId xmlns:a16="http://schemas.microsoft.com/office/drawing/2014/main" id="{A1A9D1F0-62AA-5458-1E33-9172A62FEEEA}"/>
                </a:ext>
              </a:extLst>
            </p:cNvPr>
            <p:cNvSpPr/>
            <p:nvPr/>
          </p:nvSpPr>
          <p:spPr>
            <a:xfrm>
              <a:off x="3431009" y="2510666"/>
              <a:ext cx="2505109" cy="3238052"/>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1000"/>
                </a:spcAft>
              </a:pPr>
              <a:r>
                <a:rPr lang="en-US" sz="3500" b="1">
                  <a:solidFill>
                    <a:srgbClr val="375623"/>
                  </a:solidFill>
                  <a:ea typeface="Calibri"/>
                  <a:cs typeface="Calibri"/>
                </a:rPr>
                <a:t>✓ </a:t>
              </a:r>
            </a:p>
            <a:p>
              <a:pPr algn="ctr">
                <a:spcAft>
                  <a:spcPts val="1000"/>
                </a:spcAft>
              </a:pPr>
              <a:r>
                <a:rPr lang="en-US" sz="2400" b="1">
                  <a:solidFill>
                    <a:srgbClr val="375623"/>
                  </a:solidFill>
                </a:rPr>
                <a:t>How to identify accessibility issues</a:t>
              </a:r>
              <a:endParaRPr lang="en-US" sz="2400" b="1">
                <a:solidFill>
                  <a:srgbClr val="375623"/>
                </a:solidFill>
                <a:ea typeface="Calibri"/>
                <a:cs typeface="Calibri"/>
              </a:endParaRPr>
            </a:p>
          </p:txBody>
        </p:sp>
        <p:sp>
          <p:nvSpPr>
            <p:cNvPr id="8" name="Rounded Rectangle 7">
              <a:extLst>
                <a:ext uri="{FF2B5EF4-FFF2-40B4-BE49-F238E27FC236}">
                  <a16:creationId xmlns:a16="http://schemas.microsoft.com/office/drawing/2014/main" id="{0794D2AA-A4F0-E19A-C7BC-22519EF675E2}"/>
                </a:ext>
              </a:extLst>
            </p:cNvPr>
            <p:cNvSpPr/>
            <p:nvPr/>
          </p:nvSpPr>
          <p:spPr>
            <a:xfrm>
              <a:off x="6299375" y="2510666"/>
              <a:ext cx="2505109" cy="3238052"/>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1000"/>
                </a:spcAft>
              </a:pPr>
              <a:r>
                <a:rPr lang="en-US" sz="3500" b="1">
                  <a:solidFill>
                    <a:srgbClr val="375623"/>
                  </a:solidFill>
                  <a:ea typeface="Calibri"/>
                  <a:cs typeface="Calibri"/>
                </a:rPr>
                <a:t>✓ </a:t>
              </a:r>
            </a:p>
            <a:p>
              <a:pPr algn="ctr">
                <a:spcAft>
                  <a:spcPts val="1000"/>
                </a:spcAft>
              </a:pPr>
              <a:r>
                <a:rPr lang="en-US" sz="2400" b="1">
                  <a:solidFill>
                    <a:srgbClr val="375623"/>
                  </a:solidFill>
                </a:rPr>
                <a:t>Tools to measure progress</a:t>
              </a:r>
              <a:endParaRPr lang="en-US">
                <a:solidFill>
                  <a:srgbClr val="375623"/>
                </a:solidFill>
                <a:ea typeface="Calibri"/>
                <a:cs typeface="Calibri"/>
              </a:endParaRPr>
            </a:p>
          </p:txBody>
        </p:sp>
        <p:sp>
          <p:nvSpPr>
            <p:cNvPr id="9" name="Rounded Rectangle 8">
              <a:extLst>
                <a:ext uri="{FF2B5EF4-FFF2-40B4-BE49-F238E27FC236}">
                  <a16:creationId xmlns:a16="http://schemas.microsoft.com/office/drawing/2014/main" id="{20BF4F92-946E-7588-F532-6B0F1449E808}"/>
                </a:ext>
              </a:extLst>
            </p:cNvPr>
            <p:cNvSpPr/>
            <p:nvPr/>
          </p:nvSpPr>
          <p:spPr>
            <a:xfrm>
              <a:off x="9167741" y="2510666"/>
              <a:ext cx="2505109" cy="3238052"/>
            </a:xfrm>
            <a:prstGeom prst="roundRect">
              <a:avLst/>
            </a:prstGeom>
            <a:solidFill>
              <a:srgbClr val="FF0000">
                <a:alpha val="6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1000"/>
                </a:spcAft>
              </a:pPr>
              <a:r>
                <a:rPr lang="en-US" sz="4000">
                  <a:solidFill>
                    <a:srgbClr val="8C0000"/>
                  </a:solidFill>
                  <a:ea typeface="+mn-lt"/>
                  <a:cs typeface="+mn-lt"/>
                </a:rPr>
                <a:t>✘ </a:t>
              </a:r>
              <a:endParaRPr lang="en-US" sz="4000">
                <a:solidFill>
                  <a:srgbClr val="8C0000"/>
                </a:solidFill>
                <a:ea typeface="Calibri"/>
                <a:cs typeface="Calibri"/>
              </a:endParaRPr>
            </a:p>
            <a:p>
              <a:pPr algn="ctr">
                <a:spcAft>
                  <a:spcPts val="1000"/>
                </a:spcAft>
              </a:pPr>
              <a:r>
                <a:rPr lang="en-US" sz="2400" b="1">
                  <a:solidFill>
                    <a:srgbClr val="8C0000"/>
                  </a:solidFill>
                </a:rPr>
                <a:t>PDFs</a:t>
              </a:r>
              <a:endParaRPr lang="en-US" sz="2400" b="1">
                <a:solidFill>
                  <a:srgbClr val="8C0000"/>
                </a:solidFill>
                <a:ea typeface="Calibri"/>
                <a:cs typeface="Calibri"/>
              </a:endParaRPr>
            </a:p>
            <a:p>
              <a:pPr algn="ctr">
                <a:spcAft>
                  <a:spcPts val="1000"/>
                </a:spcAft>
              </a:pPr>
              <a:endParaRPr lang="en-US" sz="2400" b="1">
                <a:solidFill>
                  <a:srgbClr val="C00000"/>
                </a:solidFill>
                <a:ea typeface="Calibri"/>
                <a:cs typeface="Calibri"/>
              </a:endParaRPr>
            </a:p>
          </p:txBody>
        </p:sp>
      </p:grpSp>
      <p:sp>
        <p:nvSpPr>
          <p:cNvPr id="3" name="TextBox 2">
            <a:extLst>
              <a:ext uri="{FF2B5EF4-FFF2-40B4-BE49-F238E27FC236}">
                <a16:creationId xmlns:a16="http://schemas.microsoft.com/office/drawing/2014/main" id="{2BCE141D-AED8-831E-1F1B-FCF8BA1C386F}"/>
              </a:ext>
            </a:extLst>
          </p:cNvPr>
          <p:cNvSpPr txBox="1"/>
          <p:nvPr/>
        </p:nvSpPr>
        <p:spPr>
          <a:xfrm>
            <a:off x="9198429" y="4893129"/>
            <a:ext cx="259624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C00000"/>
                </a:solidFill>
                <a:latin typeface="Calibri"/>
              </a:rPr>
              <a:t>See June's town hall deck for PDF best practices.</a:t>
            </a:r>
            <a:endParaRPr lang="en-US"/>
          </a:p>
        </p:txBody>
      </p:sp>
    </p:spTree>
    <p:extLst>
      <p:ext uri="{BB962C8B-B14F-4D97-AF65-F5344CB8AC3E}">
        <p14:creationId xmlns:p14="http://schemas.microsoft.com/office/powerpoint/2010/main" val="155169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37ADA-9C2B-FB83-9411-69DDD4CE3C2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ACFB8A-32F8-2126-6965-388DCA4687A0}"/>
              </a:ext>
            </a:extLst>
          </p:cNvPr>
          <p:cNvSpPr>
            <a:spLocks noGrp="1"/>
          </p:cNvSpPr>
          <p:nvPr>
            <p:ph type="sldNum" sz="quarter" idx="11"/>
          </p:nvPr>
        </p:nvSpPr>
        <p:spPr>
          <a:xfrm>
            <a:off x="11582563" y="6440510"/>
            <a:ext cx="468086" cy="392339"/>
          </a:xfrm>
        </p:spPr>
        <p:txBody>
          <a:bodyPr/>
          <a:lstStyle/>
          <a:p>
            <a:fld id="{28874E94-A9F8-5A41-9D43-235A602D77DE}" type="slidenum">
              <a:rPr lang="en-US" smtClean="0"/>
              <a:pPr/>
              <a:t>10</a:t>
            </a:fld>
            <a:endParaRPr lang="en-US">
              <a:latin typeface="Aptos" panose="020B0004020202020204" pitchFamily="34" charset="0"/>
            </a:endParaRPr>
          </a:p>
        </p:txBody>
      </p:sp>
      <p:sp>
        <p:nvSpPr>
          <p:cNvPr id="4" name="Title 3">
            <a:extLst>
              <a:ext uri="{FF2B5EF4-FFF2-40B4-BE49-F238E27FC236}">
                <a16:creationId xmlns:a16="http://schemas.microsoft.com/office/drawing/2014/main" id="{61E7616D-8D0F-CB5E-750F-D6FA16A2D043}"/>
              </a:ext>
            </a:extLst>
          </p:cNvPr>
          <p:cNvSpPr>
            <a:spLocks noGrp="1"/>
          </p:cNvSpPr>
          <p:nvPr>
            <p:ph type="title"/>
          </p:nvPr>
        </p:nvSpPr>
        <p:spPr/>
        <p:txBody>
          <a:bodyPr>
            <a:normAutofit fontScale="90000"/>
          </a:bodyPr>
          <a:lstStyle/>
          <a:p>
            <a:r>
              <a:rPr lang="en-US" b="1">
                <a:latin typeface="Aptos ExtraBold" panose="020B0004020202020204" pitchFamily="34" charset="0"/>
              </a:rPr>
              <a:t>There’s no one magic tool</a:t>
            </a:r>
          </a:p>
        </p:txBody>
      </p:sp>
      <p:sp>
        <p:nvSpPr>
          <p:cNvPr id="5" name="Text Placeholder 4">
            <a:extLst>
              <a:ext uri="{FF2B5EF4-FFF2-40B4-BE49-F238E27FC236}">
                <a16:creationId xmlns:a16="http://schemas.microsoft.com/office/drawing/2014/main" id="{48462094-2622-EDDF-C797-281BA17BA7A0}"/>
              </a:ext>
            </a:extLst>
          </p:cNvPr>
          <p:cNvSpPr>
            <a:spLocks noGrp="1"/>
          </p:cNvSpPr>
          <p:nvPr>
            <p:ph type="body" sz="quarter" idx="12"/>
          </p:nvPr>
        </p:nvSpPr>
        <p:spPr>
          <a:xfrm>
            <a:off x="412037" y="1317096"/>
            <a:ext cx="10412869" cy="593951"/>
          </a:xfrm>
        </p:spPr>
        <p:txBody>
          <a:bodyPr vert="horz" lIns="91440" tIns="45720" rIns="91440" bIns="45720" rtlCol="0" anchor="t">
            <a:noAutofit/>
          </a:bodyPr>
          <a:lstStyle/>
          <a:p>
            <a:r>
              <a:rPr lang="en-US" sz="1800">
                <a:latin typeface="Aptos Light"/>
              </a:rPr>
              <a:t>Existing tools are limited in coverage or flag too many “potential” issues to measure accessibility on their own. </a:t>
            </a:r>
            <a:endParaRPr lang="en-US" sz="1800"/>
          </a:p>
        </p:txBody>
      </p:sp>
      <p:sp>
        <p:nvSpPr>
          <p:cNvPr id="7" name="Text Placeholder 4">
            <a:extLst>
              <a:ext uri="{FF2B5EF4-FFF2-40B4-BE49-F238E27FC236}">
                <a16:creationId xmlns:a16="http://schemas.microsoft.com/office/drawing/2014/main" id="{2AD27729-010A-625C-74DF-982405E309F2}"/>
              </a:ext>
            </a:extLst>
          </p:cNvPr>
          <p:cNvSpPr txBox="1">
            <a:spLocks/>
          </p:cNvSpPr>
          <p:nvPr/>
        </p:nvSpPr>
        <p:spPr>
          <a:xfrm>
            <a:off x="412037" y="2198352"/>
            <a:ext cx="5521481" cy="334204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0" baseline="0">
                <a:solidFill>
                  <a:schemeClr val="tx1"/>
                </a:solidFill>
                <a:latin typeface="Aptos Light"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spcAft>
                <a:spcPts val="1000"/>
              </a:spcAft>
              <a:buAutoNum type="arabicPeriod"/>
            </a:pPr>
            <a:r>
              <a:rPr lang="en-US" sz="1800" b="1">
                <a:latin typeface="Aptos"/>
              </a:rPr>
              <a:t>Limited coverage</a:t>
            </a:r>
            <a:br>
              <a:rPr lang="en-US" sz="1800"/>
            </a:br>
            <a:r>
              <a:rPr lang="en-US" sz="1800">
                <a:latin typeface="Aptos Light"/>
              </a:rPr>
              <a:t>Automated tools can only ever check for 30-40% of issues (see Appendix), so scores are misleading. Most are built on the same open-source library called axe-core. </a:t>
            </a:r>
            <a:endParaRPr lang="en-US" sz="1800"/>
          </a:p>
          <a:p>
            <a:pPr marL="342900" indent="-342900">
              <a:spcAft>
                <a:spcPts val="1000"/>
              </a:spcAft>
              <a:buAutoNum type="arabicPeriod"/>
            </a:pPr>
            <a:r>
              <a:rPr lang="en-US" sz="1800" b="1">
                <a:latin typeface="Aptos"/>
              </a:rPr>
              <a:t>Noisy suggestions create extra work to review </a:t>
            </a:r>
            <a:br>
              <a:rPr lang="en-US" sz="1800"/>
            </a:br>
            <a:r>
              <a:rPr lang="en-US" sz="1800">
                <a:latin typeface="Aptos Light"/>
              </a:rPr>
              <a:t>Some tools flag many "potential" issues that are hard to verify unless you are an expert yourself. An example is </a:t>
            </a:r>
            <a:r>
              <a:rPr lang="en-US" sz="1800" err="1">
                <a:latin typeface="Aptos Light"/>
              </a:rPr>
              <a:t>WebAIM’s</a:t>
            </a:r>
            <a:r>
              <a:rPr lang="en-US" sz="1800">
                <a:latin typeface="Aptos Light"/>
              </a:rPr>
              <a:t> WAVE tool, which we don’t recommend for most teams. </a:t>
            </a:r>
            <a:endParaRPr lang="en-US" sz="1800"/>
          </a:p>
          <a:p>
            <a:pPr marL="342900" indent="-342900">
              <a:spcAft>
                <a:spcPts val="1000"/>
              </a:spcAft>
              <a:buAutoNum type="arabicPeriod"/>
            </a:pPr>
            <a:r>
              <a:rPr lang="en-US" sz="1800" b="1">
                <a:latin typeface="Aptos"/>
              </a:rPr>
              <a:t>Prioritizing "no false positives"</a:t>
            </a:r>
            <a:br>
              <a:rPr lang="en-US" sz="1800" b="1">
                <a:latin typeface="Aptos"/>
              </a:rPr>
            </a:br>
            <a:r>
              <a:rPr lang="en-US" sz="1800">
                <a:latin typeface="Aptos Light"/>
              </a:rPr>
              <a:t>We prioritized finding tools such that every flagged issue would be worth your time. </a:t>
            </a:r>
            <a:endParaRPr lang="en-US" sz="1800"/>
          </a:p>
        </p:txBody>
      </p:sp>
      <p:pic>
        <p:nvPicPr>
          <p:cNvPr id="9" name="Picture 8" descr="Zoomed out image of spreadsheet with evaluation results">
            <a:extLst>
              <a:ext uri="{FF2B5EF4-FFF2-40B4-BE49-F238E27FC236}">
                <a16:creationId xmlns:a16="http://schemas.microsoft.com/office/drawing/2014/main" id="{3EE51394-15AD-4E5E-8CB6-50E3EC800638}"/>
              </a:ext>
            </a:extLst>
          </p:cNvPr>
          <p:cNvPicPr>
            <a:picLocks noChangeAspect="1"/>
          </p:cNvPicPr>
          <p:nvPr/>
        </p:nvPicPr>
        <p:blipFill>
          <a:blip r:embed="rId2"/>
          <a:stretch>
            <a:fillRect/>
          </a:stretch>
        </p:blipFill>
        <p:spPr>
          <a:xfrm>
            <a:off x="7061747" y="2095500"/>
            <a:ext cx="4077419" cy="3423558"/>
          </a:xfrm>
          <a:prstGeom prst="rect">
            <a:avLst/>
          </a:prstGeom>
          <a:ln w="28575">
            <a:solidFill>
              <a:schemeClr val="bg2">
                <a:lumMod val="90000"/>
              </a:schemeClr>
            </a:solidFill>
          </a:ln>
        </p:spPr>
      </p:pic>
      <p:sp>
        <p:nvSpPr>
          <p:cNvPr id="3" name="TextBox 2">
            <a:extLst>
              <a:ext uri="{FF2B5EF4-FFF2-40B4-BE49-F238E27FC236}">
                <a16:creationId xmlns:a16="http://schemas.microsoft.com/office/drawing/2014/main" id="{B2A90AE3-8329-4F6B-7F6A-96470E78DB50}"/>
              </a:ext>
            </a:extLst>
          </p:cNvPr>
          <p:cNvSpPr txBox="1"/>
          <p:nvPr/>
        </p:nvSpPr>
        <p:spPr>
          <a:xfrm>
            <a:off x="7061200" y="5540023"/>
            <a:ext cx="415995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Aptos"/>
              </a:rPr>
              <a:t>OTI verified vendor claims by comparing various tools to expert manual audits (see Appendix)</a:t>
            </a:r>
          </a:p>
        </p:txBody>
      </p:sp>
    </p:spTree>
    <p:extLst>
      <p:ext uri="{BB962C8B-B14F-4D97-AF65-F5344CB8AC3E}">
        <p14:creationId xmlns:p14="http://schemas.microsoft.com/office/powerpoint/2010/main" val="3538679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29170-5B75-79BC-ED8E-97C73113FD3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F039C9B-6517-323D-6B3C-8C4A302BE9CB}"/>
              </a:ext>
            </a:extLst>
          </p:cNvPr>
          <p:cNvSpPr>
            <a:spLocks noGrp="1"/>
          </p:cNvSpPr>
          <p:nvPr>
            <p:ph type="sldNum" sz="quarter" idx="11"/>
          </p:nvPr>
        </p:nvSpPr>
        <p:spPr/>
        <p:txBody>
          <a:bodyPr/>
          <a:lstStyle/>
          <a:p>
            <a:fld id="{28874E94-A9F8-5A41-9D43-235A602D77DE}" type="slidenum">
              <a:rPr lang="en-US" smtClean="0"/>
              <a:pPr/>
              <a:t>11</a:t>
            </a:fld>
            <a:endParaRPr lang="en-US">
              <a:latin typeface="Aptos" panose="020B0004020202020204" pitchFamily="34" charset="0"/>
            </a:endParaRPr>
          </a:p>
        </p:txBody>
      </p:sp>
      <p:sp>
        <p:nvSpPr>
          <p:cNvPr id="4" name="Title 3">
            <a:extLst>
              <a:ext uri="{FF2B5EF4-FFF2-40B4-BE49-F238E27FC236}">
                <a16:creationId xmlns:a16="http://schemas.microsoft.com/office/drawing/2014/main" id="{EB08AE6E-12EA-5DB0-76AE-2A1B42E1EC92}"/>
              </a:ext>
            </a:extLst>
          </p:cNvPr>
          <p:cNvSpPr>
            <a:spLocks noGrp="1"/>
          </p:cNvSpPr>
          <p:nvPr>
            <p:ph type="title"/>
          </p:nvPr>
        </p:nvSpPr>
        <p:spPr/>
        <p:txBody>
          <a:bodyPr>
            <a:normAutofit fontScale="90000"/>
          </a:bodyPr>
          <a:lstStyle/>
          <a:p>
            <a:r>
              <a:rPr lang="en-US" b="1">
                <a:latin typeface="Aptos ExtraBold" panose="020B0004020202020204" pitchFamily="34" charset="0"/>
              </a:rPr>
              <a:t>What does good look like?</a:t>
            </a:r>
          </a:p>
        </p:txBody>
      </p:sp>
      <p:sp>
        <p:nvSpPr>
          <p:cNvPr id="5" name="Text Placeholder 4">
            <a:extLst>
              <a:ext uri="{FF2B5EF4-FFF2-40B4-BE49-F238E27FC236}">
                <a16:creationId xmlns:a16="http://schemas.microsoft.com/office/drawing/2014/main" id="{25715A75-053B-1453-6D07-DDE46A091E08}"/>
              </a:ext>
            </a:extLst>
          </p:cNvPr>
          <p:cNvSpPr>
            <a:spLocks noGrp="1"/>
          </p:cNvSpPr>
          <p:nvPr>
            <p:ph type="body" sz="quarter" idx="12"/>
          </p:nvPr>
        </p:nvSpPr>
        <p:spPr/>
        <p:txBody>
          <a:bodyPr vert="horz" lIns="91440" tIns="45720" rIns="91440" bIns="45720" rtlCol="0" anchor="t">
            <a:noAutofit/>
          </a:bodyPr>
          <a:lstStyle/>
          <a:p>
            <a:r>
              <a:rPr lang="en-US" sz="1800">
                <a:latin typeface="Aptos Light"/>
              </a:rPr>
              <a:t>You can feel confident your websites and digital products are accessible if the following are true. For existing products prioritize #1 and #2.</a:t>
            </a:r>
            <a:endParaRPr lang="en-US" sz="1800"/>
          </a:p>
        </p:txBody>
      </p:sp>
      <p:graphicFrame>
        <p:nvGraphicFramePr>
          <p:cNvPr id="3" name="Table 2">
            <a:extLst>
              <a:ext uri="{FF2B5EF4-FFF2-40B4-BE49-F238E27FC236}">
                <a16:creationId xmlns:a16="http://schemas.microsoft.com/office/drawing/2014/main" id="{55273586-BD11-D0E9-79B4-8F13DFCA29BB}"/>
              </a:ext>
            </a:extLst>
          </p:cNvPr>
          <p:cNvGraphicFramePr>
            <a:graphicFrameLocks noGrp="1"/>
          </p:cNvGraphicFramePr>
          <p:nvPr>
            <p:extLst>
              <p:ext uri="{D42A27DB-BD31-4B8C-83A1-F6EECF244321}">
                <p14:modId xmlns:p14="http://schemas.microsoft.com/office/powerpoint/2010/main" val="303024298"/>
              </p:ext>
            </p:extLst>
          </p:nvPr>
        </p:nvGraphicFramePr>
        <p:xfrm>
          <a:off x="822697" y="2028523"/>
          <a:ext cx="10617958" cy="4399626"/>
        </p:xfrm>
        <a:graphic>
          <a:graphicData uri="http://schemas.openxmlformats.org/drawingml/2006/table">
            <a:tbl>
              <a:tblPr bandRow="1">
                <a:tableStyleId>{93296810-A885-4BE3-A3E7-6D5BEEA58F35}</a:tableStyleId>
              </a:tblPr>
              <a:tblGrid>
                <a:gridCol w="1820504">
                  <a:extLst>
                    <a:ext uri="{9D8B030D-6E8A-4147-A177-3AD203B41FA5}">
                      <a16:colId xmlns:a16="http://schemas.microsoft.com/office/drawing/2014/main" val="3739545623"/>
                    </a:ext>
                  </a:extLst>
                </a:gridCol>
                <a:gridCol w="8797454">
                  <a:extLst>
                    <a:ext uri="{9D8B030D-6E8A-4147-A177-3AD203B41FA5}">
                      <a16:colId xmlns:a16="http://schemas.microsoft.com/office/drawing/2014/main" val="3540410579"/>
                    </a:ext>
                  </a:extLst>
                </a:gridCol>
              </a:tblGrid>
              <a:tr h="1830225">
                <a:tc>
                  <a:txBody>
                    <a:bodyPr/>
                    <a:lstStyle/>
                    <a:p>
                      <a:pPr algn="ctr"/>
                      <a:r>
                        <a:rPr lang="en-US" b="0" i="0">
                          <a:latin typeface="+mn-lt"/>
                        </a:rPr>
                        <a:t>Getting started</a:t>
                      </a:r>
                    </a:p>
                  </a:txBody>
                  <a:tcPr anchor="ctr">
                    <a:solidFill>
                      <a:schemeClr val="accent6">
                        <a:lumMod val="40000"/>
                        <a:lumOff val="60000"/>
                      </a:schemeClr>
                    </a:solidFill>
                  </a:tcPr>
                </a:tc>
                <a:tc>
                  <a:txBody>
                    <a:bodyPr/>
                    <a:lstStyle/>
                    <a:p>
                      <a:pPr marL="342900" indent="-342900">
                        <a:buAutoNum type="arabicPeriod"/>
                      </a:pPr>
                      <a:r>
                        <a:rPr lang="en-US" b="1">
                          <a:latin typeface="+mn-lt"/>
                        </a:rPr>
                        <a:t>Accessible by design</a:t>
                      </a:r>
                      <a:br>
                        <a:rPr lang="en-US" b="1">
                          <a:latin typeface="+mn-lt"/>
                        </a:rPr>
                      </a:br>
                      <a:r>
                        <a:rPr lang="en-US" b="0">
                          <a:latin typeface="+mn-lt"/>
                        </a:rPr>
                        <a:t>You’ve confirmed with an accessibility expert that your designs are compatible with keyboard and screen reader users (using the </a:t>
                      </a:r>
                      <a:r>
                        <a:rPr lang="en-US" b="0">
                          <a:latin typeface="+mn-lt"/>
                          <a:hlinkClick r:id="rId2"/>
                        </a:rPr>
                        <a:t>NYC Design System</a:t>
                      </a:r>
                      <a:r>
                        <a:rPr lang="en-US" b="0">
                          <a:latin typeface="+mn-lt"/>
                        </a:rPr>
                        <a:t> when possible). </a:t>
                      </a:r>
                      <a:endParaRPr lang="en-US" b="1">
                        <a:latin typeface="+mn-lt"/>
                      </a:endParaRPr>
                    </a:p>
                    <a:p>
                      <a:pPr marL="342900" indent="-342900">
                        <a:buAutoNum type="arabicPeriod"/>
                      </a:pPr>
                      <a:r>
                        <a:rPr lang="en-US" b="1">
                          <a:latin typeface="+mn-lt"/>
                        </a:rPr>
                        <a:t>No serious issues from accessibility expert feedback</a:t>
                      </a:r>
                      <a:br>
                        <a:rPr lang="en-US" b="0">
                          <a:latin typeface="+mn-lt"/>
                        </a:rPr>
                      </a:br>
                      <a:r>
                        <a:rPr lang="en-US" b="0">
                          <a:latin typeface="+mn-lt"/>
                        </a:rPr>
                        <a:t>You’ve addressed all the most serious feedback from an accessibility expert on issues that block New Yorkers altogether (e.g. “P0”, “P1” priority feedback).</a:t>
                      </a:r>
                      <a:endParaRPr lang="en-US" b="0" i="0">
                        <a:latin typeface="+mn-lt"/>
                      </a:endParaRPr>
                    </a:p>
                  </a:txBody>
                  <a:tcPr>
                    <a:solidFill>
                      <a:schemeClr val="accent6">
                        <a:lumMod val="40000"/>
                        <a:lumOff val="60000"/>
                      </a:schemeClr>
                    </a:solidFill>
                  </a:tcPr>
                </a:tc>
                <a:extLst>
                  <a:ext uri="{0D108BD9-81ED-4DB2-BD59-A6C34878D82A}">
                    <a16:rowId xmlns:a16="http://schemas.microsoft.com/office/drawing/2014/main" val="2016248232"/>
                  </a:ext>
                </a:extLst>
              </a:tr>
              <a:tr h="1272988">
                <a:tc>
                  <a:txBody>
                    <a:bodyPr/>
                    <a:lstStyle/>
                    <a:p>
                      <a:pPr algn="ctr"/>
                      <a:r>
                        <a:rPr lang="en-US" b="0">
                          <a:latin typeface="+mn-lt"/>
                        </a:rPr>
                        <a:t>Good</a:t>
                      </a:r>
                      <a:endParaRPr lang="en-US" b="0" i="0">
                        <a:latin typeface="+mn-lt"/>
                      </a:endParaRPr>
                    </a:p>
                  </a:txBody>
                  <a:tcPr anchor="ctr">
                    <a:solidFill>
                      <a:schemeClr val="accent6">
                        <a:lumMod val="60000"/>
                        <a:lumOff val="40000"/>
                      </a:schemeClr>
                    </a:solidFill>
                  </a:tcPr>
                </a:tc>
                <a:tc>
                  <a:txBody>
                    <a:bodyPr/>
                    <a:lstStyle/>
                    <a:p>
                      <a:pPr marL="342900" indent="-342900">
                        <a:buFont typeface="+mj-lt"/>
                        <a:buAutoNum type="arabicPeriod" startAt="3"/>
                      </a:pPr>
                      <a:r>
                        <a:rPr lang="en-US" b="1"/>
                        <a:t>Zero unexplained issues in FastPass (Steps 1 and 2)</a:t>
                      </a:r>
                      <a:br>
                        <a:rPr lang="en-US" b="0"/>
                      </a:br>
                      <a:r>
                        <a:rPr lang="en-US" b="0"/>
                        <a:t>Using the </a:t>
                      </a:r>
                      <a:r>
                        <a:rPr lang="en-US" b="0">
                          <a:hlinkClick r:id="rId3"/>
                        </a:rPr>
                        <a:t>Accessibility Insights</a:t>
                      </a:r>
                      <a:r>
                        <a:rPr lang="en-US" b="0"/>
                        <a:t> browser extension, you’ve run FastPass and verified that there are no unexplained failures in Steps 1 and 2. </a:t>
                      </a:r>
                    </a:p>
                    <a:p>
                      <a:pPr marL="800100" lvl="1" indent="-342900">
                        <a:buFont typeface="Arial"/>
                        <a:buChar char="•"/>
                      </a:pPr>
                      <a:r>
                        <a:rPr lang="en-US" b="0"/>
                        <a:t>Across three viewports: desktop view, 200% zoom, and mobile view</a:t>
                      </a:r>
                    </a:p>
                  </a:txBody>
                  <a:tcPr>
                    <a:solidFill>
                      <a:schemeClr val="accent6">
                        <a:lumMod val="60000"/>
                        <a:lumOff val="40000"/>
                      </a:schemeClr>
                    </a:solidFill>
                  </a:tcPr>
                </a:tc>
                <a:extLst>
                  <a:ext uri="{0D108BD9-81ED-4DB2-BD59-A6C34878D82A}">
                    <a16:rowId xmlns:a16="http://schemas.microsoft.com/office/drawing/2014/main" val="2035175769"/>
                  </a:ext>
                </a:extLst>
              </a:tr>
              <a:tr h="1296413">
                <a:tc>
                  <a:txBody>
                    <a:bodyPr/>
                    <a:lstStyle/>
                    <a:p>
                      <a:pPr algn="ctr"/>
                      <a:r>
                        <a:rPr lang="en-US" b="0" i="0">
                          <a:solidFill>
                            <a:schemeClr val="bg1">
                              <a:lumMod val="95000"/>
                            </a:schemeClr>
                          </a:solidFill>
                          <a:latin typeface="+mn-lt"/>
                        </a:rPr>
                        <a:t>Stellar</a:t>
                      </a:r>
                    </a:p>
                  </a:txBody>
                  <a:tcPr anchor="ctr">
                    <a:solidFill>
                      <a:schemeClr val="accent6">
                        <a:lumMod val="75000"/>
                      </a:schemeClr>
                    </a:solidFill>
                  </a:tcPr>
                </a:tc>
                <a:tc>
                  <a:txBody>
                    <a:bodyPr/>
                    <a:lstStyle/>
                    <a:p>
                      <a:pPr marL="342900" indent="-342900">
                        <a:buFont typeface="+mj-lt"/>
                        <a:buAutoNum type="arabicPeriod" startAt="4"/>
                      </a:pPr>
                      <a:r>
                        <a:rPr lang="en-US" b="1">
                          <a:solidFill>
                            <a:schemeClr val="bg1">
                              <a:lumMod val="95000"/>
                            </a:schemeClr>
                          </a:solidFill>
                          <a:latin typeface="+mn-lt"/>
                        </a:rPr>
                        <a:t>You've used a screen reader to test the product yourself</a:t>
                      </a:r>
                      <a:br>
                        <a:rPr lang="en-US" b="0">
                          <a:solidFill>
                            <a:srgbClr val="F2F2F2"/>
                          </a:solidFill>
                          <a:latin typeface="+mn-lt"/>
                        </a:rPr>
                      </a:br>
                      <a:r>
                        <a:rPr lang="en-US" b="0">
                          <a:solidFill>
                            <a:schemeClr val="bg1">
                              <a:lumMod val="95000"/>
                            </a:schemeClr>
                          </a:solidFill>
                          <a:latin typeface="+mn-lt"/>
                        </a:rPr>
                        <a:t>To test usability and build intuition for how New Yorkers experience your work.</a:t>
                      </a:r>
                    </a:p>
                    <a:p>
                      <a:pPr marL="342900" indent="-342900">
                        <a:buFont typeface="+mj-lt"/>
                        <a:buAutoNum type="arabicPeriod" startAt="4"/>
                      </a:pPr>
                      <a:r>
                        <a:rPr lang="en-US" b="1">
                          <a:solidFill>
                            <a:schemeClr val="bg1">
                              <a:lumMod val="95000"/>
                            </a:schemeClr>
                          </a:solidFill>
                          <a:latin typeface="+mn-lt"/>
                        </a:rPr>
                        <a:t>Accessibility is checked at scale by automated testing</a:t>
                      </a:r>
                      <a:br>
                        <a:rPr lang="en-US" b="1">
                          <a:solidFill>
                            <a:srgbClr val="F2F2F2"/>
                          </a:solidFill>
                          <a:latin typeface="+mn-lt"/>
                        </a:rPr>
                      </a:br>
                      <a:r>
                        <a:rPr lang="en-US" b="0">
                          <a:solidFill>
                            <a:schemeClr val="bg1">
                              <a:lumMod val="95000"/>
                            </a:schemeClr>
                          </a:solidFill>
                          <a:latin typeface="+mn-lt"/>
                        </a:rPr>
                        <a:t>Your team has incorporated the axe-core rule engine into test suites and site crawling</a:t>
                      </a:r>
                      <a:endParaRPr lang="en-US" b="0" i="0">
                        <a:solidFill>
                          <a:schemeClr val="bg1">
                            <a:lumMod val="95000"/>
                          </a:schemeClr>
                        </a:solidFill>
                        <a:latin typeface="+mn-lt"/>
                      </a:endParaRPr>
                    </a:p>
                  </a:txBody>
                  <a:tcPr>
                    <a:solidFill>
                      <a:schemeClr val="accent6">
                        <a:lumMod val="75000"/>
                      </a:schemeClr>
                    </a:solidFill>
                  </a:tcPr>
                </a:tc>
                <a:extLst>
                  <a:ext uri="{0D108BD9-81ED-4DB2-BD59-A6C34878D82A}">
                    <a16:rowId xmlns:a16="http://schemas.microsoft.com/office/drawing/2014/main" val="3061996060"/>
                  </a:ext>
                </a:extLst>
              </a:tr>
            </a:tbl>
          </a:graphicData>
        </a:graphic>
      </p:graphicFrame>
    </p:spTree>
    <p:extLst>
      <p:ext uri="{BB962C8B-B14F-4D97-AF65-F5344CB8AC3E}">
        <p14:creationId xmlns:p14="http://schemas.microsoft.com/office/powerpoint/2010/main" val="3259107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07D89-D1C0-52AC-32B3-F0C50E8BC86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9F86EBD-DA39-0EDA-B0F6-73971D74E7A4}"/>
              </a:ext>
            </a:extLst>
          </p:cNvPr>
          <p:cNvSpPr>
            <a:spLocks noGrp="1"/>
          </p:cNvSpPr>
          <p:nvPr>
            <p:ph type="sldNum" sz="quarter" idx="4"/>
          </p:nvPr>
        </p:nvSpPr>
        <p:spPr/>
        <p:txBody>
          <a:bodyPr/>
          <a:lstStyle/>
          <a:p>
            <a:fld id="{28874E94-A9F8-5A41-9D43-235A602D77DE}" type="slidenum">
              <a:rPr lang="en-US" smtClean="0"/>
              <a:pPr/>
              <a:t>12</a:t>
            </a:fld>
            <a:endParaRPr lang="en-US"/>
          </a:p>
        </p:txBody>
      </p:sp>
      <p:sp>
        <p:nvSpPr>
          <p:cNvPr id="3" name="Text Placeholder 2">
            <a:extLst>
              <a:ext uri="{FF2B5EF4-FFF2-40B4-BE49-F238E27FC236}">
                <a16:creationId xmlns:a16="http://schemas.microsoft.com/office/drawing/2014/main" id="{9310CAA0-5713-B4A0-B202-4385FD4A240A}"/>
              </a:ext>
            </a:extLst>
          </p:cNvPr>
          <p:cNvSpPr>
            <a:spLocks noGrp="1"/>
          </p:cNvSpPr>
          <p:nvPr>
            <p:ph type="title" idx="4294967295"/>
          </p:nvPr>
        </p:nvSpPr>
        <p:spPr>
          <a:xfrm>
            <a:off x="609600" y="3021013"/>
            <a:ext cx="10972800" cy="8159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marL="228600" marR="0" lvl="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u="none" strike="noStrike" kern="1200" cap="none" spc="0" normalizeH="0" baseline="0" noProof="0">
                <a:ln>
                  <a:noFill/>
                </a:ln>
                <a:solidFill>
                  <a:schemeClr val="tx1"/>
                </a:solidFill>
                <a:effectLst/>
                <a:uLnTx/>
                <a:uFillTx/>
                <a:latin typeface="Aptos ExtraBold" panose="020B0004020202020204" pitchFamily="34" charset="0"/>
                <a:ea typeface="Lato" panose="020F0502020204030203" pitchFamily="34" charset="0"/>
                <a:cs typeface="Lato" panose="020F0502020204030203" pitchFamily="34" charset="0"/>
              </a:rPr>
              <a:t>Getting to good</a:t>
            </a:r>
          </a:p>
        </p:txBody>
      </p:sp>
    </p:spTree>
    <p:extLst>
      <p:ext uri="{BB962C8B-B14F-4D97-AF65-F5344CB8AC3E}">
        <p14:creationId xmlns:p14="http://schemas.microsoft.com/office/powerpoint/2010/main" val="18428538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11232-1620-C987-0F6B-7EF9F29F995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BDAC76F-9291-AC2B-D14D-006C08FA7CD6}"/>
              </a:ext>
            </a:extLst>
          </p:cNvPr>
          <p:cNvSpPr>
            <a:spLocks noGrp="1"/>
          </p:cNvSpPr>
          <p:nvPr>
            <p:ph type="sldNum" sz="quarter" idx="11"/>
          </p:nvPr>
        </p:nvSpPr>
        <p:spPr/>
        <p:txBody>
          <a:bodyPr/>
          <a:lstStyle/>
          <a:p>
            <a:fld id="{28874E94-A9F8-5A41-9D43-235A602D77DE}" type="slidenum">
              <a:rPr lang="en-US" smtClean="0"/>
              <a:pPr/>
              <a:t>13</a:t>
            </a:fld>
            <a:endParaRPr lang="en-US">
              <a:latin typeface="Aptos" panose="020B0004020202020204" pitchFamily="34" charset="0"/>
            </a:endParaRPr>
          </a:p>
        </p:txBody>
      </p:sp>
      <p:sp>
        <p:nvSpPr>
          <p:cNvPr id="4" name="Title 3">
            <a:extLst>
              <a:ext uri="{FF2B5EF4-FFF2-40B4-BE49-F238E27FC236}">
                <a16:creationId xmlns:a16="http://schemas.microsoft.com/office/drawing/2014/main" id="{0F28B8EE-837B-44F5-1389-792E4CA2A403}"/>
              </a:ext>
            </a:extLst>
          </p:cNvPr>
          <p:cNvSpPr>
            <a:spLocks noGrp="1"/>
          </p:cNvSpPr>
          <p:nvPr>
            <p:ph type="title"/>
          </p:nvPr>
        </p:nvSpPr>
        <p:spPr>
          <a:xfrm>
            <a:off x="481693" y="615135"/>
            <a:ext cx="11408256" cy="681355"/>
          </a:xfrm>
        </p:spPr>
        <p:txBody>
          <a:bodyPr>
            <a:normAutofit fontScale="90000"/>
          </a:bodyPr>
          <a:lstStyle/>
          <a:p>
            <a:r>
              <a:rPr lang="en-US" b="1">
                <a:latin typeface="Aptos ExtraBold" panose="020B0004020202020204" pitchFamily="34" charset="0"/>
              </a:rPr>
              <a:t>Three recommendations for all teams</a:t>
            </a:r>
          </a:p>
        </p:txBody>
      </p:sp>
      <p:sp>
        <p:nvSpPr>
          <p:cNvPr id="14" name="Text Placeholder 4">
            <a:extLst>
              <a:ext uri="{FF2B5EF4-FFF2-40B4-BE49-F238E27FC236}">
                <a16:creationId xmlns:a16="http://schemas.microsoft.com/office/drawing/2014/main" id="{F4FD1627-0708-9647-AA56-E097F2455678}"/>
              </a:ext>
            </a:extLst>
          </p:cNvPr>
          <p:cNvSpPr txBox="1">
            <a:spLocks/>
          </p:cNvSpPr>
          <p:nvPr/>
        </p:nvSpPr>
        <p:spPr>
          <a:xfrm>
            <a:off x="481693" y="1327981"/>
            <a:ext cx="11377234" cy="60415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0" baseline="0">
                <a:solidFill>
                  <a:schemeClr val="tx1"/>
                </a:solidFill>
                <a:latin typeface="Aptos Light"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latin typeface="Aptos Light"/>
              </a:rPr>
              <a:t>These three tools and practices will make the biggest difference in helping teams quickly evaluate whether websites are accessible and identify issues to prioritize fixing</a:t>
            </a:r>
          </a:p>
        </p:txBody>
      </p:sp>
      <p:sp>
        <p:nvSpPr>
          <p:cNvPr id="7" name="Rectangle: Rounded Corners 6">
            <a:extLst>
              <a:ext uri="{FF2B5EF4-FFF2-40B4-BE49-F238E27FC236}">
                <a16:creationId xmlns:a16="http://schemas.microsoft.com/office/drawing/2014/main" id="{8AB7D8ED-D3CA-76C4-23C5-050904A5D87E}"/>
              </a:ext>
            </a:extLst>
          </p:cNvPr>
          <p:cNvSpPr/>
          <p:nvPr/>
        </p:nvSpPr>
        <p:spPr>
          <a:xfrm>
            <a:off x="481693" y="2797625"/>
            <a:ext cx="3467099" cy="3401786"/>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nSpc>
                <a:spcPct val="90000"/>
              </a:lnSpc>
              <a:spcBef>
                <a:spcPts val="1000"/>
              </a:spcBef>
            </a:pPr>
            <a:r>
              <a:rPr lang="en-US" sz="2400" b="1">
                <a:solidFill>
                  <a:srgbClr val="000000"/>
                </a:solidFill>
                <a:latin typeface="Aptos"/>
              </a:rPr>
              <a:t>1</a:t>
            </a:r>
            <a:r>
              <a:rPr lang="en-US" sz="2400" b="1">
                <a:solidFill>
                  <a:srgbClr val="000000"/>
                </a:solidFill>
              </a:rPr>
              <a:t>. Share a </a:t>
            </a:r>
            <a:r>
              <a:rPr lang="en-US" sz="2400" b="1" u="sng">
                <a:solidFill>
                  <a:srgbClr val="000000"/>
                </a:solidFill>
              </a:rPr>
              <a:t>design mockup</a:t>
            </a:r>
            <a:r>
              <a:rPr lang="en-US" sz="2400" b="1">
                <a:solidFill>
                  <a:srgbClr val="000000"/>
                </a:solidFill>
              </a:rPr>
              <a:t> for feedback at </a:t>
            </a:r>
            <a:r>
              <a:rPr lang="en-US" sz="2400" b="1">
                <a:solidFill>
                  <a:srgbClr val="000000"/>
                </a:solidFill>
                <a:hlinkClick r:id="rId3"/>
              </a:rPr>
              <a:t>office hours</a:t>
            </a:r>
            <a:r>
              <a:rPr lang="en-US" sz="2400" b="1">
                <a:solidFill>
                  <a:srgbClr val="000000"/>
                </a:solidFill>
              </a:rPr>
              <a:t>*</a:t>
            </a:r>
          </a:p>
          <a:p>
            <a:pPr marL="182880" lvl="1" indent="-182880">
              <a:lnSpc>
                <a:spcPct val="90000"/>
              </a:lnSpc>
              <a:spcBef>
                <a:spcPts val="500"/>
              </a:spcBef>
              <a:buFont typeface="Arial"/>
              <a:buChar char="•"/>
            </a:pPr>
            <a:r>
              <a:rPr lang="en-US" b="1">
                <a:solidFill>
                  <a:srgbClr val="000000"/>
                </a:solidFill>
                <a:latin typeface="Aptos"/>
              </a:rPr>
              <a:t>Why: </a:t>
            </a:r>
            <a:r>
              <a:rPr lang="en-US">
                <a:solidFill>
                  <a:srgbClr val="000000"/>
                </a:solidFill>
                <a:latin typeface="Aptos Light"/>
              </a:rPr>
              <a:t>avoid implementing designs that can never be made accessible </a:t>
            </a:r>
          </a:p>
          <a:p>
            <a:pPr marL="182880" lvl="1" indent="-182880">
              <a:lnSpc>
                <a:spcPct val="90000"/>
              </a:lnSpc>
              <a:spcBef>
                <a:spcPts val="500"/>
              </a:spcBef>
              <a:buFont typeface="Arial"/>
              <a:buChar char="•"/>
            </a:pPr>
            <a:r>
              <a:rPr lang="en-US" b="1">
                <a:solidFill>
                  <a:srgbClr val="000000"/>
                </a:solidFill>
                <a:latin typeface="Aptos"/>
              </a:rPr>
              <a:t>When: </a:t>
            </a:r>
            <a:r>
              <a:rPr lang="en-US">
                <a:solidFill>
                  <a:srgbClr val="000000"/>
                </a:solidFill>
                <a:latin typeface="Aptos Light"/>
                <a:ea typeface="+mn-lt"/>
                <a:cs typeface="+mn-lt"/>
              </a:rPr>
              <a:t>before designs are finalized</a:t>
            </a:r>
            <a:endParaRPr lang="en-US">
              <a:solidFill>
                <a:srgbClr val="000000"/>
              </a:solidFill>
              <a:latin typeface="Aptos Light"/>
              <a:ea typeface="Calibri"/>
              <a:cs typeface="Calibri"/>
            </a:endParaRPr>
          </a:p>
          <a:p>
            <a:pPr marL="182880" lvl="1" indent="-182880">
              <a:lnSpc>
                <a:spcPct val="90000"/>
              </a:lnSpc>
              <a:spcBef>
                <a:spcPts val="500"/>
              </a:spcBef>
              <a:buFont typeface="Arial"/>
              <a:buChar char="•"/>
            </a:pPr>
            <a:r>
              <a:rPr lang="en-US" b="1">
                <a:solidFill>
                  <a:srgbClr val="000000"/>
                </a:solidFill>
                <a:latin typeface="Aptos"/>
              </a:rPr>
              <a:t>Goal: </a:t>
            </a:r>
            <a:r>
              <a:rPr lang="en-US">
                <a:solidFill>
                  <a:srgbClr val="000000"/>
                </a:solidFill>
                <a:latin typeface="Aptos Light"/>
              </a:rPr>
              <a:t>address feedback on design patterns that block keyboards &amp; screen readers</a:t>
            </a:r>
          </a:p>
        </p:txBody>
      </p:sp>
      <p:sp>
        <p:nvSpPr>
          <p:cNvPr id="8" name="Rectangle: Rounded Corners 7">
            <a:extLst>
              <a:ext uri="{FF2B5EF4-FFF2-40B4-BE49-F238E27FC236}">
                <a16:creationId xmlns:a16="http://schemas.microsoft.com/office/drawing/2014/main" id="{68853DF9-0F6A-5DE2-9EF9-F24ADF9E0A7F}"/>
              </a:ext>
            </a:extLst>
          </p:cNvPr>
          <p:cNvSpPr/>
          <p:nvPr/>
        </p:nvSpPr>
        <p:spPr>
          <a:xfrm>
            <a:off x="4435927" y="2792184"/>
            <a:ext cx="3472543" cy="336912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nSpc>
                <a:spcPct val="90000"/>
              </a:lnSpc>
              <a:spcBef>
                <a:spcPts val="1000"/>
              </a:spcBef>
            </a:pPr>
            <a:r>
              <a:rPr lang="en-US" sz="2400" b="1">
                <a:solidFill>
                  <a:srgbClr val="000000"/>
                </a:solidFill>
              </a:rPr>
              <a:t>2. </a:t>
            </a:r>
            <a:r>
              <a:rPr lang="en-US" sz="2400" b="1">
                <a:solidFill>
                  <a:srgbClr val="000000"/>
                </a:solidFill>
                <a:ea typeface="+mn-lt"/>
                <a:cs typeface="+mn-lt"/>
              </a:rPr>
              <a:t>Use the</a:t>
            </a:r>
            <a:r>
              <a:rPr lang="en-US" sz="2400" b="1">
                <a:solidFill>
                  <a:srgbClr val="000000"/>
                </a:solidFill>
                <a:ea typeface="Calibri"/>
                <a:cs typeface="Calibri"/>
              </a:rPr>
              <a:t> </a:t>
            </a:r>
            <a:r>
              <a:rPr lang="en-US" sz="2400" b="1" u="sng">
                <a:solidFill>
                  <a:srgbClr val="000000"/>
                </a:solidFill>
              </a:rPr>
              <a:t>FastPass </a:t>
            </a:r>
            <a:r>
              <a:rPr lang="en-US" sz="2400" b="1">
                <a:solidFill>
                  <a:srgbClr val="000000"/>
                </a:solidFill>
              </a:rPr>
              <a:t>test (Accessibility Insights </a:t>
            </a:r>
            <a:r>
              <a:rPr lang="en-US" sz="2400" b="1">
                <a:solidFill>
                  <a:srgbClr val="000000"/>
                </a:solidFill>
                <a:hlinkClick r:id="rId4"/>
              </a:rPr>
              <a:t>browser extension</a:t>
            </a:r>
            <a:r>
              <a:rPr lang="en-US" sz="2400" b="1">
                <a:solidFill>
                  <a:srgbClr val="000000"/>
                </a:solidFill>
              </a:rPr>
              <a:t>)</a:t>
            </a:r>
            <a:endParaRPr lang="en-US" sz="2100" b="1"/>
          </a:p>
          <a:p>
            <a:pPr marL="182880" lvl="1" indent="-182880">
              <a:lnSpc>
                <a:spcPct val="90000"/>
              </a:lnSpc>
              <a:spcBef>
                <a:spcPts val="500"/>
              </a:spcBef>
              <a:buFont typeface="Arial"/>
              <a:buChar char="•"/>
            </a:pPr>
            <a:r>
              <a:rPr lang="en-US" b="1">
                <a:solidFill>
                  <a:srgbClr val="000000"/>
                </a:solidFill>
                <a:latin typeface="Aptos"/>
              </a:rPr>
              <a:t>Why:</a:t>
            </a:r>
            <a:r>
              <a:rPr lang="en-US">
                <a:solidFill>
                  <a:srgbClr val="000000"/>
                </a:solidFill>
                <a:latin typeface="Aptos"/>
              </a:rPr>
              <a:t> </a:t>
            </a:r>
            <a:r>
              <a:rPr lang="en-US">
                <a:solidFill>
                  <a:srgbClr val="000000"/>
                </a:solidFill>
                <a:latin typeface="Aptos Light"/>
              </a:rPr>
              <a:t>quickly identify most accessibility issues with this free browser extension</a:t>
            </a:r>
            <a:endParaRPr lang="en-US">
              <a:ea typeface="Calibri" panose="020F0502020204030204"/>
              <a:cs typeface="Calibri" panose="020F0502020204030204"/>
            </a:endParaRPr>
          </a:p>
          <a:p>
            <a:pPr marL="182880" lvl="1" indent="-182880">
              <a:lnSpc>
                <a:spcPct val="90000"/>
              </a:lnSpc>
              <a:spcBef>
                <a:spcPts val="500"/>
              </a:spcBef>
              <a:buFont typeface="Arial"/>
              <a:buChar char="•"/>
            </a:pPr>
            <a:r>
              <a:rPr lang="en-US" b="1">
                <a:solidFill>
                  <a:srgbClr val="000000"/>
                </a:solidFill>
                <a:latin typeface="Aptos"/>
              </a:rPr>
              <a:t>When:</a:t>
            </a:r>
            <a:r>
              <a:rPr lang="en-US">
                <a:solidFill>
                  <a:srgbClr val="000000"/>
                </a:solidFill>
                <a:latin typeface="Aptos"/>
              </a:rPr>
              <a:t> </a:t>
            </a:r>
            <a:r>
              <a:rPr lang="en-US">
                <a:solidFill>
                  <a:srgbClr val="000000"/>
                </a:solidFill>
                <a:latin typeface="Aptos Light"/>
              </a:rPr>
              <a:t>early and often in development or production</a:t>
            </a:r>
          </a:p>
          <a:p>
            <a:pPr marL="182880" lvl="1" indent="-182880">
              <a:lnSpc>
                <a:spcPct val="90000"/>
              </a:lnSpc>
              <a:spcBef>
                <a:spcPts val="500"/>
              </a:spcBef>
              <a:buFont typeface="Arial"/>
              <a:buChar char="•"/>
            </a:pPr>
            <a:r>
              <a:rPr lang="en-US" b="1">
                <a:solidFill>
                  <a:srgbClr val="000000"/>
                </a:solidFill>
                <a:latin typeface="Aptos"/>
              </a:rPr>
              <a:t>Goal: </a:t>
            </a:r>
            <a:r>
              <a:rPr lang="en-US">
                <a:solidFill>
                  <a:srgbClr val="000000"/>
                </a:solidFill>
                <a:latin typeface="Aptos Light"/>
              </a:rPr>
              <a:t>zero unexplained failed instances on Step 1 and Step 2 of the test. </a:t>
            </a:r>
          </a:p>
        </p:txBody>
      </p:sp>
      <p:sp>
        <p:nvSpPr>
          <p:cNvPr id="3" name="Rectangle: Rounded Corners 2">
            <a:extLst>
              <a:ext uri="{FF2B5EF4-FFF2-40B4-BE49-F238E27FC236}">
                <a16:creationId xmlns:a16="http://schemas.microsoft.com/office/drawing/2014/main" id="{70C296EA-724D-AFB5-6B1E-A17917BE04E5}"/>
              </a:ext>
            </a:extLst>
          </p:cNvPr>
          <p:cNvSpPr/>
          <p:nvPr/>
        </p:nvSpPr>
        <p:spPr>
          <a:xfrm>
            <a:off x="8420099" y="2792183"/>
            <a:ext cx="3439886" cy="3385456"/>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nSpc>
                <a:spcPct val="90000"/>
              </a:lnSpc>
              <a:spcBef>
                <a:spcPts val="1000"/>
              </a:spcBef>
            </a:pPr>
            <a:r>
              <a:rPr lang="en-US" sz="2400" b="1">
                <a:solidFill>
                  <a:srgbClr val="000000"/>
                </a:solidFill>
                <a:latin typeface="Aptos"/>
              </a:rPr>
              <a:t>3. </a:t>
            </a:r>
            <a:r>
              <a:rPr lang="en-US" sz="2400" b="1">
                <a:solidFill>
                  <a:srgbClr val="000000"/>
                </a:solidFill>
                <a:latin typeface="Aptos"/>
                <a:ea typeface="+mn-lt"/>
                <a:cs typeface="+mn-lt"/>
              </a:rPr>
              <a:t>Share </a:t>
            </a:r>
            <a:r>
              <a:rPr lang="en-US" sz="2400" b="1" u="sng">
                <a:solidFill>
                  <a:srgbClr val="000000"/>
                </a:solidFill>
                <a:latin typeface="Aptos"/>
                <a:ea typeface="+mn-lt"/>
                <a:cs typeface="+mn-lt"/>
              </a:rPr>
              <a:t>e</a:t>
            </a:r>
            <a:r>
              <a:rPr lang="en-US" sz="2400" b="1" u="sng">
                <a:solidFill>
                  <a:srgbClr val="000000"/>
                </a:solidFill>
                <a:ea typeface="+mn-lt"/>
                <a:cs typeface="+mn-lt"/>
              </a:rPr>
              <a:t>ngineering prototype</a:t>
            </a:r>
            <a:r>
              <a:rPr lang="en-US" sz="2400" b="1">
                <a:solidFill>
                  <a:srgbClr val="000000"/>
                </a:solidFill>
                <a:ea typeface="+mn-lt"/>
                <a:cs typeface="+mn-lt"/>
              </a:rPr>
              <a:t> for feedback at </a:t>
            </a:r>
            <a:r>
              <a:rPr lang="en-US" sz="2400" b="1">
                <a:solidFill>
                  <a:srgbClr val="000000"/>
                </a:solidFill>
                <a:ea typeface="+mn-lt"/>
                <a:cs typeface="+mn-lt"/>
                <a:hlinkClick r:id="rId3"/>
              </a:rPr>
              <a:t>office hours</a:t>
            </a:r>
            <a:r>
              <a:rPr lang="en-US" sz="2400" b="1">
                <a:solidFill>
                  <a:srgbClr val="000000"/>
                </a:solidFill>
                <a:ea typeface="+mn-lt"/>
                <a:cs typeface="+mn-lt"/>
              </a:rPr>
              <a:t>*</a:t>
            </a:r>
            <a:endParaRPr lang="en-US" sz="2400" b="1">
              <a:ea typeface="+mn-lt"/>
              <a:cs typeface="+mn-lt"/>
            </a:endParaRPr>
          </a:p>
          <a:p>
            <a:pPr marL="182880" lvl="1" indent="-182880">
              <a:lnSpc>
                <a:spcPct val="90000"/>
              </a:lnSpc>
              <a:spcBef>
                <a:spcPts val="500"/>
              </a:spcBef>
              <a:buFont typeface="Arial"/>
              <a:buChar char="•"/>
            </a:pPr>
            <a:r>
              <a:rPr lang="en-US" b="1">
                <a:solidFill>
                  <a:srgbClr val="000000"/>
                </a:solidFill>
                <a:latin typeface="Aptos"/>
              </a:rPr>
              <a:t>Why:</a:t>
            </a:r>
            <a:r>
              <a:rPr lang="en-US">
                <a:solidFill>
                  <a:srgbClr val="000000"/>
                </a:solidFill>
                <a:latin typeface="Aptos"/>
              </a:rPr>
              <a:t> </a:t>
            </a:r>
            <a:r>
              <a:rPr lang="en-US">
                <a:solidFill>
                  <a:srgbClr val="000000"/>
                </a:solidFill>
                <a:latin typeface="Aptos Light"/>
              </a:rPr>
              <a:t>verify that a screen reader can use your website</a:t>
            </a:r>
          </a:p>
          <a:p>
            <a:pPr marL="182880" lvl="1" indent="-182880">
              <a:lnSpc>
                <a:spcPct val="90000"/>
              </a:lnSpc>
              <a:spcBef>
                <a:spcPts val="500"/>
              </a:spcBef>
              <a:buFont typeface="Arial"/>
              <a:buChar char="•"/>
            </a:pPr>
            <a:r>
              <a:rPr lang="en-US" b="1">
                <a:solidFill>
                  <a:srgbClr val="000000"/>
                </a:solidFill>
                <a:latin typeface="Aptos"/>
              </a:rPr>
              <a:t>When:</a:t>
            </a:r>
            <a:r>
              <a:rPr lang="en-US">
                <a:solidFill>
                  <a:srgbClr val="000000"/>
                </a:solidFill>
                <a:latin typeface="Aptos"/>
              </a:rPr>
              <a:t> </a:t>
            </a:r>
            <a:r>
              <a:rPr lang="en-US">
                <a:solidFill>
                  <a:srgbClr val="000000"/>
                </a:solidFill>
                <a:latin typeface="Aptos Light"/>
              </a:rPr>
              <a:t>before engineering is finalized</a:t>
            </a:r>
          </a:p>
          <a:p>
            <a:pPr marL="182880" lvl="1" indent="-182880">
              <a:lnSpc>
                <a:spcPct val="90000"/>
              </a:lnSpc>
              <a:spcBef>
                <a:spcPts val="500"/>
              </a:spcBef>
              <a:buFont typeface="Arial"/>
              <a:buChar char="•"/>
            </a:pPr>
            <a:r>
              <a:rPr lang="en-US" b="1">
                <a:solidFill>
                  <a:srgbClr val="000000"/>
                </a:solidFill>
                <a:latin typeface="Aptos"/>
              </a:rPr>
              <a:t>Goal:</a:t>
            </a:r>
            <a:r>
              <a:rPr lang="en-US" b="1">
                <a:solidFill>
                  <a:srgbClr val="000000"/>
                </a:solidFill>
                <a:latin typeface="Aptos Light"/>
              </a:rPr>
              <a:t> </a:t>
            </a:r>
            <a:r>
              <a:rPr lang="en-US">
                <a:solidFill>
                  <a:srgbClr val="000000"/>
                </a:solidFill>
                <a:latin typeface="Aptos Light"/>
                <a:ea typeface="+mn-lt"/>
                <a:cs typeface="+mn-lt"/>
              </a:rPr>
              <a:t>address feedback on the most serious issues blocking usability (e.g. "P0" and "P1") </a:t>
            </a:r>
          </a:p>
        </p:txBody>
      </p:sp>
      <p:sp>
        <p:nvSpPr>
          <p:cNvPr id="11" name="Arrow: Pentagon 10">
            <a:extLst>
              <a:ext uri="{FF2B5EF4-FFF2-40B4-BE49-F238E27FC236}">
                <a16:creationId xmlns:a16="http://schemas.microsoft.com/office/drawing/2014/main" id="{02F2AF11-6063-9C7B-7B97-37F8E17AC9F5}"/>
              </a:ext>
            </a:extLst>
          </p:cNvPr>
          <p:cNvSpPr/>
          <p:nvPr/>
        </p:nvSpPr>
        <p:spPr>
          <a:xfrm>
            <a:off x="480820" y="2100942"/>
            <a:ext cx="3843477" cy="315685"/>
          </a:xfrm>
          <a:prstGeom prst="homePlat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ea typeface="Calibri"/>
                <a:cs typeface="Calibri"/>
              </a:rPr>
              <a:t>Design</a:t>
            </a:r>
          </a:p>
        </p:txBody>
      </p:sp>
      <p:sp>
        <p:nvSpPr>
          <p:cNvPr id="9" name="Rectangle 8">
            <a:extLst>
              <a:ext uri="{FF2B5EF4-FFF2-40B4-BE49-F238E27FC236}">
                <a16:creationId xmlns:a16="http://schemas.microsoft.com/office/drawing/2014/main" id="{28D22589-05FA-9A96-BFFE-583C48AC88DE}"/>
              </a:ext>
            </a:extLst>
          </p:cNvPr>
          <p:cNvSpPr/>
          <p:nvPr/>
        </p:nvSpPr>
        <p:spPr>
          <a:xfrm>
            <a:off x="4136570" y="2100942"/>
            <a:ext cx="5995665" cy="315685"/>
          </a:xfrm>
          <a:prstGeom prst="homePlat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ea typeface="Calibri"/>
                <a:cs typeface="Calibri"/>
              </a:rPr>
              <a:t>Development</a:t>
            </a:r>
          </a:p>
        </p:txBody>
      </p:sp>
      <p:sp>
        <p:nvSpPr>
          <p:cNvPr id="10" name="Rectangle 9">
            <a:extLst>
              <a:ext uri="{FF2B5EF4-FFF2-40B4-BE49-F238E27FC236}">
                <a16:creationId xmlns:a16="http://schemas.microsoft.com/office/drawing/2014/main" id="{32073B09-FEEC-5CB8-9482-80873B27F3D0}"/>
              </a:ext>
            </a:extLst>
          </p:cNvPr>
          <p:cNvSpPr/>
          <p:nvPr/>
        </p:nvSpPr>
        <p:spPr>
          <a:xfrm>
            <a:off x="9977679" y="2100942"/>
            <a:ext cx="1862176" cy="3156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Launch</a:t>
            </a:r>
            <a:endParaRPr lang="en-US"/>
          </a:p>
        </p:txBody>
      </p:sp>
      <p:cxnSp>
        <p:nvCxnSpPr>
          <p:cNvPr id="12" name="Straight Arrow Connector 11">
            <a:extLst>
              <a:ext uri="{FF2B5EF4-FFF2-40B4-BE49-F238E27FC236}">
                <a16:creationId xmlns:a16="http://schemas.microsoft.com/office/drawing/2014/main" id="{C82DF72D-79D5-A100-6637-76314FB73B16}"/>
              </a:ext>
              <a:ext uri="{C183D7F6-B498-43B3-948B-1728B52AA6E4}">
                <adec:decorative xmlns:adec="http://schemas.microsoft.com/office/drawing/2017/decorative" val="1"/>
              </a:ext>
            </a:extLst>
          </p:cNvPr>
          <p:cNvCxnSpPr/>
          <p:nvPr/>
        </p:nvCxnSpPr>
        <p:spPr>
          <a:xfrm flipV="1">
            <a:off x="2173010" y="2267506"/>
            <a:ext cx="1703507" cy="524823"/>
          </a:xfrm>
          <a:prstGeom prst="straightConnector1">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6" name="Star: 5 Points 15">
            <a:extLst>
              <a:ext uri="{FF2B5EF4-FFF2-40B4-BE49-F238E27FC236}">
                <a16:creationId xmlns:a16="http://schemas.microsoft.com/office/drawing/2014/main" id="{B5A8A126-E2E1-4E45-A85C-A9F374AFADB9}"/>
              </a:ext>
              <a:ext uri="{C183D7F6-B498-43B3-948B-1728B52AA6E4}">
                <adec:decorative xmlns:adec="http://schemas.microsoft.com/office/drawing/2017/decorative" val="1"/>
              </a:ext>
            </a:extLst>
          </p:cNvPr>
          <p:cNvSpPr/>
          <p:nvPr/>
        </p:nvSpPr>
        <p:spPr>
          <a:xfrm>
            <a:off x="3798956" y="2147957"/>
            <a:ext cx="187739" cy="198782"/>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tar: 5 Points 16">
            <a:extLst>
              <a:ext uri="{FF2B5EF4-FFF2-40B4-BE49-F238E27FC236}">
                <a16:creationId xmlns:a16="http://schemas.microsoft.com/office/drawing/2014/main" id="{E9B862FA-2F48-90FD-80B8-4A084D5B3E5E}"/>
              </a:ext>
              <a:ext uri="{C183D7F6-B498-43B3-948B-1728B52AA6E4}">
                <adec:decorative xmlns:adec="http://schemas.microsoft.com/office/drawing/2017/decorative" val="1"/>
              </a:ext>
            </a:extLst>
          </p:cNvPr>
          <p:cNvSpPr/>
          <p:nvPr/>
        </p:nvSpPr>
        <p:spPr>
          <a:xfrm>
            <a:off x="9600219" y="2147956"/>
            <a:ext cx="187739" cy="198782"/>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F0595FB6-9779-0EAA-C055-060E4D2B96CD}"/>
              </a:ext>
              <a:ext uri="{C183D7F6-B498-43B3-948B-1728B52AA6E4}">
                <adec:decorative xmlns:adec="http://schemas.microsoft.com/office/drawing/2017/decorative" val="1"/>
              </a:ext>
            </a:extLst>
          </p:cNvPr>
          <p:cNvCxnSpPr>
            <a:cxnSpLocks/>
          </p:cNvCxnSpPr>
          <p:nvPr/>
        </p:nvCxnSpPr>
        <p:spPr>
          <a:xfrm flipH="1" flipV="1">
            <a:off x="9724508" y="2259579"/>
            <a:ext cx="410424" cy="531459"/>
          </a:xfrm>
          <a:prstGeom prst="straightConnector1">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Right Brace 4">
            <a:extLst>
              <a:ext uri="{FF2B5EF4-FFF2-40B4-BE49-F238E27FC236}">
                <a16:creationId xmlns:a16="http://schemas.microsoft.com/office/drawing/2014/main" id="{3868762A-713A-0AA0-CA79-E939CA594F53}"/>
              </a:ext>
              <a:ext uri="{C183D7F6-B498-43B3-948B-1728B52AA6E4}">
                <adec:decorative xmlns:adec="http://schemas.microsoft.com/office/drawing/2017/decorative" val="1"/>
              </a:ext>
            </a:extLst>
          </p:cNvPr>
          <p:cNvSpPr/>
          <p:nvPr/>
        </p:nvSpPr>
        <p:spPr>
          <a:xfrm rot="5400000">
            <a:off x="7245739" y="-389581"/>
            <a:ext cx="315685" cy="5995664"/>
          </a:xfrm>
          <a:prstGeom prst="rightBrac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Rectangle 5">
            <a:extLst>
              <a:ext uri="{FF2B5EF4-FFF2-40B4-BE49-F238E27FC236}">
                <a16:creationId xmlns:a16="http://schemas.microsoft.com/office/drawing/2014/main" id="{89B3045F-23FE-0226-9064-382336B08325}"/>
              </a:ext>
            </a:extLst>
          </p:cNvPr>
          <p:cNvSpPr/>
          <p:nvPr/>
        </p:nvSpPr>
        <p:spPr>
          <a:xfrm>
            <a:off x="2677886" y="6438899"/>
            <a:ext cx="2579914" cy="2177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BA40F94-D9A1-ABFA-B065-3E55EBBA4535}"/>
              </a:ext>
            </a:extLst>
          </p:cNvPr>
          <p:cNvSpPr txBox="1"/>
          <p:nvPr/>
        </p:nvSpPr>
        <p:spPr>
          <a:xfrm>
            <a:off x="1095829" y="6221696"/>
            <a:ext cx="4006534" cy="3436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ptos"/>
              </a:rPr>
              <a:t>*Or with an equivalent accessibility expert</a:t>
            </a:r>
          </a:p>
        </p:txBody>
      </p:sp>
    </p:spTree>
    <p:extLst>
      <p:ext uri="{BB962C8B-B14F-4D97-AF65-F5344CB8AC3E}">
        <p14:creationId xmlns:p14="http://schemas.microsoft.com/office/powerpoint/2010/main" val="22964285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CE9C6D-0AB7-BF4D-3EA6-E0DC3498C173}"/>
              </a:ext>
            </a:extLst>
          </p:cNvPr>
          <p:cNvSpPr>
            <a:spLocks noGrp="1"/>
          </p:cNvSpPr>
          <p:nvPr>
            <p:ph type="sldNum" sz="quarter" idx="11"/>
          </p:nvPr>
        </p:nvSpPr>
        <p:spPr/>
        <p:txBody>
          <a:bodyPr/>
          <a:lstStyle/>
          <a:p>
            <a:fld id="{28874E94-A9F8-5A41-9D43-235A602D77DE}" type="slidenum">
              <a:rPr lang="en-US" smtClean="0"/>
              <a:pPr/>
              <a:t>14</a:t>
            </a:fld>
            <a:endParaRPr lang="en-US">
              <a:latin typeface="Aptos" panose="020B0004020202020204" pitchFamily="34" charset="0"/>
            </a:endParaRPr>
          </a:p>
        </p:txBody>
      </p:sp>
      <p:sp>
        <p:nvSpPr>
          <p:cNvPr id="3" name="Text Placeholder 2">
            <a:extLst>
              <a:ext uri="{FF2B5EF4-FFF2-40B4-BE49-F238E27FC236}">
                <a16:creationId xmlns:a16="http://schemas.microsoft.com/office/drawing/2014/main" id="{EDB2DEBD-4712-2C0F-105E-1CEDB6377EBA}"/>
              </a:ext>
            </a:extLst>
          </p:cNvPr>
          <p:cNvSpPr>
            <a:spLocks noGrp="1"/>
          </p:cNvSpPr>
          <p:nvPr>
            <p:ph type="body" sz="quarter" idx="13"/>
          </p:nvPr>
        </p:nvSpPr>
        <p:spPr/>
        <p:txBody>
          <a:bodyPr vert="horz" lIns="91440" tIns="45720" rIns="91440" bIns="45720" rtlCol="0" anchor="t">
            <a:noAutofit/>
          </a:bodyPr>
          <a:lstStyle/>
          <a:p>
            <a:r>
              <a:rPr lang="en-US" sz="1300">
                <a:latin typeface="Aptos"/>
              </a:rPr>
              <a:t>1) Design mockups</a:t>
            </a:r>
            <a:endParaRPr lang="en-US" sz="1300"/>
          </a:p>
        </p:txBody>
      </p:sp>
      <p:sp>
        <p:nvSpPr>
          <p:cNvPr id="4" name="Title 3">
            <a:extLst>
              <a:ext uri="{FF2B5EF4-FFF2-40B4-BE49-F238E27FC236}">
                <a16:creationId xmlns:a16="http://schemas.microsoft.com/office/drawing/2014/main" id="{8104B479-7343-A2E2-6A30-7F03806D089A}"/>
              </a:ext>
            </a:extLst>
          </p:cNvPr>
          <p:cNvSpPr>
            <a:spLocks noGrp="1"/>
          </p:cNvSpPr>
          <p:nvPr>
            <p:ph type="title"/>
          </p:nvPr>
        </p:nvSpPr>
        <p:spPr>
          <a:xfrm>
            <a:off x="412036" y="615135"/>
            <a:ext cx="11779963" cy="681355"/>
          </a:xfrm>
        </p:spPr>
        <p:txBody>
          <a:bodyPr>
            <a:normAutofit fontScale="90000"/>
          </a:bodyPr>
          <a:lstStyle/>
          <a:p>
            <a:r>
              <a:rPr lang="en-US" b="1">
                <a:latin typeface="Aptos ExtraBold" panose="020B0004020202020204" pitchFamily="34" charset="0"/>
              </a:rPr>
              <a:t>Why start with design feedback?</a:t>
            </a:r>
          </a:p>
        </p:txBody>
      </p:sp>
      <p:sp>
        <p:nvSpPr>
          <p:cNvPr id="7" name="Text Placeholder 4">
            <a:extLst>
              <a:ext uri="{FF2B5EF4-FFF2-40B4-BE49-F238E27FC236}">
                <a16:creationId xmlns:a16="http://schemas.microsoft.com/office/drawing/2014/main" id="{7B1EFE3B-AE44-294A-1487-C1A67C01EB43}"/>
              </a:ext>
            </a:extLst>
          </p:cNvPr>
          <p:cNvSpPr txBox="1">
            <a:spLocks/>
          </p:cNvSpPr>
          <p:nvPr/>
        </p:nvSpPr>
        <p:spPr>
          <a:xfrm>
            <a:off x="456640" y="1557747"/>
            <a:ext cx="7856608" cy="4179444"/>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0" baseline="0">
                <a:solidFill>
                  <a:schemeClr val="tx1"/>
                </a:solidFill>
                <a:latin typeface="Aptos Light"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r>
              <a:rPr lang="en-US" sz="1800" b="1">
                <a:latin typeface="Aptos"/>
                <a:ea typeface="Lato"/>
                <a:cs typeface="Lato"/>
              </a:rPr>
              <a:t>Focus on usability first </a:t>
            </a:r>
            <a:endParaRPr lang="en-US" sz="1800" b="1">
              <a:latin typeface="Aptos"/>
              <a:ea typeface="Lato" panose="020F0502020204030203" pitchFamily="34" charset="0"/>
              <a:cs typeface="Lato" panose="020F0502020204030203" pitchFamily="34" charset="0"/>
            </a:endParaRPr>
          </a:p>
          <a:p>
            <a:pPr>
              <a:spcAft>
                <a:spcPts val="1000"/>
              </a:spcAft>
            </a:pPr>
            <a:r>
              <a:rPr lang="en-US" sz="1800">
                <a:latin typeface="Aptos Light"/>
                <a:ea typeface="Lato"/>
                <a:cs typeface="Lato"/>
              </a:rPr>
              <a:t>Most important is that New Yorkers can </a:t>
            </a:r>
            <a:r>
              <a:rPr lang="en-US" sz="1800" b="1" u="sng">
                <a:latin typeface="Aptos SemiBold"/>
                <a:ea typeface="Lato"/>
                <a:cs typeface="Lato"/>
              </a:rPr>
              <a:t>use</a:t>
            </a:r>
            <a:r>
              <a:rPr lang="en-US" sz="1800">
                <a:latin typeface="Aptos SemiBold"/>
                <a:ea typeface="Lato"/>
                <a:cs typeface="Lato"/>
              </a:rPr>
              <a:t> </a:t>
            </a:r>
            <a:r>
              <a:rPr lang="en-US" sz="1800">
                <a:latin typeface="Aptos Light"/>
                <a:ea typeface="Lato"/>
                <a:cs typeface="Lato"/>
              </a:rPr>
              <a:t>your website to get the information they need and access essential services. The same is true for New Yorkers who need a </a:t>
            </a:r>
            <a:r>
              <a:rPr lang="en-US" sz="1800" b="1">
                <a:latin typeface="Aptos SemiBold"/>
                <a:ea typeface="Lato"/>
                <a:cs typeface="Lato"/>
              </a:rPr>
              <a:t>keyboard or screen-reader </a:t>
            </a:r>
            <a:r>
              <a:rPr lang="en-US" sz="1800">
                <a:latin typeface="Aptos Light"/>
                <a:ea typeface="Lato"/>
                <a:cs typeface="Lato"/>
              </a:rPr>
              <a:t>to access our websites.</a:t>
            </a:r>
          </a:p>
          <a:p>
            <a:r>
              <a:rPr lang="en-US" sz="1800" b="1">
                <a:latin typeface="Aptos"/>
                <a:ea typeface="Lato"/>
                <a:cs typeface="Lato"/>
              </a:rPr>
              <a:t>2.   Human judgement is essential</a:t>
            </a:r>
            <a:endParaRPr lang="en-US" sz="1800">
              <a:latin typeface="Aptos"/>
              <a:ea typeface="Lato"/>
              <a:cs typeface="Lato"/>
            </a:endParaRPr>
          </a:p>
          <a:p>
            <a:pPr>
              <a:spcAft>
                <a:spcPts val="1000"/>
              </a:spcAft>
            </a:pPr>
            <a:r>
              <a:rPr lang="en-US" sz="1800" b="1">
                <a:latin typeface="Aptos SemiBold"/>
                <a:ea typeface="Lato"/>
                <a:cs typeface="Lato"/>
              </a:rPr>
              <a:t>No tool</a:t>
            </a:r>
            <a:r>
              <a:rPr lang="en-US" sz="1800" b="1">
                <a:latin typeface="Aptos"/>
                <a:ea typeface="Lato"/>
                <a:cs typeface="Lato"/>
              </a:rPr>
              <a:t> </a:t>
            </a:r>
            <a:r>
              <a:rPr lang="en-US" sz="1800">
                <a:latin typeface="Aptos Light"/>
                <a:ea typeface="Lato"/>
                <a:cs typeface="Lato"/>
              </a:rPr>
              <a:t>can tell you with 100% confidence that your site is usable. Only a person can do that. Since most of us are not fluent in screen readers, we rely on the advice of those who do (for example, accessibility experts in office hours). </a:t>
            </a:r>
          </a:p>
          <a:p>
            <a:r>
              <a:rPr lang="en-US" sz="1800">
                <a:latin typeface="Aptos SemiBold"/>
                <a:ea typeface="Lato"/>
                <a:cs typeface="Lato"/>
              </a:rPr>
              <a:t>3.   Usability contributes to legal compliance</a:t>
            </a:r>
          </a:p>
          <a:p>
            <a:r>
              <a:rPr lang="en-US" sz="1800">
                <a:latin typeface="Aptos Light"/>
                <a:ea typeface="Lato"/>
                <a:cs typeface="Lato"/>
              </a:rPr>
              <a:t>The DOJ ruling makes an exception for </a:t>
            </a:r>
            <a:r>
              <a:rPr lang="en-US" sz="1800" b="1">
                <a:latin typeface="Aptos SemiBold"/>
                <a:ea typeface="Lato"/>
                <a:cs typeface="Lato"/>
                <a:hlinkClick r:id="rId2"/>
              </a:rPr>
              <a:t>minimal impact</a:t>
            </a:r>
            <a:r>
              <a:rPr lang="en-US" sz="1800">
                <a:latin typeface="Aptos Light"/>
                <a:ea typeface="Lato"/>
                <a:cs typeface="Lato"/>
              </a:rPr>
              <a:t>: if the mistake is "so minor that it would not change a person with a disability’s access to the content" ... "then they are not violating the rule."</a:t>
            </a:r>
          </a:p>
        </p:txBody>
      </p:sp>
    </p:spTree>
    <p:extLst>
      <p:ext uri="{BB962C8B-B14F-4D97-AF65-F5344CB8AC3E}">
        <p14:creationId xmlns:p14="http://schemas.microsoft.com/office/powerpoint/2010/main" val="1091509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85C06-5163-0AF1-D3E5-1F4863C65F6A}"/>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C2AAC138-ED14-740D-D5A0-47E67A6CDF34}"/>
              </a:ext>
            </a:extLst>
          </p:cNvPr>
          <p:cNvSpPr/>
          <p:nvPr/>
        </p:nvSpPr>
        <p:spPr>
          <a:xfrm>
            <a:off x="129092" y="5680038"/>
            <a:ext cx="5787614" cy="112559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2A7EC7AF-BD67-2A0A-A710-BDA6DFE30FA4}"/>
              </a:ext>
            </a:extLst>
          </p:cNvPr>
          <p:cNvSpPr>
            <a:spLocks noGrp="1"/>
          </p:cNvSpPr>
          <p:nvPr>
            <p:ph type="sldNum" sz="quarter" idx="11"/>
          </p:nvPr>
        </p:nvSpPr>
        <p:spPr/>
        <p:txBody>
          <a:bodyPr/>
          <a:lstStyle/>
          <a:p>
            <a:fld id="{28874E94-A9F8-5A41-9D43-235A602D77DE}" type="slidenum">
              <a:rPr lang="en-US" smtClean="0"/>
              <a:pPr/>
              <a:t>15</a:t>
            </a:fld>
            <a:endParaRPr lang="en-US">
              <a:latin typeface="Aptos" panose="020B0004020202020204" pitchFamily="34" charset="0"/>
            </a:endParaRPr>
          </a:p>
        </p:txBody>
      </p:sp>
      <p:sp>
        <p:nvSpPr>
          <p:cNvPr id="3" name="Text Placeholder 2">
            <a:extLst>
              <a:ext uri="{FF2B5EF4-FFF2-40B4-BE49-F238E27FC236}">
                <a16:creationId xmlns:a16="http://schemas.microsoft.com/office/drawing/2014/main" id="{553A0CDD-5A24-7179-1828-F1C2B3755F2C}"/>
              </a:ext>
            </a:extLst>
          </p:cNvPr>
          <p:cNvSpPr>
            <a:spLocks noGrp="1"/>
          </p:cNvSpPr>
          <p:nvPr>
            <p:ph type="body" sz="quarter" idx="13"/>
          </p:nvPr>
        </p:nvSpPr>
        <p:spPr/>
        <p:txBody>
          <a:bodyPr vert="horz" lIns="91440" tIns="45720" rIns="91440" bIns="45720" rtlCol="0" anchor="t">
            <a:noAutofit/>
          </a:bodyPr>
          <a:lstStyle/>
          <a:p>
            <a:r>
              <a:rPr lang="en-US" sz="1300">
                <a:latin typeface="Aptos"/>
              </a:rPr>
              <a:t>1) Design mockups</a:t>
            </a:r>
          </a:p>
        </p:txBody>
      </p:sp>
      <p:sp>
        <p:nvSpPr>
          <p:cNvPr id="4" name="Title 3">
            <a:extLst>
              <a:ext uri="{FF2B5EF4-FFF2-40B4-BE49-F238E27FC236}">
                <a16:creationId xmlns:a16="http://schemas.microsoft.com/office/drawing/2014/main" id="{F1A48374-39BE-EEAA-352D-F505DBBA3D86}"/>
              </a:ext>
            </a:extLst>
          </p:cNvPr>
          <p:cNvSpPr>
            <a:spLocks noGrp="1"/>
          </p:cNvSpPr>
          <p:nvPr>
            <p:ph type="title"/>
          </p:nvPr>
        </p:nvSpPr>
        <p:spPr/>
        <p:txBody>
          <a:bodyPr>
            <a:normAutofit fontScale="90000"/>
          </a:bodyPr>
          <a:lstStyle/>
          <a:p>
            <a:r>
              <a:rPr lang="en-US" b="1">
                <a:latin typeface="Aptos ExtraBold" panose="020B0004020202020204" pitchFamily="34" charset="0"/>
              </a:rPr>
              <a:t>1) Share design mockup for review</a:t>
            </a:r>
          </a:p>
        </p:txBody>
      </p:sp>
      <p:sp>
        <p:nvSpPr>
          <p:cNvPr id="5" name="Rounded Rectangle 4">
            <a:extLst>
              <a:ext uri="{FF2B5EF4-FFF2-40B4-BE49-F238E27FC236}">
                <a16:creationId xmlns:a16="http://schemas.microsoft.com/office/drawing/2014/main" id="{E785F7D6-A6A9-9175-9FED-D529BC09AF98}"/>
              </a:ext>
            </a:extLst>
          </p:cNvPr>
          <p:cNvSpPr/>
          <p:nvPr/>
        </p:nvSpPr>
        <p:spPr>
          <a:xfrm>
            <a:off x="456641" y="1445277"/>
            <a:ext cx="5234153" cy="1977107"/>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tx1"/>
                </a:solidFill>
                <a:latin typeface="Aptos"/>
              </a:rPr>
              <a:t>Recommendation: </a:t>
            </a:r>
            <a:r>
              <a:rPr lang="en-US" sz="2400">
                <a:solidFill>
                  <a:schemeClr val="tx1"/>
                </a:solidFill>
                <a:latin typeface="Aptos Light"/>
              </a:rPr>
              <a:t>Receive feedback from an accessibility expert on a mockup before finalizing designs</a:t>
            </a:r>
            <a:endParaRPr lang="en-US" sz="2400">
              <a:solidFill>
                <a:schemeClr val="tx1"/>
              </a:solidFill>
              <a:ea typeface="Calibri"/>
              <a:cs typeface="Calibri"/>
            </a:endParaRPr>
          </a:p>
        </p:txBody>
      </p:sp>
      <p:sp>
        <p:nvSpPr>
          <p:cNvPr id="8" name="Right Arrow 7">
            <a:extLst>
              <a:ext uri="{FF2B5EF4-FFF2-40B4-BE49-F238E27FC236}">
                <a16:creationId xmlns:a16="http://schemas.microsoft.com/office/drawing/2014/main" id="{98817081-F777-3F9C-1430-D6AC7F298578}"/>
              </a:ext>
              <a:ext uri="{C183D7F6-B498-43B3-948B-1728B52AA6E4}">
                <adec:decorative xmlns:adec="http://schemas.microsoft.com/office/drawing/2017/decorative" val="1"/>
              </a:ext>
            </a:extLst>
          </p:cNvPr>
          <p:cNvSpPr/>
          <p:nvPr/>
        </p:nvSpPr>
        <p:spPr>
          <a:xfrm>
            <a:off x="5737412" y="2098843"/>
            <a:ext cx="717176" cy="666974"/>
          </a:xfrm>
          <a:prstGeom prst="rightArrow">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43EE7CAF-6CFB-3B67-A7A6-FF0AD3A7B8D6}"/>
              </a:ext>
            </a:extLst>
          </p:cNvPr>
          <p:cNvSpPr/>
          <p:nvPr/>
        </p:nvSpPr>
        <p:spPr>
          <a:xfrm>
            <a:off x="6501206" y="1445278"/>
            <a:ext cx="5234153" cy="197710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tx1"/>
                </a:solidFill>
                <a:latin typeface="Aptos"/>
              </a:rPr>
              <a:t>Goal: </a:t>
            </a:r>
            <a:r>
              <a:rPr lang="en-US" sz="2400">
                <a:solidFill>
                  <a:schemeClr val="tx1"/>
                </a:solidFill>
                <a:latin typeface="Aptos Light"/>
              </a:rPr>
              <a:t>Address feedback on design patterns that may block keyboards and screen readers</a:t>
            </a:r>
          </a:p>
        </p:txBody>
      </p:sp>
      <p:sp>
        <p:nvSpPr>
          <p:cNvPr id="10" name="Rounded Rectangle 9">
            <a:extLst>
              <a:ext uri="{FF2B5EF4-FFF2-40B4-BE49-F238E27FC236}">
                <a16:creationId xmlns:a16="http://schemas.microsoft.com/office/drawing/2014/main" id="{4157987F-7253-FCB2-51E4-AC37C1AFD05C}"/>
              </a:ext>
            </a:extLst>
          </p:cNvPr>
          <p:cNvSpPr/>
          <p:nvPr/>
        </p:nvSpPr>
        <p:spPr>
          <a:xfrm>
            <a:off x="454459" y="3642590"/>
            <a:ext cx="11278718" cy="45182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How to solicit feedback</a:t>
            </a:r>
          </a:p>
        </p:txBody>
      </p:sp>
      <p:sp>
        <p:nvSpPr>
          <p:cNvPr id="9" name="TextBox 8">
            <a:extLst>
              <a:ext uri="{FF2B5EF4-FFF2-40B4-BE49-F238E27FC236}">
                <a16:creationId xmlns:a16="http://schemas.microsoft.com/office/drawing/2014/main" id="{15C73A27-E46D-79A9-51E3-0C6456E84980}"/>
              </a:ext>
            </a:extLst>
          </p:cNvPr>
          <p:cNvSpPr txBox="1"/>
          <p:nvPr/>
        </p:nvSpPr>
        <p:spPr>
          <a:xfrm>
            <a:off x="454459" y="4314615"/>
            <a:ext cx="7490490" cy="2385268"/>
          </a:xfrm>
          <a:prstGeom prst="rect">
            <a:avLst/>
          </a:prstGeom>
          <a:noFill/>
        </p:spPr>
        <p:txBody>
          <a:bodyPr wrap="square" lIns="91440" tIns="45720" rIns="91440" bIns="45720" anchor="t">
            <a:spAutoFit/>
          </a:bodyPr>
          <a:lstStyle/>
          <a:p>
            <a:pPr>
              <a:spcAft>
                <a:spcPts val="600"/>
              </a:spcAft>
            </a:pPr>
            <a:r>
              <a:rPr lang="en-US" sz="1800" dirty="0">
                <a:latin typeface="Aptos Light"/>
              </a:rPr>
              <a:t>For most agencies this means visiting </a:t>
            </a:r>
            <a:r>
              <a:rPr lang="en-US" sz="1800" b="1" dirty="0">
                <a:latin typeface="Aptos SemiBold"/>
              </a:rPr>
              <a:t>MOPD’s </a:t>
            </a:r>
            <a:r>
              <a:rPr lang="en-US" b="1" dirty="0">
                <a:latin typeface="Aptos SemiBold"/>
              </a:rPr>
              <a:t>accessibility office</a:t>
            </a:r>
            <a:r>
              <a:rPr lang="en-US" sz="1800" b="1" dirty="0">
                <a:latin typeface="Aptos SemiBold"/>
              </a:rPr>
              <a:t> hours</a:t>
            </a:r>
            <a:r>
              <a:rPr lang="en-US" sz="1800" dirty="0">
                <a:latin typeface="Aptos Light"/>
              </a:rPr>
              <a:t>. Arthur Jacobs can test your website using a screen reader and advise you </a:t>
            </a:r>
            <a:r>
              <a:rPr lang="en-US" dirty="0">
                <a:latin typeface="Aptos Light"/>
              </a:rPr>
              <a:t>on which</a:t>
            </a:r>
            <a:r>
              <a:rPr lang="en-US" sz="1800" dirty="0">
                <a:latin typeface="Aptos Light"/>
              </a:rPr>
              <a:t> issues to prioritize.</a:t>
            </a:r>
          </a:p>
          <a:p>
            <a:pPr>
              <a:spcAft>
                <a:spcPts val="600"/>
              </a:spcAft>
            </a:pPr>
            <a:r>
              <a:rPr lang="en-US" dirty="0">
                <a:latin typeface="Aptos Light"/>
              </a:rPr>
              <a:t>Some agencies may already be working with </a:t>
            </a:r>
            <a:r>
              <a:rPr lang="en-US" b="1" dirty="0">
                <a:latin typeface="Aptos SemiBold"/>
              </a:rPr>
              <a:t>consultants</a:t>
            </a:r>
            <a:r>
              <a:rPr lang="en-US" dirty="0">
                <a:latin typeface="Aptos SemiBold"/>
              </a:rPr>
              <a:t> </a:t>
            </a:r>
            <a:r>
              <a:rPr lang="en-US" dirty="0">
                <a:latin typeface="Aptos Light"/>
              </a:rPr>
              <a:t>who are accessibility experts and can </a:t>
            </a:r>
            <a:r>
              <a:rPr lang="en-US" dirty="0">
                <a:latin typeface="Aptos Light" panose="020B0004020202020204" pitchFamily="34" charset="0"/>
              </a:rPr>
              <a:t>provide the same advice. We can recommend two: </a:t>
            </a:r>
            <a:r>
              <a:rPr lang="en-US" dirty="0">
                <a:latin typeface="Aptos Light" panose="020B0004020202020204" pitchFamily="34" charset="0"/>
                <a:hlinkClick r:id="rId2"/>
              </a:rPr>
              <a:t>AccessAbility Officer</a:t>
            </a:r>
            <a:r>
              <a:rPr lang="en-US" dirty="0">
                <a:latin typeface="Aptos Light" panose="020B0004020202020204" pitchFamily="34" charset="0"/>
              </a:rPr>
              <a:t> and </a:t>
            </a:r>
            <a:r>
              <a:rPr lang="en-US" dirty="0">
                <a:latin typeface="Aptos Light" panose="020B0004020202020204" pitchFamily="34" charset="0"/>
                <a:hlinkClick r:id="rId3"/>
              </a:rPr>
              <a:t>Deque</a:t>
            </a:r>
            <a:r>
              <a:rPr lang="en-US" dirty="0">
                <a:latin typeface="Aptos Light" panose="020B0004020202020204" pitchFamily="34" charset="0"/>
              </a:rPr>
              <a:t>. The city has a contracting vehicle with </a:t>
            </a:r>
            <a:r>
              <a:rPr lang="en-US" dirty="0">
                <a:latin typeface="Aptos Light" panose="020B0004020202020204" pitchFamily="34" charset="0"/>
                <a:hlinkClick r:id="rId4"/>
              </a:rPr>
              <a:t>NIBNY</a:t>
            </a:r>
            <a:r>
              <a:rPr lang="en-US" dirty="0">
                <a:latin typeface="Aptos Light" panose="020B0004020202020204" pitchFamily="34" charset="0"/>
              </a:rPr>
              <a:t> as a preferred source provider for accessibility testing. As a first step, contact your Agency Chief Contracting Officer (ACCO).</a:t>
            </a:r>
            <a:endParaRPr lang="en-US" dirty="0">
              <a:solidFill>
                <a:srgbClr val="000000"/>
              </a:solidFill>
              <a:latin typeface="Aptos Light" panose="020B0004020202020204" pitchFamily="34" charset="0"/>
              <a:ea typeface="Calibri"/>
              <a:cs typeface="Calibri"/>
            </a:endParaRPr>
          </a:p>
        </p:txBody>
      </p:sp>
      <p:sp>
        <p:nvSpPr>
          <p:cNvPr id="11" name="Rounded Rectangle 6">
            <a:extLst>
              <a:ext uri="{FF2B5EF4-FFF2-40B4-BE49-F238E27FC236}">
                <a16:creationId xmlns:a16="http://schemas.microsoft.com/office/drawing/2014/main" id="{81C80F07-1CA0-E3C2-17C4-6468A63A106F}"/>
              </a:ext>
            </a:extLst>
          </p:cNvPr>
          <p:cNvSpPr/>
          <p:nvPr/>
        </p:nvSpPr>
        <p:spPr>
          <a:xfrm>
            <a:off x="8188491" y="3812920"/>
            <a:ext cx="3405352" cy="248149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tx1"/>
                </a:solidFill>
                <a:latin typeface="Aptos"/>
              </a:rPr>
              <a:t>MOPD's Accessibility Office Hours</a:t>
            </a:r>
            <a:endParaRPr lang="en-US" sz="2400">
              <a:solidFill>
                <a:schemeClr val="tx1"/>
              </a:solidFill>
              <a:latin typeface="Aptos Light"/>
            </a:endParaRPr>
          </a:p>
          <a:p>
            <a:pPr marL="285750" indent="-285750">
              <a:lnSpc>
                <a:spcPct val="90000"/>
              </a:lnSpc>
              <a:spcBef>
                <a:spcPts val="1000"/>
              </a:spcBef>
              <a:buFont typeface="Wingdings"/>
              <a:buChar char="v"/>
            </a:pPr>
            <a:r>
              <a:rPr lang="en-US">
                <a:solidFill>
                  <a:schemeClr val="tx1"/>
                </a:solidFill>
                <a:latin typeface="Aptos"/>
              </a:rPr>
              <a:t>Every Friday 10-11am</a:t>
            </a:r>
          </a:p>
          <a:p>
            <a:pPr marL="285750" indent="-285750">
              <a:lnSpc>
                <a:spcPct val="90000"/>
              </a:lnSpc>
              <a:spcBef>
                <a:spcPts val="1000"/>
              </a:spcBef>
              <a:buFont typeface="Wingdings"/>
              <a:buChar char="v"/>
            </a:pPr>
            <a:r>
              <a:rPr lang="en-US">
                <a:solidFill>
                  <a:schemeClr val="tx1"/>
                </a:solidFill>
                <a:latin typeface="Aptos"/>
              </a:rPr>
              <a:t>Hosted by Arthur Jacobs </a:t>
            </a:r>
            <a:br>
              <a:rPr lang="en-US">
                <a:latin typeface="Aptos"/>
              </a:rPr>
            </a:br>
            <a:r>
              <a:rPr lang="en-US">
                <a:solidFill>
                  <a:schemeClr val="tx1"/>
                </a:solidFill>
                <a:latin typeface="Aptos"/>
              </a:rPr>
              <a:t>(</a:t>
            </a:r>
            <a:r>
              <a:rPr lang="en-US">
                <a:solidFill>
                  <a:schemeClr val="tx1"/>
                </a:solidFill>
                <a:latin typeface="Aptos"/>
                <a:ea typeface="+mn-lt"/>
                <a:cs typeface="+mn-lt"/>
                <a:hlinkClick r:id="rId5">
                  <a:extLst>
                    <a:ext uri="{A12FA001-AC4F-418D-AE19-62706E023703}">
                      <ahyp:hlinkClr xmlns:ahyp="http://schemas.microsoft.com/office/drawing/2018/hyperlinkcolor" val="tx"/>
                    </a:ext>
                  </a:extLst>
                </a:hlinkClick>
              </a:rPr>
              <a:t>ajacobs2@mopd.nyc.gov</a:t>
            </a:r>
            <a:r>
              <a:rPr lang="en-US">
                <a:solidFill>
                  <a:schemeClr val="tx1"/>
                </a:solidFill>
                <a:latin typeface="Aptos"/>
                <a:ea typeface="+mn-lt"/>
                <a:cs typeface="+mn-lt"/>
              </a:rPr>
              <a:t>)</a:t>
            </a:r>
          </a:p>
          <a:p>
            <a:pPr marL="285750" indent="-285750">
              <a:lnSpc>
                <a:spcPct val="90000"/>
              </a:lnSpc>
              <a:spcBef>
                <a:spcPts val="1000"/>
              </a:spcBef>
              <a:buFont typeface="Wingdings"/>
              <a:buChar char="v"/>
            </a:pPr>
            <a:r>
              <a:rPr lang="en-US">
                <a:solidFill>
                  <a:schemeClr val="tx1"/>
                </a:solidFill>
                <a:latin typeface="Aptos"/>
                <a:ea typeface="+mn-lt"/>
                <a:cs typeface="+mn-lt"/>
                <a:hlinkClick r:id="rId6"/>
              </a:rPr>
              <a:t>Office hours booking link</a:t>
            </a:r>
            <a:endParaRPr lang="en-US">
              <a:solidFill>
                <a:schemeClr val="tx1"/>
              </a:solidFill>
              <a:latin typeface="Aptos"/>
            </a:endParaRPr>
          </a:p>
        </p:txBody>
      </p:sp>
      <p:sp>
        <p:nvSpPr>
          <p:cNvPr id="6" name="Text Placeholder 5">
            <a:extLst>
              <a:ext uri="{FF2B5EF4-FFF2-40B4-BE49-F238E27FC236}">
                <a16:creationId xmlns:a16="http://schemas.microsoft.com/office/drawing/2014/main" id="{DD6842ED-5B4B-6CC2-45B8-16BCD92151BD}"/>
              </a:ext>
            </a:extLst>
          </p:cNvPr>
          <p:cNvSpPr>
            <a:spLocks noGrp="1"/>
          </p:cNvSpPr>
          <p:nvPr>
            <p:ph type="body" sz="quarter" idx="14"/>
          </p:nvPr>
        </p:nvSpPr>
        <p:spPr>
          <a:xfrm>
            <a:off x="8298018" y="6366091"/>
            <a:ext cx="3310841" cy="346561"/>
          </a:xfrm>
        </p:spPr>
        <p:txBody>
          <a:bodyPr/>
          <a:lstStyle/>
          <a:p>
            <a:r>
              <a:rPr lang="en-US"/>
              <a:t>MOPD = Mayor’s Office for People with Disabilities (</a:t>
            </a:r>
            <a:r>
              <a:rPr lang="en-US">
                <a:hlinkClick r:id="rId7"/>
              </a:rPr>
              <a:t>site</a:t>
            </a:r>
            <a:r>
              <a:rPr lang="en-US"/>
              <a:t>)</a:t>
            </a:r>
          </a:p>
        </p:txBody>
      </p:sp>
    </p:spTree>
    <p:extLst>
      <p:ext uri="{BB962C8B-B14F-4D97-AF65-F5344CB8AC3E}">
        <p14:creationId xmlns:p14="http://schemas.microsoft.com/office/powerpoint/2010/main" val="1327021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0DCAA-7E82-6792-73AD-0C66014FE76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ED3B8B-EC67-867C-EAF8-357E062636EE}"/>
              </a:ext>
            </a:extLst>
          </p:cNvPr>
          <p:cNvSpPr>
            <a:spLocks noGrp="1"/>
          </p:cNvSpPr>
          <p:nvPr>
            <p:ph type="sldNum" sz="quarter" idx="11"/>
          </p:nvPr>
        </p:nvSpPr>
        <p:spPr/>
        <p:txBody>
          <a:bodyPr/>
          <a:lstStyle/>
          <a:p>
            <a:fld id="{28874E94-A9F8-5A41-9D43-235A602D77DE}" type="slidenum">
              <a:rPr lang="en-US" smtClean="0"/>
              <a:pPr/>
              <a:t>16</a:t>
            </a:fld>
            <a:endParaRPr lang="en-US">
              <a:latin typeface="Aptos" panose="020B0004020202020204" pitchFamily="34" charset="0"/>
            </a:endParaRPr>
          </a:p>
        </p:txBody>
      </p:sp>
      <p:sp>
        <p:nvSpPr>
          <p:cNvPr id="15" name="Text Placeholder 2">
            <a:extLst>
              <a:ext uri="{FF2B5EF4-FFF2-40B4-BE49-F238E27FC236}">
                <a16:creationId xmlns:a16="http://schemas.microsoft.com/office/drawing/2014/main" id="{72D0D9F5-41F4-86C1-D387-484336030075}"/>
              </a:ext>
            </a:extLst>
          </p:cNvPr>
          <p:cNvSpPr>
            <a:spLocks noGrp="1"/>
          </p:cNvSpPr>
          <p:nvPr>
            <p:ph type="body" sz="quarter" idx="13"/>
          </p:nvPr>
        </p:nvSpPr>
        <p:spPr/>
        <p:txBody>
          <a:bodyPr vert="horz" lIns="91440" tIns="45720" rIns="91440" bIns="45720" rtlCol="0" anchor="t">
            <a:noAutofit/>
          </a:bodyPr>
          <a:lstStyle/>
          <a:p>
            <a:r>
              <a:rPr lang="en-US" sz="1300">
                <a:latin typeface="Aptos"/>
              </a:rPr>
              <a:t>1) Design mockups</a:t>
            </a:r>
          </a:p>
        </p:txBody>
      </p:sp>
      <p:sp>
        <p:nvSpPr>
          <p:cNvPr id="4" name="Title 3">
            <a:extLst>
              <a:ext uri="{FF2B5EF4-FFF2-40B4-BE49-F238E27FC236}">
                <a16:creationId xmlns:a16="http://schemas.microsoft.com/office/drawing/2014/main" id="{3D9DDFB8-D687-ED76-F8AD-40100420AA57}"/>
              </a:ext>
            </a:extLst>
          </p:cNvPr>
          <p:cNvSpPr>
            <a:spLocks noGrp="1"/>
          </p:cNvSpPr>
          <p:nvPr>
            <p:ph type="title"/>
          </p:nvPr>
        </p:nvSpPr>
        <p:spPr/>
        <p:txBody>
          <a:bodyPr>
            <a:normAutofit fontScale="90000"/>
          </a:bodyPr>
          <a:lstStyle/>
          <a:p>
            <a:r>
              <a:rPr lang="en-US" b="1">
                <a:latin typeface="Aptos ExtraBold" panose="020B0004020202020204" pitchFamily="34" charset="0"/>
              </a:rPr>
              <a:t>Example of a design mockup</a:t>
            </a:r>
          </a:p>
        </p:txBody>
      </p:sp>
      <p:sp>
        <p:nvSpPr>
          <p:cNvPr id="5" name="Text Placeholder 4">
            <a:extLst>
              <a:ext uri="{FF2B5EF4-FFF2-40B4-BE49-F238E27FC236}">
                <a16:creationId xmlns:a16="http://schemas.microsoft.com/office/drawing/2014/main" id="{60F113A9-716F-26D8-F867-550CCCCA4C18}"/>
              </a:ext>
            </a:extLst>
          </p:cNvPr>
          <p:cNvSpPr>
            <a:spLocks noGrp="1"/>
          </p:cNvSpPr>
          <p:nvPr>
            <p:ph type="body" sz="quarter" idx="12"/>
          </p:nvPr>
        </p:nvSpPr>
        <p:spPr/>
        <p:txBody>
          <a:bodyPr vert="horz" lIns="91440" tIns="45720" rIns="91440" bIns="45720" rtlCol="0" anchor="t">
            <a:noAutofit/>
          </a:bodyPr>
          <a:lstStyle/>
          <a:p>
            <a:r>
              <a:rPr lang="en-US" sz="1800">
                <a:latin typeface="Aptos Light"/>
              </a:rPr>
              <a:t>Before engineering has started, teams can use design mockups​ to walkthrough proposed screens in order. It’s important to get feedback at this early stage to avoid wasting time and effort on designs that can never be made accessible. </a:t>
            </a:r>
          </a:p>
        </p:txBody>
      </p:sp>
      <p:pic>
        <p:nvPicPr>
          <p:cNvPr id="7" name="Picture 6" descr="Example of a design mockup. We see an example website filling out a form on mobile. Arrows demonstrate how different buttons lead to different screens and user flows.">
            <a:extLst>
              <a:ext uri="{FF2B5EF4-FFF2-40B4-BE49-F238E27FC236}">
                <a16:creationId xmlns:a16="http://schemas.microsoft.com/office/drawing/2014/main" id="{959F0D6F-869D-88C5-BF79-0CC72EA44AB6}"/>
              </a:ext>
            </a:extLst>
          </p:cNvPr>
          <p:cNvPicPr>
            <a:picLocks noChangeAspect="1"/>
          </p:cNvPicPr>
          <p:nvPr/>
        </p:nvPicPr>
        <p:blipFill>
          <a:blip r:embed="rId2"/>
          <a:stretch>
            <a:fillRect/>
          </a:stretch>
        </p:blipFill>
        <p:spPr>
          <a:xfrm>
            <a:off x="1232955" y="2220117"/>
            <a:ext cx="9726089" cy="4603682"/>
          </a:xfrm>
          <a:prstGeom prst="rect">
            <a:avLst/>
          </a:prstGeom>
        </p:spPr>
      </p:pic>
    </p:spTree>
    <p:extLst>
      <p:ext uri="{BB962C8B-B14F-4D97-AF65-F5344CB8AC3E}">
        <p14:creationId xmlns:p14="http://schemas.microsoft.com/office/powerpoint/2010/main" val="807728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B9C7D-9B18-7D19-A4E5-1B532675AD9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AAEFA3-97EB-A69F-BDF4-89C14FE0CFA0}"/>
              </a:ext>
            </a:extLst>
          </p:cNvPr>
          <p:cNvSpPr>
            <a:spLocks noGrp="1"/>
          </p:cNvSpPr>
          <p:nvPr>
            <p:ph type="sldNum" sz="quarter" idx="11"/>
          </p:nvPr>
        </p:nvSpPr>
        <p:spPr/>
        <p:txBody>
          <a:bodyPr/>
          <a:lstStyle/>
          <a:p>
            <a:fld id="{28874E94-A9F8-5A41-9D43-235A602D77DE}" type="slidenum">
              <a:rPr lang="en-US" smtClean="0"/>
              <a:pPr/>
              <a:t>17</a:t>
            </a:fld>
            <a:endParaRPr lang="en-US">
              <a:latin typeface="Aptos" panose="020B0004020202020204" pitchFamily="34" charset="0"/>
            </a:endParaRPr>
          </a:p>
        </p:txBody>
      </p:sp>
      <p:sp>
        <p:nvSpPr>
          <p:cNvPr id="15" name="Text Placeholder 2">
            <a:extLst>
              <a:ext uri="{FF2B5EF4-FFF2-40B4-BE49-F238E27FC236}">
                <a16:creationId xmlns:a16="http://schemas.microsoft.com/office/drawing/2014/main" id="{A9C95C0A-F19D-CA56-68C5-B0C925D17F27}"/>
              </a:ext>
            </a:extLst>
          </p:cNvPr>
          <p:cNvSpPr>
            <a:spLocks noGrp="1"/>
          </p:cNvSpPr>
          <p:nvPr>
            <p:ph type="body" sz="quarter" idx="13"/>
          </p:nvPr>
        </p:nvSpPr>
        <p:spPr/>
        <p:txBody>
          <a:bodyPr vert="horz" lIns="91440" tIns="45720" rIns="91440" bIns="45720" rtlCol="0" anchor="t">
            <a:noAutofit/>
          </a:bodyPr>
          <a:lstStyle/>
          <a:p>
            <a:r>
              <a:rPr lang="en-US" sz="1300">
                <a:latin typeface="Aptos"/>
              </a:rPr>
              <a:t>1) Design mockups</a:t>
            </a:r>
          </a:p>
        </p:txBody>
      </p:sp>
      <p:sp>
        <p:nvSpPr>
          <p:cNvPr id="4" name="Title 3">
            <a:extLst>
              <a:ext uri="{FF2B5EF4-FFF2-40B4-BE49-F238E27FC236}">
                <a16:creationId xmlns:a16="http://schemas.microsoft.com/office/drawing/2014/main" id="{DFDA4E89-B31D-1C8C-A3CC-D930EE44C5F5}"/>
              </a:ext>
            </a:extLst>
          </p:cNvPr>
          <p:cNvSpPr>
            <a:spLocks noGrp="1"/>
          </p:cNvSpPr>
          <p:nvPr>
            <p:ph type="title"/>
          </p:nvPr>
        </p:nvSpPr>
        <p:spPr/>
        <p:txBody>
          <a:bodyPr>
            <a:normAutofit fontScale="90000"/>
          </a:bodyPr>
          <a:lstStyle/>
          <a:p>
            <a:r>
              <a:rPr lang="en-US" b="1">
                <a:latin typeface="Aptos ExtraBold" panose="020B0004020202020204" pitchFamily="34" charset="0"/>
              </a:rPr>
              <a:t>Be accessible by design using the NYC Digital Design System</a:t>
            </a:r>
          </a:p>
        </p:txBody>
      </p:sp>
      <p:sp>
        <p:nvSpPr>
          <p:cNvPr id="5" name="Text Placeholder 4">
            <a:extLst>
              <a:ext uri="{FF2B5EF4-FFF2-40B4-BE49-F238E27FC236}">
                <a16:creationId xmlns:a16="http://schemas.microsoft.com/office/drawing/2014/main" id="{DB73AC80-1F07-772D-22D4-BC658CCAF929}"/>
              </a:ext>
            </a:extLst>
          </p:cNvPr>
          <p:cNvSpPr>
            <a:spLocks noGrp="1"/>
          </p:cNvSpPr>
          <p:nvPr>
            <p:ph type="body" sz="quarter" idx="12"/>
          </p:nvPr>
        </p:nvSpPr>
        <p:spPr>
          <a:xfrm>
            <a:off x="412037" y="2280104"/>
            <a:ext cx="5579972" cy="2617715"/>
          </a:xfrm>
        </p:spPr>
        <p:txBody>
          <a:bodyPr vert="horz" lIns="91440" tIns="45720" rIns="91440" bIns="45720" rtlCol="0" anchor="t">
            <a:noAutofit/>
          </a:bodyPr>
          <a:lstStyle/>
          <a:p>
            <a:r>
              <a:rPr lang="en-US" sz="2400"/>
              <a:t>The </a:t>
            </a:r>
            <a:r>
              <a:rPr lang="en-US" sz="2400" b="1">
                <a:latin typeface="Aptos" panose="020B0004020202020204" pitchFamily="34" charset="0"/>
              </a:rPr>
              <a:t>NYC Digital Design System </a:t>
            </a:r>
            <a:r>
              <a:rPr lang="en-US" sz="2400"/>
              <a:t>is a set of rules and reusable parts for making digital products for NYC government. It’s based on user needs and accessible by design. </a:t>
            </a:r>
          </a:p>
          <a:p>
            <a:pPr marL="342900" indent="-342900">
              <a:buFont typeface="Wingdings" pitchFamily="2" charset="2"/>
              <a:buChar char="Ø"/>
            </a:pPr>
            <a:r>
              <a:rPr lang="en-US" sz="2400" b="1">
                <a:latin typeface="Aptos" panose="020B0004020202020204" pitchFamily="34" charset="0"/>
                <a:hlinkClick r:id="rId2"/>
              </a:rPr>
              <a:t>Reach out</a:t>
            </a:r>
            <a:r>
              <a:rPr lang="en-US" sz="2400"/>
              <a:t> to get started and learn more on the design system </a:t>
            </a:r>
            <a:r>
              <a:rPr lang="en-US" sz="2400">
                <a:hlinkClick r:id="rId3"/>
              </a:rPr>
              <a:t>website</a:t>
            </a:r>
            <a:r>
              <a:rPr lang="en-US" sz="2400"/>
              <a:t>.</a:t>
            </a:r>
          </a:p>
          <a:p>
            <a:br>
              <a:rPr lang="en-US" sz="1800"/>
            </a:br>
            <a:endParaRPr lang="en-US" sz="1800">
              <a:latin typeface="Aptos Light"/>
            </a:endParaRPr>
          </a:p>
        </p:txBody>
      </p:sp>
      <p:pic>
        <p:nvPicPr>
          <p:cNvPr id="6" name="Picture 5" descr="Icon demonstrating the NYC design system meets AAA accessibility: Every element has been reviewed to make sure it meets accessibility standards and is usable for New Yorkers with disabilities.">
            <a:extLst>
              <a:ext uri="{FF2B5EF4-FFF2-40B4-BE49-F238E27FC236}">
                <a16:creationId xmlns:a16="http://schemas.microsoft.com/office/drawing/2014/main" id="{594D53C0-743C-FB82-B85B-D6BC1FBAD462}"/>
              </a:ext>
            </a:extLst>
          </p:cNvPr>
          <p:cNvPicPr>
            <a:picLocks noChangeAspect="1"/>
          </p:cNvPicPr>
          <p:nvPr/>
        </p:nvPicPr>
        <p:blipFill>
          <a:blip r:embed="rId4"/>
          <a:srcRect l="33429" r="33429"/>
          <a:stretch>
            <a:fillRect/>
          </a:stretch>
        </p:blipFill>
        <p:spPr>
          <a:xfrm>
            <a:off x="7086507" y="1751999"/>
            <a:ext cx="4224169" cy="4233002"/>
          </a:xfrm>
          <a:prstGeom prst="rect">
            <a:avLst/>
          </a:prstGeom>
          <a:ln w="25400">
            <a:solidFill>
              <a:schemeClr val="bg1">
                <a:lumMod val="85000"/>
              </a:schemeClr>
            </a:solidFill>
          </a:ln>
        </p:spPr>
      </p:pic>
    </p:spTree>
    <p:extLst>
      <p:ext uri="{BB962C8B-B14F-4D97-AF65-F5344CB8AC3E}">
        <p14:creationId xmlns:p14="http://schemas.microsoft.com/office/powerpoint/2010/main" val="31855115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BF8A9-3B9D-9850-5BB0-E52FC4C2925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08EFBD-DECC-FA94-6E57-A771197552CC}"/>
              </a:ext>
            </a:extLst>
          </p:cNvPr>
          <p:cNvSpPr>
            <a:spLocks noGrp="1"/>
          </p:cNvSpPr>
          <p:nvPr>
            <p:ph type="sldNum" sz="quarter" idx="11"/>
          </p:nvPr>
        </p:nvSpPr>
        <p:spPr/>
        <p:txBody>
          <a:bodyPr/>
          <a:lstStyle/>
          <a:p>
            <a:fld id="{28874E94-A9F8-5A41-9D43-235A602D77DE}" type="slidenum">
              <a:rPr lang="en-US" smtClean="0"/>
              <a:pPr/>
              <a:t>18</a:t>
            </a:fld>
            <a:endParaRPr lang="en-US">
              <a:latin typeface="Aptos" panose="020B0004020202020204" pitchFamily="34" charset="0"/>
            </a:endParaRPr>
          </a:p>
        </p:txBody>
      </p:sp>
      <p:sp>
        <p:nvSpPr>
          <p:cNvPr id="3" name="Text Placeholder 2">
            <a:extLst>
              <a:ext uri="{FF2B5EF4-FFF2-40B4-BE49-F238E27FC236}">
                <a16:creationId xmlns:a16="http://schemas.microsoft.com/office/drawing/2014/main" id="{39333C3F-8568-0522-1A54-4EC8E7FC0FAC}"/>
              </a:ext>
            </a:extLst>
          </p:cNvPr>
          <p:cNvSpPr>
            <a:spLocks noGrp="1"/>
          </p:cNvSpPr>
          <p:nvPr>
            <p:ph type="body" sz="quarter" idx="13"/>
          </p:nvPr>
        </p:nvSpPr>
        <p:spPr/>
        <p:txBody>
          <a:bodyPr>
            <a:normAutofit fontScale="92500" lnSpcReduction="10000"/>
          </a:bodyPr>
          <a:lstStyle/>
          <a:p>
            <a:r>
              <a:rPr lang="en-US">
                <a:latin typeface="Aptos"/>
              </a:rPr>
              <a:t>2) </a:t>
            </a:r>
            <a:r>
              <a:rPr lang="en-US"/>
              <a:t>FastPass test</a:t>
            </a:r>
          </a:p>
        </p:txBody>
      </p:sp>
      <p:sp>
        <p:nvSpPr>
          <p:cNvPr id="4" name="Title 3">
            <a:extLst>
              <a:ext uri="{FF2B5EF4-FFF2-40B4-BE49-F238E27FC236}">
                <a16:creationId xmlns:a16="http://schemas.microsoft.com/office/drawing/2014/main" id="{5CA823FB-5930-5A21-D608-B3335E9A7F7E}"/>
              </a:ext>
            </a:extLst>
          </p:cNvPr>
          <p:cNvSpPr>
            <a:spLocks noGrp="1"/>
          </p:cNvSpPr>
          <p:nvPr>
            <p:ph type="title"/>
          </p:nvPr>
        </p:nvSpPr>
        <p:spPr/>
        <p:txBody>
          <a:bodyPr>
            <a:normAutofit fontScale="90000"/>
          </a:bodyPr>
          <a:lstStyle/>
          <a:p>
            <a:r>
              <a:rPr lang="en-US" b="1">
                <a:latin typeface="Aptos ExtraBold" panose="020B0004020202020204" pitchFamily="34" charset="0"/>
              </a:rPr>
              <a:t>Why use </a:t>
            </a:r>
            <a:r>
              <a:rPr lang="en-US" b="1" err="1">
                <a:latin typeface="Aptos ExtraBold" panose="020B0004020202020204" pitchFamily="34" charset="0"/>
              </a:rPr>
              <a:t>FastPass</a:t>
            </a:r>
            <a:r>
              <a:rPr lang="en-US" b="1">
                <a:latin typeface="Aptos ExtraBold" panose="020B0004020202020204" pitchFamily="34" charset="0"/>
              </a:rPr>
              <a:t>?</a:t>
            </a:r>
          </a:p>
        </p:txBody>
      </p:sp>
      <p:sp>
        <p:nvSpPr>
          <p:cNvPr id="5" name="Text Placeholder 4">
            <a:extLst>
              <a:ext uri="{FF2B5EF4-FFF2-40B4-BE49-F238E27FC236}">
                <a16:creationId xmlns:a16="http://schemas.microsoft.com/office/drawing/2014/main" id="{CA096B38-A8A4-B731-C71E-2C8F2E585CFC}"/>
              </a:ext>
            </a:extLst>
          </p:cNvPr>
          <p:cNvSpPr>
            <a:spLocks noGrp="1"/>
          </p:cNvSpPr>
          <p:nvPr>
            <p:ph type="body" sz="quarter" idx="12"/>
          </p:nvPr>
        </p:nvSpPr>
        <p:spPr>
          <a:xfrm>
            <a:off x="456196" y="1308080"/>
            <a:ext cx="9395538" cy="691352"/>
          </a:xfrm>
        </p:spPr>
        <p:txBody>
          <a:bodyPr vert="horz" lIns="91440" tIns="45720" rIns="91440" bIns="45720" rtlCol="0" anchor="t">
            <a:noAutofit/>
          </a:bodyPr>
          <a:lstStyle/>
          <a:p>
            <a:r>
              <a:rPr lang="en-US" sz="1800">
                <a:latin typeface="Aptos Light"/>
              </a:rPr>
              <a:t>We recommend all teams use the </a:t>
            </a:r>
            <a:r>
              <a:rPr lang="en-US" sz="1800" err="1">
                <a:latin typeface="Aptos Light"/>
              </a:rPr>
              <a:t>FastPass</a:t>
            </a:r>
            <a:r>
              <a:rPr lang="en-US" sz="1800">
                <a:latin typeface="Aptos Light"/>
              </a:rPr>
              <a:t> test (on the Accessibility Insights browser extension) because it </a:t>
            </a:r>
            <a:r>
              <a:rPr lang="en-US" sz="1800" err="1">
                <a:latin typeface="Aptos Light"/>
              </a:rPr>
              <a:t>prio</a:t>
            </a:r>
            <a:r>
              <a:rPr lang="en-US" sz="1800">
                <a:latin typeface="Aptos Light"/>
              </a:rPr>
              <a:t>ritizes "no false positives" and incorporates simple manual testing. </a:t>
            </a:r>
          </a:p>
        </p:txBody>
      </p:sp>
      <p:sp>
        <p:nvSpPr>
          <p:cNvPr id="6" name="TextBox 5">
            <a:extLst>
              <a:ext uri="{FF2B5EF4-FFF2-40B4-BE49-F238E27FC236}">
                <a16:creationId xmlns:a16="http://schemas.microsoft.com/office/drawing/2014/main" id="{1E6D8FE4-E902-9571-C1C6-E565A2AA6A09}"/>
              </a:ext>
            </a:extLst>
          </p:cNvPr>
          <p:cNvSpPr txBox="1"/>
          <p:nvPr/>
        </p:nvSpPr>
        <p:spPr>
          <a:xfrm>
            <a:off x="412037" y="2090597"/>
            <a:ext cx="6099586" cy="2841804"/>
          </a:xfrm>
          <a:prstGeom prst="rect">
            <a:avLst/>
          </a:prstGeom>
          <a:noFill/>
        </p:spPr>
        <p:txBody>
          <a:bodyPr wrap="square" lIns="91440" tIns="45720" rIns="91440" bIns="45720" anchor="t">
            <a:spAutoFit/>
          </a:bodyPr>
          <a:lstStyle/>
          <a:p>
            <a:pPr marL="342900" indent="-342900">
              <a:spcBef>
                <a:spcPts val="1000"/>
              </a:spcBef>
              <a:spcAft>
                <a:spcPts val="1000"/>
              </a:spcAft>
              <a:buFont typeface="+mj-lt"/>
              <a:buAutoNum type="arabicPeriod"/>
            </a:pPr>
            <a:r>
              <a:rPr lang="en-US" b="1">
                <a:latin typeface="Aptos"/>
              </a:rPr>
              <a:t>Every issue worth your time</a:t>
            </a:r>
            <a:br>
              <a:rPr lang="en-US" sz="1800" b="1"/>
            </a:br>
            <a:r>
              <a:rPr lang="en-US">
                <a:latin typeface="Aptos Light"/>
              </a:rPr>
              <a:t>The FastPass test uses an</a:t>
            </a:r>
            <a:r>
              <a:rPr lang="en-US" sz="1800">
                <a:latin typeface="Aptos Light"/>
              </a:rPr>
              <a:t> open-source rule engine with a philosophy of “</a:t>
            </a:r>
            <a:r>
              <a:rPr lang="en-US" sz="1800">
                <a:latin typeface="Aptos Light"/>
                <a:hlinkClick r:id="rId2"/>
              </a:rPr>
              <a:t>no false positives</a:t>
            </a:r>
            <a:r>
              <a:rPr lang="en-US" sz="1800">
                <a:latin typeface="Aptos Light"/>
              </a:rPr>
              <a:t>”. Instead of flooding you with suggestions, it only flags those issues that it is 99% confident about. Checks against WCAG 2.2 AA by default. </a:t>
            </a:r>
            <a:endParaRPr lang="en-US"/>
          </a:p>
          <a:p>
            <a:pPr marL="342900" indent="-342900">
              <a:spcBef>
                <a:spcPts val="1000"/>
              </a:spcBef>
              <a:spcAft>
                <a:spcPts val="1000"/>
              </a:spcAft>
              <a:buFont typeface="+mj-lt"/>
              <a:buAutoNum type="arabicPeriod"/>
            </a:pPr>
            <a:r>
              <a:rPr lang="en-US" b="1">
                <a:latin typeface="Aptos"/>
              </a:rPr>
              <a:t>Simple manual testing</a:t>
            </a:r>
            <a:br>
              <a:rPr lang="en-US" b="1"/>
            </a:br>
            <a:r>
              <a:rPr lang="en-US">
                <a:latin typeface="Aptos Light"/>
              </a:rPr>
              <a:t>FastPass also incorporates very simple manual testing as part of the test. This lets us catch ~60% of issues altogether in just a couple of minutes. </a:t>
            </a:r>
            <a:endParaRPr lang="en-US" sz="1800">
              <a:ea typeface="Calibri" panose="020F0502020204030204"/>
              <a:cs typeface="Calibri" panose="020F0502020204030204"/>
            </a:endParaRPr>
          </a:p>
        </p:txBody>
      </p:sp>
      <p:pic>
        <p:nvPicPr>
          <p:cNvPr id="7" name="Picture 6" descr="A ruler for measuring">
            <a:extLst>
              <a:ext uri="{FF2B5EF4-FFF2-40B4-BE49-F238E27FC236}">
                <a16:creationId xmlns:a16="http://schemas.microsoft.com/office/drawing/2014/main" id="{6D71B7A9-DEEA-D0AC-9987-213CC08F8AAF}"/>
              </a:ext>
            </a:extLst>
          </p:cNvPr>
          <p:cNvPicPr>
            <a:picLocks noChangeAspect="1"/>
          </p:cNvPicPr>
          <p:nvPr/>
        </p:nvPicPr>
        <p:blipFill rotWithShape="1">
          <a:blip r:embed="rId3"/>
          <a:srcRect t="32821" b="54160"/>
          <a:stretch>
            <a:fillRect/>
          </a:stretch>
        </p:blipFill>
        <p:spPr>
          <a:xfrm rot="5400000">
            <a:off x="6101622" y="2850725"/>
            <a:ext cx="9446934" cy="1420836"/>
          </a:xfrm>
          <a:prstGeom prst="rect">
            <a:avLst/>
          </a:prstGeom>
        </p:spPr>
      </p:pic>
      <p:sp>
        <p:nvSpPr>
          <p:cNvPr id="9" name="TextBox 8">
            <a:extLst>
              <a:ext uri="{FF2B5EF4-FFF2-40B4-BE49-F238E27FC236}">
                <a16:creationId xmlns:a16="http://schemas.microsoft.com/office/drawing/2014/main" id="{DDF43B55-2AFE-D314-B6C7-C328A7CFE5F0}"/>
              </a:ext>
            </a:extLst>
          </p:cNvPr>
          <p:cNvSpPr txBox="1"/>
          <p:nvPr/>
        </p:nvSpPr>
        <p:spPr>
          <a:xfrm>
            <a:off x="7859486" y="5763986"/>
            <a:ext cx="2166258"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err="1">
                <a:latin typeface="Aptos"/>
              </a:rPr>
              <a:t>FastPass</a:t>
            </a:r>
            <a:r>
              <a:rPr lang="en-US" sz="1400">
                <a:latin typeface="Aptos"/>
              </a:rPr>
              <a:t> is the only tool we can recommend as a "ruler" to measure your progress.</a:t>
            </a:r>
          </a:p>
        </p:txBody>
      </p:sp>
    </p:spTree>
    <p:extLst>
      <p:ext uri="{BB962C8B-B14F-4D97-AF65-F5344CB8AC3E}">
        <p14:creationId xmlns:p14="http://schemas.microsoft.com/office/powerpoint/2010/main" val="561822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2083D-EE64-4AA6-F238-3D5EC6A241A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C07F728-4339-E8D2-7DD2-82B2395F4C6B}"/>
              </a:ext>
            </a:extLst>
          </p:cNvPr>
          <p:cNvSpPr>
            <a:spLocks noGrp="1"/>
          </p:cNvSpPr>
          <p:nvPr>
            <p:ph type="sldNum" sz="quarter" idx="11"/>
          </p:nvPr>
        </p:nvSpPr>
        <p:spPr/>
        <p:txBody>
          <a:bodyPr/>
          <a:lstStyle/>
          <a:p>
            <a:fld id="{28874E94-A9F8-5A41-9D43-235A602D77DE}" type="slidenum">
              <a:rPr lang="en-US" smtClean="0"/>
              <a:pPr/>
              <a:t>19</a:t>
            </a:fld>
            <a:endParaRPr lang="en-US">
              <a:latin typeface="Aptos" panose="020B0004020202020204" pitchFamily="34" charset="0"/>
            </a:endParaRPr>
          </a:p>
        </p:txBody>
      </p:sp>
      <p:sp>
        <p:nvSpPr>
          <p:cNvPr id="20" name="Text Placeholder 2">
            <a:extLst>
              <a:ext uri="{FF2B5EF4-FFF2-40B4-BE49-F238E27FC236}">
                <a16:creationId xmlns:a16="http://schemas.microsoft.com/office/drawing/2014/main" id="{5983BE5D-EFFE-552E-7AEC-77802FD63A29}"/>
              </a:ext>
            </a:extLst>
          </p:cNvPr>
          <p:cNvSpPr>
            <a:spLocks noGrp="1"/>
          </p:cNvSpPr>
          <p:nvPr>
            <p:ph type="body" sz="quarter" idx="13"/>
          </p:nvPr>
        </p:nvSpPr>
        <p:spPr>
          <a:xfrm>
            <a:off x="456642" y="379990"/>
            <a:ext cx="2194560" cy="267710"/>
          </a:xfrm>
        </p:spPr>
        <p:txBody>
          <a:bodyPr>
            <a:normAutofit fontScale="92500" lnSpcReduction="10000"/>
          </a:bodyPr>
          <a:lstStyle/>
          <a:p>
            <a:r>
              <a:rPr lang="en-US">
                <a:latin typeface="Aptos"/>
              </a:rPr>
              <a:t>2) </a:t>
            </a:r>
            <a:r>
              <a:rPr lang="en-US"/>
              <a:t>FastPass test</a:t>
            </a:r>
          </a:p>
        </p:txBody>
      </p:sp>
      <p:sp>
        <p:nvSpPr>
          <p:cNvPr id="4" name="Title 3">
            <a:extLst>
              <a:ext uri="{FF2B5EF4-FFF2-40B4-BE49-F238E27FC236}">
                <a16:creationId xmlns:a16="http://schemas.microsoft.com/office/drawing/2014/main" id="{74F6309C-B164-8F74-EB0D-B127CAC1C7BB}"/>
              </a:ext>
            </a:extLst>
          </p:cNvPr>
          <p:cNvSpPr>
            <a:spLocks noGrp="1"/>
          </p:cNvSpPr>
          <p:nvPr>
            <p:ph type="title"/>
          </p:nvPr>
        </p:nvSpPr>
        <p:spPr/>
        <p:txBody>
          <a:bodyPr>
            <a:normAutofit fontScale="90000"/>
          </a:bodyPr>
          <a:lstStyle/>
          <a:p>
            <a:r>
              <a:rPr lang="en-US" b="1">
                <a:latin typeface="Aptos ExtraBold" panose="020B0004020202020204" pitchFamily="34" charset="0"/>
              </a:rPr>
              <a:t>2) Use FastPass early and often</a:t>
            </a:r>
          </a:p>
        </p:txBody>
      </p:sp>
      <p:sp>
        <p:nvSpPr>
          <p:cNvPr id="7" name="Rounded Rectangle 4">
            <a:extLst>
              <a:ext uri="{FF2B5EF4-FFF2-40B4-BE49-F238E27FC236}">
                <a16:creationId xmlns:a16="http://schemas.microsoft.com/office/drawing/2014/main" id="{11E5C1C4-99C2-5625-5D5A-D1D1D86BCE30}"/>
              </a:ext>
            </a:extLst>
          </p:cNvPr>
          <p:cNvSpPr/>
          <p:nvPr/>
        </p:nvSpPr>
        <p:spPr>
          <a:xfrm>
            <a:off x="456641" y="1445278"/>
            <a:ext cx="5234153" cy="175512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tx1"/>
                </a:solidFill>
                <a:latin typeface="Aptos"/>
              </a:rPr>
              <a:t>Recommendation: </a:t>
            </a:r>
            <a:r>
              <a:rPr lang="en-US" sz="2400">
                <a:solidFill>
                  <a:schemeClr val="tx1"/>
                </a:solidFill>
                <a:latin typeface="Aptos Light"/>
              </a:rPr>
              <a:t>use FastPass </a:t>
            </a:r>
            <a:r>
              <a:rPr lang="en-US" sz="2400">
                <a:solidFill>
                  <a:schemeClr val="tx1"/>
                </a:solidFill>
                <a:latin typeface="Aptos Light"/>
                <a:ea typeface="Calibri"/>
                <a:cs typeface="Calibri"/>
              </a:rPr>
              <a:t>early</a:t>
            </a:r>
            <a:r>
              <a:rPr lang="en-US" sz="2400">
                <a:solidFill>
                  <a:schemeClr val="tx1"/>
                </a:solidFill>
                <a:latin typeface="Aptos Light"/>
                <a:ea typeface="+mn-lt"/>
                <a:cs typeface="+mn-lt"/>
              </a:rPr>
              <a:t> and often throughout development to catch accessibility issues as soon as they appear</a:t>
            </a:r>
            <a:endParaRPr lang="en-US" sz="2400">
              <a:solidFill>
                <a:schemeClr val="tx1"/>
              </a:solidFill>
              <a:latin typeface="Aptos Light"/>
              <a:ea typeface="Calibri"/>
              <a:cs typeface="Calibri"/>
            </a:endParaRPr>
          </a:p>
        </p:txBody>
      </p:sp>
      <p:sp>
        <p:nvSpPr>
          <p:cNvPr id="12" name="Right Arrow 7">
            <a:extLst>
              <a:ext uri="{FF2B5EF4-FFF2-40B4-BE49-F238E27FC236}">
                <a16:creationId xmlns:a16="http://schemas.microsoft.com/office/drawing/2014/main" id="{2E6661EF-6188-76E8-3AAA-B3D58A066DCF}"/>
              </a:ext>
              <a:ext uri="{C183D7F6-B498-43B3-948B-1728B52AA6E4}">
                <adec:decorative xmlns:adec="http://schemas.microsoft.com/office/drawing/2017/decorative" val="1"/>
              </a:ext>
            </a:extLst>
          </p:cNvPr>
          <p:cNvSpPr/>
          <p:nvPr/>
        </p:nvSpPr>
        <p:spPr>
          <a:xfrm>
            <a:off x="5757577" y="1918405"/>
            <a:ext cx="717176" cy="666974"/>
          </a:xfrm>
          <a:prstGeom prst="rightArrow">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6">
            <a:extLst>
              <a:ext uri="{FF2B5EF4-FFF2-40B4-BE49-F238E27FC236}">
                <a16:creationId xmlns:a16="http://schemas.microsoft.com/office/drawing/2014/main" id="{487179A6-EE7D-AE70-3D60-C58085D2F1B5}"/>
              </a:ext>
            </a:extLst>
          </p:cNvPr>
          <p:cNvSpPr/>
          <p:nvPr/>
        </p:nvSpPr>
        <p:spPr>
          <a:xfrm>
            <a:off x="6501206" y="1445277"/>
            <a:ext cx="5234153" cy="1755121"/>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tx1"/>
                </a:solidFill>
                <a:latin typeface="Aptos"/>
              </a:rPr>
              <a:t>Goal: </a:t>
            </a:r>
            <a:r>
              <a:rPr lang="en-US" sz="2400">
                <a:solidFill>
                  <a:schemeClr val="tx1"/>
                </a:solidFill>
                <a:latin typeface="Aptos Light"/>
              </a:rPr>
              <a:t>zero </a:t>
            </a:r>
            <a:r>
              <a:rPr lang="en-US" sz="2400">
                <a:solidFill>
                  <a:schemeClr val="tx1"/>
                </a:solidFill>
                <a:latin typeface="Aptos Light"/>
                <a:ea typeface="+mn-lt"/>
                <a:cs typeface="+mn-lt"/>
              </a:rPr>
              <a:t>unexplained issues on Step 1 (Automated checks) and Step 2 (Tab stops). </a:t>
            </a:r>
            <a:endParaRPr lang="en-US" sz="2400">
              <a:solidFill>
                <a:schemeClr val="tx1"/>
              </a:solidFill>
              <a:latin typeface="Aptos Light"/>
            </a:endParaRPr>
          </a:p>
        </p:txBody>
      </p:sp>
      <p:sp>
        <p:nvSpPr>
          <p:cNvPr id="14" name="Rounded Rectangle 9">
            <a:extLst>
              <a:ext uri="{FF2B5EF4-FFF2-40B4-BE49-F238E27FC236}">
                <a16:creationId xmlns:a16="http://schemas.microsoft.com/office/drawing/2014/main" id="{00B07F93-01E5-D996-4C18-8C341090F7FC}"/>
              </a:ext>
            </a:extLst>
          </p:cNvPr>
          <p:cNvSpPr/>
          <p:nvPr/>
        </p:nvSpPr>
        <p:spPr>
          <a:xfrm>
            <a:off x="456641" y="3410187"/>
            <a:ext cx="11278718" cy="45182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lIns="91440" tIns="45720" rIns="91440" bIns="45720" rtlCol="0" anchor="ctr"/>
          <a:lstStyle/>
          <a:p>
            <a:pPr algn="ctr"/>
            <a:r>
              <a:rPr lang="en-US"/>
              <a:t>How to use this tool</a:t>
            </a:r>
          </a:p>
        </p:txBody>
      </p:sp>
      <p:sp>
        <p:nvSpPr>
          <p:cNvPr id="16" name="TextBox 15">
            <a:extLst>
              <a:ext uri="{FF2B5EF4-FFF2-40B4-BE49-F238E27FC236}">
                <a16:creationId xmlns:a16="http://schemas.microsoft.com/office/drawing/2014/main" id="{EAF403CF-E9D5-AB2B-D033-8C156A6BBB08}"/>
              </a:ext>
            </a:extLst>
          </p:cNvPr>
          <p:cNvSpPr txBox="1"/>
          <p:nvPr/>
        </p:nvSpPr>
        <p:spPr>
          <a:xfrm>
            <a:off x="456641" y="4213684"/>
            <a:ext cx="5890290" cy="1831271"/>
          </a:xfrm>
          <a:prstGeom prst="rect">
            <a:avLst/>
          </a:prstGeom>
          <a:noFill/>
        </p:spPr>
        <p:txBody>
          <a:bodyPr wrap="square" lIns="91440" tIns="45720" rIns="91440" bIns="45720" anchor="t">
            <a:spAutoFit/>
          </a:bodyPr>
          <a:lstStyle/>
          <a:p>
            <a:pPr>
              <a:spcAft>
                <a:spcPts val="600"/>
              </a:spcAft>
            </a:pPr>
            <a:r>
              <a:rPr lang="en-US">
                <a:latin typeface="Aptos Light"/>
              </a:rPr>
              <a:t>Microsoft created the </a:t>
            </a:r>
            <a:r>
              <a:rPr lang="en-US">
                <a:latin typeface="Aptos SemiBold"/>
              </a:rPr>
              <a:t>Accessibility Insights</a:t>
            </a:r>
            <a:r>
              <a:rPr lang="en-US">
                <a:latin typeface="Aptos Light"/>
              </a:rPr>
              <a:t> tool for internal use and makes it available to the public. </a:t>
            </a:r>
            <a:endParaRPr lang="en-US"/>
          </a:p>
          <a:p>
            <a:pPr>
              <a:spcAft>
                <a:spcPts val="600"/>
              </a:spcAft>
            </a:pPr>
            <a:r>
              <a:rPr lang="en-US">
                <a:latin typeface="Aptos Light"/>
              </a:rPr>
              <a:t>Its </a:t>
            </a:r>
            <a:r>
              <a:rPr lang="en-US" err="1">
                <a:latin typeface="Aptos SemiBold"/>
              </a:rPr>
              <a:t>FastPass</a:t>
            </a:r>
            <a:r>
              <a:rPr lang="en-US">
                <a:latin typeface="Aptos SemiBold"/>
              </a:rPr>
              <a:t> </a:t>
            </a:r>
            <a:r>
              <a:rPr lang="en-US">
                <a:latin typeface="Aptos Light"/>
              </a:rPr>
              <a:t>test provides clear guidance for anyone to check for most accessibility issues in a couple of minutes. Microsoft recommends that its engineers use </a:t>
            </a:r>
            <a:r>
              <a:rPr lang="en-US" err="1">
                <a:latin typeface="Aptos Light"/>
              </a:rPr>
              <a:t>FastPass</a:t>
            </a:r>
            <a:r>
              <a:rPr lang="en-US">
                <a:latin typeface="Aptos Light"/>
              </a:rPr>
              <a:t> every time they commit code. </a:t>
            </a:r>
          </a:p>
        </p:txBody>
      </p:sp>
      <p:sp>
        <p:nvSpPr>
          <p:cNvPr id="18" name="Rounded Rectangle 6">
            <a:extLst>
              <a:ext uri="{FF2B5EF4-FFF2-40B4-BE49-F238E27FC236}">
                <a16:creationId xmlns:a16="http://schemas.microsoft.com/office/drawing/2014/main" id="{3777CA6A-0B45-B987-FC27-99A6555B0F7B}"/>
              </a:ext>
            </a:extLst>
          </p:cNvPr>
          <p:cNvSpPr/>
          <p:nvPr/>
        </p:nvSpPr>
        <p:spPr>
          <a:xfrm>
            <a:off x="6346931" y="4025206"/>
            <a:ext cx="5010995" cy="248149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tx1"/>
                </a:solidFill>
                <a:latin typeface="Aptos"/>
              </a:rPr>
              <a:t>Download browser extension Accessibility Insights</a:t>
            </a:r>
            <a:endParaRPr lang="en-US"/>
          </a:p>
          <a:p>
            <a:pPr marL="285750" indent="-285750">
              <a:lnSpc>
                <a:spcPct val="90000"/>
              </a:lnSpc>
              <a:spcBef>
                <a:spcPts val="1000"/>
              </a:spcBef>
              <a:buFont typeface="Wingdings"/>
              <a:buChar char="v"/>
            </a:pPr>
            <a:r>
              <a:rPr lang="en-US">
                <a:solidFill>
                  <a:schemeClr val="tx1"/>
                </a:solidFill>
                <a:latin typeface="Aptos"/>
              </a:rPr>
              <a:t>Available on </a:t>
            </a:r>
            <a:r>
              <a:rPr lang="en-US" b="1">
                <a:solidFill>
                  <a:schemeClr val="tx1"/>
                </a:solidFill>
                <a:latin typeface="Aptos Light"/>
                <a:hlinkClick r:id="rId2"/>
              </a:rPr>
              <a:t>Chrome</a:t>
            </a:r>
            <a:r>
              <a:rPr lang="en-US" b="1">
                <a:solidFill>
                  <a:schemeClr val="tx1"/>
                </a:solidFill>
                <a:latin typeface="Aptos Light"/>
              </a:rPr>
              <a:t> &amp; </a:t>
            </a:r>
            <a:r>
              <a:rPr lang="en-US" b="1">
                <a:solidFill>
                  <a:schemeClr val="tx1"/>
                </a:solidFill>
                <a:latin typeface="Aptos Light"/>
                <a:hlinkClick r:id="rId3"/>
              </a:rPr>
              <a:t>Edge</a:t>
            </a:r>
            <a:r>
              <a:rPr lang="en-US" b="1">
                <a:solidFill>
                  <a:schemeClr val="tx1"/>
                </a:solidFill>
                <a:latin typeface="Aptos Light"/>
              </a:rPr>
              <a:t> browsers</a:t>
            </a:r>
            <a:endParaRPr lang="en-US">
              <a:solidFill>
                <a:schemeClr val="tx1"/>
              </a:solidFill>
            </a:endParaRPr>
          </a:p>
          <a:p>
            <a:pPr marL="285750" indent="-285750">
              <a:lnSpc>
                <a:spcPct val="90000"/>
              </a:lnSpc>
              <a:spcBef>
                <a:spcPts val="1000"/>
              </a:spcBef>
              <a:buFont typeface="Wingdings"/>
              <a:buChar char="v"/>
            </a:pPr>
            <a:r>
              <a:rPr lang="en-US">
                <a:solidFill>
                  <a:schemeClr val="tx1"/>
                </a:solidFill>
                <a:latin typeface="Aptos"/>
              </a:rPr>
              <a:t>Open-source and approved by Cyber Command</a:t>
            </a:r>
          </a:p>
          <a:p>
            <a:pPr marL="285750" indent="-285750">
              <a:lnSpc>
                <a:spcPct val="90000"/>
              </a:lnSpc>
              <a:spcBef>
                <a:spcPts val="1000"/>
              </a:spcBef>
              <a:buFont typeface="Wingdings"/>
              <a:buChar char="v"/>
            </a:pPr>
            <a:r>
              <a:rPr lang="en-US">
                <a:solidFill>
                  <a:schemeClr val="tx1"/>
                </a:solidFill>
                <a:latin typeface="Aptos"/>
                <a:hlinkClick r:id="rId4"/>
              </a:rPr>
              <a:t>Link to official documentation</a:t>
            </a:r>
            <a:endParaRPr lang="en-US">
              <a:solidFill>
                <a:schemeClr val="tx1"/>
              </a:solidFill>
              <a:latin typeface="Aptos"/>
            </a:endParaRPr>
          </a:p>
        </p:txBody>
      </p:sp>
    </p:spTree>
    <p:extLst>
      <p:ext uri="{BB962C8B-B14F-4D97-AF65-F5344CB8AC3E}">
        <p14:creationId xmlns:p14="http://schemas.microsoft.com/office/powerpoint/2010/main" val="3570373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DC691-B21D-86F4-E63A-B8F8194E344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459CF1-79EA-89DF-B67E-7CFB08C16E86}"/>
              </a:ext>
            </a:extLst>
          </p:cNvPr>
          <p:cNvSpPr>
            <a:spLocks noGrp="1"/>
          </p:cNvSpPr>
          <p:nvPr>
            <p:ph type="sldNum" sz="quarter" idx="11"/>
          </p:nvPr>
        </p:nvSpPr>
        <p:spPr/>
        <p:txBody>
          <a:bodyPr/>
          <a:lstStyle/>
          <a:p>
            <a:fld id="{28874E94-A9F8-5A41-9D43-235A602D77DE}" type="slidenum">
              <a:rPr lang="en-US" smtClean="0"/>
              <a:pPr/>
              <a:t>20</a:t>
            </a:fld>
            <a:endParaRPr lang="en-US">
              <a:latin typeface="Aptos" panose="020B0004020202020204" pitchFamily="34" charset="0"/>
            </a:endParaRPr>
          </a:p>
        </p:txBody>
      </p:sp>
      <p:sp>
        <p:nvSpPr>
          <p:cNvPr id="28" name="Text Placeholder 2">
            <a:extLst>
              <a:ext uri="{FF2B5EF4-FFF2-40B4-BE49-F238E27FC236}">
                <a16:creationId xmlns:a16="http://schemas.microsoft.com/office/drawing/2014/main" id="{B9CF64F0-2D71-12A4-3FAB-83F3EB70AF45}"/>
              </a:ext>
            </a:extLst>
          </p:cNvPr>
          <p:cNvSpPr>
            <a:spLocks noGrp="1"/>
          </p:cNvSpPr>
          <p:nvPr>
            <p:ph type="body" sz="quarter" idx="13"/>
          </p:nvPr>
        </p:nvSpPr>
        <p:spPr>
          <a:xfrm>
            <a:off x="456642" y="379990"/>
            <a:ext cx="2194560" cy="267710"/>
          </a:xfrm>
        </p:spPr>
        <p:txBody>
          <a:bodyPr>
            <a:normAutofit fontScale="92500" lnSpcReduction="10000"/>
          </a:bodyPr>
          <a:lstStyle/>
          <a:p>
            <a:r>
              <a:rPr lang="en-US">
                <a:latin typeface="Aptos"/>
              </a:rPr>
              <a:t>2) </a:t>
            </a:r>
            <a:r>
              <a:rPr lang="en-US"/>
              <a:t>FastPass test</a:t>
            </a:r>
          </a:p>
        </p:txBody>
      </p:sp>
      <p:sp>
        <p:nvSpPr>
          <p:cNvPr id="4" name="Title 3">
            <a:extLst>
              <a:ext uri="{FF2B5EF4-FFF2-40B4-BE49-F238E27FC236}">
                <a16:creationId xmlns:a16="http://schemas.microsoft.com/office/drawing/2014/main" id="{17DDD5DD-65BE-1579-2D0A-D422E335CA2C}"/>
              </a:ext>
            </a:extLst>
          </p:cNvPr>
          <p:cNvSpPr>
            <a:spLocks noGrp="1"/>
          </p:cNvSpPr>
          <p:nvPr>
            <p:ph type="title"/>
          </p:nvPr>
        </p:nvSpPr>
        <p:spPr/>
        <p:txBody>
          <a:bodyPr>
            <a:normAutofit fontScale="90000"/>
          </a:bodyPr>
          <a:lstStyle/>
          <a:p>
            <a:r>
              <a:rPr lang="en-US" b="1">
                <a:latin typeface="Aptos ExtraBold" panose="020B0004020202020204" pitchFamily="34" charset="0"/>
              </a:rPr>
              <a:t>The FastPass test</a:t>
            </a:r>
          </a:p>
        </p:txBody>
      </p:sp>
      <p:sp>
        <p:nvSpPr>
          <p:cNvPr id="5" name="Text Placeholder 4">
            <a:extLst>
              <a:ext uri="{FF2B5EF4-FFF2-40B4-BE49-F238E27FC236}">
                <a16:creationId xmlns:a16="http://schemas.microsoft.com/office/drawing/2014/main" id="{C590F0BC-B020-E9D2-E0BF-4A6F9AEB7568}"/>
              </a:ext>
            </a:extLst>
          </p:cNvPr>
          <p:cNvSpPr>
            <a:spLocks noGrp="1"/>
          </p:cNvSpPr>
          <p:nvPr>
            <p:ph type="body" sz="quarter" idx="12"/>
          </p:nvPr>
        </p:nvSpPr>
        <p:spPr>
          <a:xfrm>
            <a:off x="443059" y="1355195"/>
            <a:ext cx="11377234" cy="275486"/>
          </a:xfrm>
        </p:spPr>
        <p:txBody>
          <a:bodyPr vert="horz" lIns="91440" tIns="45720" rIns="91440" bIns="45720" rtlCol="0" anchor="t">
            <a:noAutofit/>
          </a:bodyPr>
          <a:lstStyle/>
          <a:p>
            <a:r>
              <a:rPr lang="en-US" sz="1800">
                <a:latin typeface="Aptos Light"/>
              </a:rPr>
              <a:t>Starting testing a website with FastPass in just two clicks: </a:t>
            </a:r>
          </a:p>
        </p:txBody>
      </p:sp>
      <p:pic>
        <p:nvPicPr>
          <p:cNvPr id="7" name="Picture 6" descr="Screenshot of OTI website homepage">
            <a:extLst>
              <a:ext uri="{FF2B5EF4-FFF2-40B4-BE49-F238E27FC236}">
                <a16:creationId xmlns:a16="http://schemas.microsoft.com/office/drawing/2014/main" id="{E89031CB-B3F3-6572-0B0D-063776D0F57C}"/>
              </a:ext>
            </a:extLst>
          </p:cNvPr>
          <p:cNvPicPr>
            <a:picLocks noChangeAspect="1"/>
          </p:cNvPicPr>
          <p:nvPr/>
        </p:nvPicPr>
        <p:blipFill>
          <a:blip r:embed="rId2"/>
          <a:srcRect r="-95" b="59518"/>
          <a:stretch>
            <a:fillRect/>
          </a:stretch>
        </p:blipFill>
        <p:spPr>
          <a:xfrm>
            <a:off x="1507118" y="2597727"/>
            <a:ext cx="9186436" cy="2685123"/>
          </a:xfrm>
          <a:prstGeom prst="rect">
            <a:avLst/>
          </a:prstGeom>
        </p:spPr>
      </p:pic>
    </p:spTree>
    <p:extLst>
      <p:ext uri="{BB962C8B-B14F-4D97-AF65-F5344CB8AC3E}">
        <p14:creationId xmlns:p14="http://schemas.microsoft.com/office/powerpoint/2010/main" val="27087892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51AC4-F04B-E87F-9C2D-B353DAB13DB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D8B75E-DE39-5FAF-9A19-BC6DA689B107}"/>
              </a:ext>
            </a:extLst>
          </p:cNvPr>
          <p:cNvSpPr>
            <a:spLocks noGrp="1"/>
          </p:cNvSpPr>
          <p:nvPr>
            <p:ph type="sldNum" sz="quarter" idx="11"/>
          </p:nvPr>
        </p:nvSpPr>
        <p:spPr/>
        <p:txBody>
          <a:bodyPr/>
          <a:lstStyle/>
          <a:p>
            <a:fld id="{28874E94-A9F8-5A41-9D43-235A602D77DE}" type="slidenum">
              <a:rPr lang="en-US" smtClean="0"/>
              <a:pPr/>
              <a:t>21</a:t>
            </a:fld>
            <a:endParaRPr lang="en-US">
              <a:latin typeface="Aptos" panose="020B0004020202020204" pitchFamily="34" charset="0"/>
            </a:endParaRPr>
          </a:p>
        </p:txBody>
      </p:sp>
      <p:sp>
        <p:nvSpPr>
          <p:cNvPr id="28" name="Text Placeholder 2">
            <a:extLst>
              <a:ext uri="{FF2B5EF4-FFF2-40B4-BE49-F238E27FC236}">
                <a16:creationId xmlns:a16="http://schemas.microsoft.com/office/drawing/2014/main" id="{C2CD0A31-1014-00CA-544E-60D899396A1C}"/>
              </a:ext>
            </a:extLst>
          </p:cNvPr>
          <p:cNvSpPr>
            <a:spLocks noGrp="1"/>
          </p:cNvSpPr>
          <p:nvPr>
            <p:ph type="body" sz="quarter" idx="13"/>
          </p:nvPr>
        </p:nvSpPr>
        <p:spPr>
          <a:xfrm>
            <a:off x="456642" y="379990"/>
            <a:ext cx="2194560" cy="267710"/>
          </a:xfrm>
        </p:spPr>
        <p:txBody>
          <a:bodyPr>
            <a:normAutofit fontScale="92500" lnSpcReduction="10000"/>
          </a:bodyPr>
          <a:lstStyle/>
          <a:p>
            <a:r>
              <a:rPr lang="en-US">
                <a:latin typeface="Aptos"/>
              </a:rPr>
              <a:t>2) </a:t>
            </a:r>
            <a:r>
              <a:rPr lang="en-US"/>
              <a:t>FastPass test</a:t>
            </a:r>
          </a:p>
        </p:txBody>
      </p:sp>
      <p:sp>
        <p:nvSpPr>
          <p:cNvPr id="4" name="Title 3">
            <a:extLst>
              <a:ext uri="{FF2B5EF4-FFF2-40B4-BE49-F238E27FC236}">
                <a16:creationId xmlns:a16="http://schemas.microsoft.com/office/drawing/2014/main" id="{ED8F7D28-7F6A-8DE6-0519-BC6513E81C43}"/>
              </a:ext>
            </a:extLst>
          </p:cNvPr>
          <p:cNvSpPr>
            <a:spLocks noGrp="1"/>
          </p:cNvSpPr>
          <p:nvPr>
            <p:ph type="title"/>
          </p:nvPr>
        </p:nvSpPr>
        <p:spPr/>
        <p:txBody>
          <a:bodyPr>
            <a:normAutofit fontScale="90000"/>
          </a:bodyPr>
          <a:lstStyle/>
          <a:p>
            <a:r>
              <a:rPr lang="en-US" b="1">
                <a:latin typeface="Aptos ExtraBold" panose="020B0004020202020204" pitchFamily="34" charset="0"/>
              </a:rPr>
              <a:t>The FastPass test</a:t>
            </a:r>
            <a:endParaRPr lang="en-US">
              <a:latin typeface="Aptos"/>
            </a:endParaRPr>
          </a:p>
        </p:txBody>
      </p:sp>
      <p:sp>
        <p:nvSpPr>
          <p:cNvPr id="5" name="Text Placeholder 4">
            <a:extLst>
              <a:ext uri="{FF2B5EF4-FFF2-40B4-BE49-F238E27FC236}">
                <a16:creationId xmlns:a16="http://schemas.microsoft.com/office/drawing/2014/main" id="{E814F80F-BEF9-6DED-86B4-D2F14EA153C8}"/>
              </a:ext>
            </a:extLst>
          </p:cNvPr>
          <p:cNvSpPr>
            <a:spLocks noGrp="1"/>
          </p:cNvSpPr>
          <p:nvPr>
            <p:ph type="body" sz="quarter" idx="12"/>
          </p:nvPr>
        </p:nvSpPr>
        <p:spPr>
          <a:xfrm>
            <a:off x="443059" y="1355195"/>
            <a:ext cx="11377234" cy="275486"/>
          </a:xfrm>
        </p:spPr>
        <p:txBody>
          <a:bodyPr vert="horz" lIns="91440" tIns="45720" rIns="91440" bIns="45720" rtlCol="0" anchor="t">
            <a:noAutofit/>
          </a:bodyPr>
          <a:lstStyle/>
          <a:p>
            <a:r>
              <a:rPr lang="en-US" sz="1800">
                <a:latin typeface="Aptos Light"/>
              </a:rPr>
              <a:t>Starting testing a website with FastPass in just two clicks: (</a:t>
            </a:r>
            <a:r>
              <a:rPr lang="en-US" sz="1800" b="1">
                <a:latin typeface="Aptos Light"/>
              </a:rPr>
              <a:t>A</a:t>
            </a:r>
            <a:r>
              <a:rPr lang="en-US" sz="1800">
                <a:latin typeface="Aptos Light"/>
              </a:rPr>
              <a:t>) Open the Accessibility Insights extension icon</a:t>
            </a:r>
            <a:endParaRPr lang="en-US" sz="1800"/>
          </a:p>
        </p:txBody>
      </p:sp>
      <p:pic>
        <p:nvPicPr>
          <p:cNvPr id="12" name="Picture 11" descr="Screenshot of Accessibility Insights plugin menu with box around A showing icon for extension button in the browser toolbar">
            <a:extLst>
              <a:ext uri="{FF2B5EF4-FFF2-40B4-BE49-F238E27FC236}">
                <a16:creationId xmlns:a16="http://schemas.microsoft.com/office/drawing/2014/main" id="{8583A33C-13D1-871C-9504-8292CF79075A}"/>
              </a:ext>
            </a:extLst>
          </p:cNvPr>
          <p:cNvPicPr>
            <a:picLocks noChangeAspect="1"/>
          </p:cNvPicPr>
          <p:nvPr/>
        </p:nvPicPr>
        <p:blipFill>
          <a:blip r:embed="rId2"/>
          <a:srcRect l="535" t="500" r="94" b="59818"/>
          <a:stretch>
            <a:fillRect/>
          </a:stretch>
        </p:blipFill>
        <p:spPr>
          <a:xfrm>
            <a:off x="1552017" y="2640999"/>
            <a:ext cx="9128429" cy="2643640"/>
          </a:xfrm>
          <a:prstGeom prst="rect">
            <a:avLst/>
          </a:prstGeom>
        </p:spPr>
      </p:pic>
      <p:sp>
        <p:nvSpPr>
          <p:cNvPr id="19" name="Rectangle 18">
            <a:extLst>
              <a:ext uri="{FF2B5EF4-FFF2-40B4-BE49-F238E27FC236}">
                <a16:creationId xmlns:a16="http://schemas.microsoft.com/office/drawing/2014/main" id="{0430629F-0373-E125-B958-A4106B217840}"/>
              </a:ext>
              <a:ext uri="{C183D7F6-B498-43B3-948B-1728B52AA6E4}">
                <adec:decorative xmlns:adec="http://schemas.microsoft.com/office/drawing/2017/decorative" val="1"/>
              </a:ext>
            </a:extLst>
          </p:cNvPr>
          <p:cNvSpPr/>
          <p:nvPr/>
        </p:nvSpPr>
        <p:spPr>
          <a:xfrm>
            <a:off x="9255105" y="2771295"/>
            <a:ext cx="603372" cy="551812"/>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AB3C34A-5715-4BA2-3A94-289CCE043F58}"/>
              </a:ext>
            </a:extLst>
          </p:cNvPr>
          <p:cNvSpPr txBox="1"/>
          <p:nvPr/>
        </p:nvSpPr>
        <p:spPr>
          <a:xfrm>
            <a:off x="8884491" y="2376897"/>
            <a:ext cx="402674" cy="523220"/>
          </a:xfrm>
          <a:prstGeom prst="rect">
            <a:avLst/>
          </a:prstGeom>
          <a:noFill/>
        </p:spPr>
        <p:txBody>
          <a:bodyPr wrap="none" rtlCol="0">
            <a:spAutoFit/>
          </a:bodyPr>
          <a:lstStyle/>
          <a:p>
            <a:r>
              <a:rPr lang="en-US" sz="2800" b="1">
                <a:solidFill>
                  <a:srgbClr val="00B050"/>
                </a:solidFill>
              </a:rPr>
              <a:t>A</a:t>
            </a:r>
          </a:p>
        </p:txBody>
      </p:sp>
    </p:spTree>
    <p:extLst>
      <p:ext uri="{BB962C8B-B14F-4D97-AF65-F5344CB8AC3E}">
        <p14:creationId xmlns:p14="http://schemas.microsoft.com/office/powerpoint/2010/main" val="35047261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0638A-8870-CB8C-9A64-A033DD6EB3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0CD1A4-B360-3E82-750E-FBD3E6C242C4}"/>
              </a:ext>
            </a:extLst>
          </p:cNvPr>
          <p:cNvSpPr>
            <a:spLocks noGrp="1"/>
          </p:cNvSpPr>
          <p:nvPr>
            <p:ph type="sldNum" sz="quarter" idx="11"/>
          </p:nvPr>
        </p:nvSpPr>
        <p:spPr/>
        <p:txBody>
          <a:bodyPr/>
          <a:lstStyle/>
          <a:p>
            <a:fld id="{28874E94-A9F8-5A41-9D43-235A602D77DE}" type="slidenum">
              <a:rPr lang="en-US" smtClean="0"/>
              <a:pPr/>
              <a:t>22</a:t>
            </a:fld>
            <a:endParaRPr lang="en-US">
              <a:latin typeface="Aptos" panose="020B0004020202020204" pitchFamily="34" charset="0"/>
            </a:endParaRPr>
          </a:p>
        </p:txBody>
      </p:sp>
      <p:sp>
        <p:nvSpPr>
          <p:cNvPr id="28" name="Text Placeholder 2">
            <a:extLst>
              <a:ext uri="{FF2B5EF4-FFF2-40B4-BE49-F238E27FC236}">
                <a16:creationId xmlns:a16="http://schemas.microsoft.com/office/drawing/2014/main" id="{B2205311-93EC-0F6A-3B25-45950B62CD67}"/>
              </a:ext>
            </a:extLst>
          </p:cNvPr>
          <p:cNvSpPr>
            <a:spLocks noGrp="1"/>
          </p:cNvSpPr>
          <p:nvPr>
            <p:ph type="body" sz="quarter" idx="13"/>
          </p:nvPr>
        </p:nvSpPr>
        <p:spPr>
          <a:xfrm>
            <a:off x="456642" y="379990"/>
            <a:ext cx="2194560" cy="267710"/>
          </a:xfrm>
        </p:spPr>
        <p:txBody>
          <a:bodyPr>
            <a:normAutofit fontScale="92500" lnSpcReduction="10000"/>
          </a:bodyPr>
          <a:lstStyle/>
          <a:p>
            <a:r>
              <a:rPr lang="en-US">
                <a:latin typeface="Aptos"/>
              </a:rPr>
              <a:t>2) </a:t>
            </a:r>
            <a:r>
              <a:rPr lang="en-US"/>
              <a:t>FastPass test</a:t>
            </a:r>
          </a:p>
        </p:txBody>
      </p:sp>
      <p:sp>
        <p:nvSpPr>
          <p:cNvPr id="4" name="Title 3">
            <a:extLst>
              <a:ext uri="{FF2B5EF4-FFF2-40B4-BE49-F238E27FC236}">
                <a16:creationId xmlns:a16="http://schemas.microsoft.com/office/drawing/2014/main" id="{FE8AA2A2-8354-D414-095C-F06C2081D4CA}"/>
              </a:ext>
            </a:extLst>
          </p:cNvPr>
          <p:cNvSpPr>
            <a:spLocks noGrp="1"/>
          </p:cNvSpPr>
          <p:nvPr>
            <p:ph type="title"/>
          </p:nvPr>
        </p:nvSpPr>
        <p:spPr/>
        <p:txBody>
          <a:bodyPr>
            <a:normAutofit fontScale="90000"/>
          </a:bodyPr>
          <a:lstStyle/>
          <a:p>
            <a:r>
              <a:rPr lang="en-US" b="1">
                <a:latin typeface="Aptos ExtraBold" panose="020B0004020202020204" pitchFamily="34" charset="0"/>
              </a:rPr>
              <a:t>The FastPass test</a:t>
            </a:r>
            <a:endParaRPr lang="en-US">
              <a:latin typeface="Aptos"/>
            </a:endParaRPr>
          </a:p>
        </p:txBody>
      </p:sp>
      <p:sp>
        <p:nvSpPr>
          <p:cNvPr id="5" name="Text Placeholder 4">
            <a:extLst>
              <a:ext uri="{FF2B5EF4-FFF2-40B4-BE49-F238E27FC236}">
                <a16:creationId xmlns:a16="http://schemas.microsoft.com/office/drawing/2014/main" id="{2B331E8B-D1DF-8F0C-403C-F2D1A833497F}"/>
              </a:ext>
            </a:extLst>
          </p:cNvPr>
          <p:cNvSpPr>
            <a:spLocks noGrp="1"/>
          </p:cNvSpPr>
          <p:nvPr>
            <p:ph type="body" sz="quarter" idx="12"/>
          </p:nvPr>
        </p:nvSpPr>
        <p:spPr>
          <a:xfrm>
            <a:off x="443059" y="1355195"/>
            <a:ext cx="11377234" cy="275486"/>
          </a:xfrm>
        </p:spPr>
        <p:txBody>
          <a:bodyPr vert="horz" lIns="91440" tIns="45720" rIns="91440" bIns="45720" rtlCol="0" anchor="t">
            <a:noAutofit/>
          </a:bodyPr>
          <a:lstStyle/>
          <a:p>
            <a:r>
              <a:rPr lang="en-US" sz="1800">
                <a:latin typeface="Aptos Light"/>
              </a:rPr>
              <a:t>Starting testing a website with FastPass in just two clicks: </a:t>
            </a:r>
            <a:r>
              <a:rPr lang="en-US" sz="1800" b="1">
                <a:latin typeface="Aptos Light"/>
              </a:rPr>
              <a:t>(A)</a:t>
            </a:r>
            <a:r>
              <a:rPr lang="en-US" sz="1800">
                <a:latin typeface="Aptos Light"/>
              </a:rPr>
              <a:t> Open the Accessibility Insights extension icon and </a:t>
            </a:r>
            <a:r>
              <a:rPr lang="en-US" sz="1800" b="1">
                <a:latin typeface="Aptos Light"/>
              </a:rPr>
              <a:t>(B)</a:t>
            </a:r>
            <a:r>
              <a:rPr lang="en-US" sz="1800">
                <a:latin typeface="Aptos Light"/>
              </a:rPr>
              <a:t> select FastPass from the menu.</a:t>
            </a:r>
            <a:endParaRPr lang="en-US"/>
          </a:p>
        </p:txBody>
      </p:sp>
      <p:pic>
        <p:nvPicPr>
          <p:cNvPr id="12" name="Picture 11" descr="Screenshot of Accessibility Insights plugin menu with box around B showing FastPass test launch point in the extension menu.">
            <a:extLst>
              <a:ext uri="{FF2B5EF4-FFF2-40B4-BE49-F238E27FC236}">
                <a16:creationId xmlns:a16="http://schemas.microsoft.com/office/drawing/2014/main" id="{03EDC432-342B-AF25-FE59-A895E07CFEC6}"/>
              </a:ext>
            </a:extLst>
          </p:cNvPr>
          <p:cNvPicPr>
            <a:picLocks noChangeAspect="1"/>
          </p:cNvPicPr>
          <p:nvPr/>
        </p:nvPicPr>
        <p:blipFill>
          <a:blip r:embed="rId2"/>
          <a:srcRect l="535" t="500" r="94" b="59818"/>
          <a:stretch>
            <a:fillRect/>
          </a:stretch>
        </p:blipFill>
        <p:spPr>
          <a:xfrm>
            <a:off x="1552017" y="2640999"/>
            <a:ext cx="9128429" cy="2643640"/>
          </a:xfrm>
          <a:prstGeom prst="rect">
            <a:avLst/>
          </a:prstGeom>
        </p:spPr>
      </p:pic>
      <p:sp>
        <p:nvSpPr>
          <p:cNvPr id="18" name="Rectangle 17">
            <a:extLst>
              <a:ext uri="{FF2B5EF4-FFF2-40B4-BE49-F238E27FC236}">
                <a16:creationId xmlns:a16="http://schemas.microsoft.com/office/drawing/2014/main" id="{6411E9B4-13D1-9616-41EF-7C407CE4DAC3}"/>
              </a:ext>
              <a:ext uri="{C183D7F6-B498-43B3-948B-1728B52AA6E4}">
                <adec:decorative xmlns:adec="http://schemas.microsoft.com/office/drawing/2017/decorative" val="1"/>
              </a:ext>
            </a:extLst>
          </p:cNvPr>
          <p:cNvSpPr/>
          <p:nvPr/>
        </p:nvSpPr>
        <p:spPr>
          <a:xfrm>
            <a:off x="6300909" y="3833062"/>
            <a:ext cx="3665764" cy="799256"/>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3B095F2F-6CC1-B38D-F484-1BE8FF34D0C3}"/>
              </a:ext>
            </a:extLst>
          </p:cNvPr>
          <p:cNvSpPr txBox="1"/>
          <p:nvPr/>
        </p:nvSpPr>
        <p:spPr>
          <a:xfrm>
            <a:off x="5988516" y="3429000"/>
            <a:ext cx="386644" cy="523220"/>
          </a:xfrm>
          <a:prstGeom prst="rect">
            <a:avLst/>
          </a:prstGeom>
          <a:noFill/>
        </p:spPr>
        <p:txBody>
          <a:bodyPr wrap="none" rtlCol="0">
            <a:spAutoFit/>
          </a:bodyPr>
          <a:lstStyle/>
          <a:p>
            <a:r>
              <a:rPr lang="en-US" sz="2800" b="1">
                <a:solidFill>
                  <a:srgbClr val="00B050"/>
                </a:solidFill>
              </a:rPr>
              <a:t>B</a:t>
            </a:r>
          </a:p>
        </p:txBody>
      </p:sp>
      <p:sp>
        <p:nvSpPr>
          <p:cNvPr id="6" name="TextBox 5">
            <a:extLst>
              <a:ext uri="{FF2B5EF4-FFF2-40B4-BE49-F238E27FC236}">
                <a16:creationId xmlns:a16="http://schemas.microsoft.com/office/drawing/2014/main" id="{3C1EDE9C-3A1D-AEF7-33BE-62C5A05EF973}"/>
              </a:ext>
            </a:extLst>
          </p:cNvPr>
          <p:cNvSpPr txBox="1"/>
          <p:nvPr/>
        </p:nvSpPr>
        <p:spPr>
          <a:xfrm>
            <a:off x="3050628" y="3275112"/>
            <a:ext cx="6101254" cy="307777"/>
          </a:xfrm>
          <a:prstGeom prst="rect">
            <a:avLst/>
          </a:prstGeom>
          <a:noFill/>
        </p:spPr>
        <p:txBody>
          <a:bodyPr wrap="square">
            <a:spAutoFit/>
          </a:bodyPr>
          <a:lstStyle/>
          <a:p>
            <a:r>
              <a:rPr lang="en-US" sz="1400"/>
              <a:t>#2 FastPass test</a:t>
            </a:r>
          </a:p>
        </p:txBody>
      </p:sp>
    </p:spTree>
    <p:extLst>
      <p:ext uri="{BB962C8B-B14F-4D97-AF65-F5344CB8AC3E}">
        <p14:creationId xmlns:p14="http://schemas.microsoft.com/office/powerpoint/2010/main" val="40756570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223D0-7AEE-56AC-D105-A112DA29696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7FCDBD-05B5-066B-DC7C-B1930FDDC3A1}"/>
              </a:ext>
            </a:extLst>
          </p:cNvPr>
          <p:cNvSpPr>
            <a:spLocks noGrp="1"/>
          </p:cNvSpPr>
          <p:nvPr>
            <p:ph type="sldNum" sz="quarter" idx="11"/>
          </p:nvPr>
        </p:nvSpPr>
        <p:spPr/>
        <p:txBody>
          <a:bodyPr/>
          <a:lstStyle/>
          <a:p>
            <a:fld id="{28874E94-A9F8-5A41-9D43-235A602D77DE}" type="slidenum">
              <a:rPr lang="en-US" smtClean="0"/>
              <a:pPr/>
              <a:t>23</a:t>
            </a:fld>
            <a:endParaRPr lang="en-US">
              <a:latin typeface="Aptos" panose="020B0004020202020204" pitchFamily="34" charset="0"/>
            </a:endParaRPr>
          </a:p>
        </p:txBody>
      </p:sp>
      <p:sp>
        <p:nvSpPr>
          <p:cNvPr id="28" name="Text Placeholder 2">
            <a:extLst>
              <a:ext uri="{FF2B5EF4-FFF2-40B4-BE49-F238E27FC236}">
                <a16:creationId xmlns:a16="http://schemas.microsoft.com/office/drawing/2014/main" id="{B5B8ABDD-3B06-8B0F-0FA6-830CC8684663}"/>
              </a:ext>
            </a:extLst>
          </p:cNvPr>
          <p:cNvSpPr>
            <a:spLocks noGrp="1"/>
          </p:cNvSpPr>
          <p:nvPr>
            <p:ph type="body" sz="quarter" idx="13"/>
          </p:nvPr>
        </p:nvSpPr>
        <p:spPr>
          <a:xfrm>
            <a:off x="456642" y="379990"/>
            <a:ext cx="2194560" cy="267710"/>
          </a:xfrm>
        </p:spPr>
        <p:txBody>
          <a:bodyPr>
            <a:normAutofit fontScale="92500" lnSpcReduction="10000"/>
          </a:bodyPr>
          <a:lstStyle/>
          <a:p>
            <a:r>
              <a:rPr lang="en-US">
                <a:latin typeface="Aptos"/>
              </a:rPr>
              <a:t>2) </a:t>
            </a:r>
            <a:r>
              <a:rPr lang="en-US"/>
              <a:t>FastPass test</a:t>
            </a:r>
          </a:p>
        </p:txBody>
      </p:sp>
      <p:sp>
        <p:nvSpPr>
          <p:cNvPr id="4" name="Title 3">
            <a:extLst>
              <a:ext uri="{FF2B5EF4-FFF2-40B4-BE49-F238E27FC236}">
                <a16:creationId xmlns:a16="http://schemas.microsoft.com/office/drawing/2014/main" id="{F808F6A0-3E21-0BC9-B173-B97D5D1F9C68}"/>
              </a:ext>
            </a:extLst>
          </p:cNvPr>
          <p:cNvSpPr>
            <a:spLocks noGrp="1"/>
          </p:cNvSpPr>
          <p:nvPr>
            <p:ph type="title"/>
          </p:nvPr>
        </p:nvSpPr>
        <p:spPr/>
        <p:txBody>
          <a:bodyPr>
            <a:normAutofit fontScale="90000"/>
          </a:bodyPr>
          <a:lstStyle/>
          <a:p>
            <a:r>
              <a:rPr lang="en-US" b="1">
                <a:latin typeface="Aptos ExtraBold" panose="020B0004020202020204" pitchFamily="34" charset="0"/>
              </a:rPr>
              <a:t>The FastPass test</a:t>
            </a:r>
            <a:endParaRPr lang="en-US">
              <a:latin typeface="Aptos"/>
            </a:endParaRPr>
          </a:p>
        </p:txBody>
      </p:sp>
      <p:sp>
        <p:nvSpPr>
          <p:cNvPr id="5" name="Text Placeholder 4">
            <a:extLst>
              <a:ext uri="{FF2B5EF4-FFF2-40B4-BE49-F238E27FC236}">
                <a16:creationId xmlns:a16="http://schemas.microsoft.com/office/drawing/2014/main" id="{28C1F541-7A78-2E56-8D8A-A22094E9D813}"/>
              </a:ext>
            </a:extLst>
          </p:cNvPr>
          <p:cNvSpPr>
            <a:spLocks noGrp="1"/>
          </p:cNvSpPr>
          <p:nvPr>
            <p:ph type="body" sz="quarter" idx="12"/>
          </p:nvPr>
        </p:nvSpPr>
        <p:spPr>
          <a:xfrm>
            <a:off x="443059" y="1355195"/>
            <a:ext cx="11377234" cy="275486"/>
          </a:xfrm>
        </p:spPr>
        <p:txBody>
          <a:bodyPr vert="horz" lIns="91440" tIns="45720" rIns="91440" bIns="45720" rtlCol="0" anchor="t">
            <a:noAutofit/>
          </a:bodyPr>
          <a:lstStyle/>
          <a:p>
            <a:r>
              <a:rPr lang="en-US" sz="1800">
                <a:latin typeface="Aptos Light"/>
              </a:rPr>
              <a:t>This automatically opens a new window in your browser with the test results from Step 1 of </a:t>
            </a:r>
            <a:r>
              <a:rPr lang="en-US" sz="1800" err="1">
                <a:latin typeface="Aptos Light"/>
              </a:rPr>
              <a:t>FastPass</a:t>
            </a:r>
            <a:r>
              <a:rPr lang="en-US" sz="1800">
                <a:latin typeface="Aptos Light"/>
              </a:rPr>
              <a:t> (Automated checks). </a:t>
            </a:r>
            <a:endParaRPr lang="en-US"/>
          </a:p>
        </p:txBody>
      </p:sp>
      <p:pic>
        <p:nvPicPr>
          <p:cNvPr id="6" name="Picture 5" descr="Screenshot of FastPass tool (next to screenshot of OTI homepage website)">
            <a:extLst>
              <a:ext uri="{FF2B5EF4-FFF2-40B4-BE49-F238E27FC236}">
                <a16:creationId xmlns:a16="http://schemas.microsoft.com/office/drawing/2014/main" id="{DD1F79A5-DA61-A0A2-CF0F-6A8EF6DBDCAF}"/>
              </a:ext>
            </a:extLst>
          </p:cNvPr>
          <p:cNvPicPr>
            <a:picLocks noChangeAspect="1"/>
          </p:cNvPicPr>
          <p:nvPr/>
        </p:nvPicPr>
        <p:blipFill>
          <a:blip r:embed="rId2"/>
          <a:srcRect b="49698"/>
          <a:stretch>
            <a:fillRect/>
          </a:stretch>
        </p:blipFill>
        <p:spPr>
          <a:xfrm>
            <a:off x="6270774" y="3059642"/>
            <a:ext cx="5396173" cy="1963268"/>
          </a:xfrm>
          <a:prstGeom prst="rect">
            <a:avLst/>
          </a:prstGeom>
        </p:spPr>
      </p:pic>
      <p:pic>
        <p:nvPicPr>
          <p:cNvPr id="8" name="Picture 7" descr="Screenshot of OTI website homepage next to screenshot of Accessibility Insights test results.">
            <a:extLst>
              <a:ext uri="{FF2B5EF4-FFF2-40B4-BE49-F238E27FC236}">
                <a16:creationId xmlns:a16="http://schemas.microsoft.com/office/drawing/2014/main" id="{51BD6881-80BA-B885-73CD-C831B554F67D}"/>
              </a:ext>
            </a:extLst>
          </p:cNvPr>
          <p:cNvPicPr>
            <a:picLocks noChangeAspect="1"/>
          </p:cNvPicPr>
          <p:nvPr/>
        </p:nvPicPr>
        <p:blipFill>
          <a:blip r:embed="rId3"/>
          <a:srcRect l="41" t="-75" b="49484"/>
          <a:stretch>
            <a:fillRect/>
          </a:stretch>
        </p:blipFill>
        <p:spPr>
          <a:xfrm>
            <a:off x="412037" y="3059642"/>
            <a:ext cx="5391977" cy="1955772"/>
          </a:xfrm>
          <a:prstGeom prst="rect">
            <a:avLst/>
          </a:prstGeom>
        </p:spPr>
      </p:pic>
    </p:spTree>
    <p:extLst>
      <p:ext uri="{BB962C8B-B14F-4D97-AF65-F5344CB8AC3E}">
        <p14:creationId xmlns:p14="http://schemas.microsoft.com/office/powerpoint/2010/main" val="36573931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7E821-8469-5823-10C2-6D18BD2D9A8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6452F3-6CC8-16CA-B6C6-9539AA7F70FB}"/>
              </a:ext>
            </a:extLst>
          </p:cNvPr>
          <p:cNvSpPr>
            <a:spLocks noGrp="1"/>
          </p:cNvSpPr>
          <p:nvPr>
            <p:ph type="sldNum" sz="quarter" idx="11"/>
          </p:nvPr>
        </p:nvSpPr>
        <p:spPr/>
        <p:txBody>
          <a:bodyPr/>
          <a:lstStyle/>
          <a:p>
            <a:fld id="{28874E94-A9F8-5A41-9D43-235A602D77DE}" type="slidenum">
              <a:rPr lang="en-US" smtClean="0"/>
              <a:pPr/>
              <a:t>24</a:t>
            </a:fld>
            <a:endParaRPr lang="en-US">
              <a:latin typeface="Aptos" panose="020B0004020202020204" pitchFamily="34" charset="0"/>
            </a:endParaRPr>
          </a:p>
        </p:txBody>
      </p:sp>
      <p:sp>
        <p:nvSpPr>
          <p:cNvPr id="28" name="Text Placeholder 2">
            <a:extLst>
              <a:ext uri="{FF2B5EF4-FFF2-40B4-BE49-F238E27FC236}">
                <a16:creationId xmlns:a16="http://schemas.microsoft.com/office/drawing/2014/main" id="{D5AF0D53-591C-4F6C-A49B-3D764E7BC8D0}"/>
              </a:ext>
            </a:extLst>
          </p:cNvPr>
          <p:cNvSpPr>
            <a:spLocks noGrp="1"/>
          </p:cNvSpPr>
          <p:nvPr>
            <p:ph type="body" sz="quarter" idx="13"/>
          </p:nvPr>
        </p:nvSpPr>
        <p:spPr>
          <a:xfrm>
            <a:off x="456642" y="379990"/>
            <a:ext cx="2194560" cy="267710"/>
          </a:xfrm>
        </p:spPr>
        <p:txBody>
          <a:bodyPr>
            <a:normAutofit fontScale="92500" lnSpcReduction="10000"/>
          </a:bodyPr>
          <a:lstStyle/>
          <a:p>
            <a:r>
              <a:rPr lang="en-US">
                <a:latin typeface="Aptos"/>
              </a:rPr>
              <a:t>2) </a:t>
            </a:r>
            <a:r>
              <a:rPr lang="en-US"/>
              <a:t>FastPass test</a:t>
            </a:r>
          </a:p>
        </p:txBody>
      </p:sp>
      <p:sp>
        <p:nvSpPr>
          <p:cNvPr id="4" name="Title 3">
            <a:extLst>
              <a:ext uri="{FF2B5EF4-FFF2-40B4-BE49-F238E27FC236}">
                <a16:creationId xmlns:a16="http://schemas.microsoft.com/office/drawing/2014/main" id="{CDDDC9C1-A54E-FF8F-0419-80FF71FE2A2C}"/>
              </a:ext>
            </a:extLst>
          </p:cNvPr>
          <p:cNvSpPr>
            <a:spLocks noGrp="1"/>
          </p:cNvSpPr>
          <p:nvPr>
            <p:ph type="title"/>
          </p:nvPr>
        </p:nvSpPr>
        <p:spPr/>
        <p:txBody>
          <a:bodyPr>
            <a:normAutofit fontScale="90000"/>
          </a:bodyPr>
          <a:lstStyle/>
          <a:p>
            <a:r>
              <a:rPr lang="en-US" b="1">
                <a:latin typeface="Aptos ExtraBold" panose="020B0004020202020204" pitchFamily="34" charset="0"/>
              </a:rPr>
              <a:t>The FastPass test</a:t>
            </a:r>
            <a:endParaRPr lang="en-US">
              <a:latin typeface="Aptos"/>
            </a:endParaRPr>
          </a:p>
        </p:txBody>
      </p:sp>
      <p:sp>
        <p:nvSpPr>
          <p:cNvPr id="5" name="Text Placeholder 4">
            <a:extLst>
              <a:ext uri="{FF2B5EF4-FFF2-40B4-BE49-F238E27FC236}">
                <a16:creationId xmlns:a16="http://schemas.microsoft.com/office/drawing/2014/main" id="{E79705B3-D2D4-2401-0C47-B15C126217EC}"/>
              </a:ext>
            </a:extLst>
          </p:cNvPr>
          <p:cNvSpPr>
            <a:spLocks noGrp="1"/>
          </p:cNvSpPr>
          <p:nvPr>
            <p:ph type="body" sz="quarter" idx="12"/>
          </p:nvPr>
        </p:nvSpPr>
        <p:spPr>
          <a:xfrm>
            <a:off x="443059" y="1355195"/>
            <a:ext cx="11377234" cy="275486"/>
          </a:xfrm>
        </p:spPr>
        <p:txBody>
          <a:bodyPr vert="horz" lIns="91440" tIns="45720" rIns="91440" bIns="45720" rtlCol="0" anchor="t">
            <a:noAutofit/>
          </a:bodyPr>
          <a:lstStyle/>
          <a:p>
            <a:r>
              <a:rPr lang="en-US" sz="1800">
                <a:latin typeface="Aptos Light"/>
              </a:rPr>
              <a:t>(</a:t>
            </a:r>
            <a:r>
              <a:rPr lang="en-US" sz="1800" b="1">
                <a:latin typeface="Aptos Light"/>
              </a:rPr>
              <a:t>C</a:t>
            </a:r>
            <a:r>
              <a:rPr lang="en-US" sz="1800">
                <a:latin typeface="Aptos Light"/>
              </a:rPr>
              <a:t>) Clicking any issue highlights the relevant component in the original window and provides context a developer needs to fix the issue. </a:t>
            </a:r>
          </a:p>
        </p:txBody>
      </p:sp>
      <p:pic>
        <p:nvPicPr>
          <p:cNvPr id="16" name="Picture 15" descr="Screenshot of FastPass tool with box around C showing &quot;Highlight visible&quot; to highlight relevant component in red on original window.">
            <a:extLst>
              <a:ext uri="{FF2B5EF4-FFF2-40B4-BE49-F238E27FC236}">
                <a16:creationId xmlns:a16="http://schemas.microsoft.com/office/drawing/2014/main" id="{CBC28A61-FF09-5E17-29EC-7DDF3D464B0B}"/>
              </a:ext>
            </a:extLst>
          </p:cNvPr>
          <p:cNvPicPr>
            <a:picLocks noChangeAspect="1"/>
          </p:cNvPicPr>
          <p:nvPr/>
        </p:nvPicPr>
        <p:blipFill>
          <a:blip r:embed="rId2"/>
          <a:srcRect b="49698"/>
          <a:stretch>
            <a:fillRect/>
          </a:stretch>
        </p:blipFill>
        <p:spPr>
          <a:xfrm>
            <a:off x="1462554" y="2564342"/>
            <a:ext cx="8977573" cy="3266288"/>
          </a:xfrm>
          <a:prstGeom prst="rect">
            <a:avLst/>
          </a:prstGeom>
        </p:spPr>
      </p:pic>
      <p:sp>
        <p:nvSpPr>
          <p:cNvPr id="21" name="Rectangle 20">
            <a:extLst>
              <a:ext uri="{FF2B5EF4-FFF2-40B4-BE49-F238E27FC236}">
                <a16:creationId xmlns:a16="http://schemas.microsoft.com/office/drawing/2014/main" id="{3A59ECE0-E422-D276-F446-F34C49F29707}"/>
              </a:ext>
              <a:ext uri="{C183D7F6-B498-43B3-948B-1728B52AA6E4}">
                <adec:decorative xmlns:adec="http://schemas.microsoft.com/office/drawing/2017/decorative" val="1"/>
              </a:ext>
            </a:extLst>
          </p:cNvPr>
          <p:cNvSpPr/>
          <p:nvPr/>
        </p:nvSpPr>
        <p:spPr>
          <a:xfrm>
            <a:off x="3433145" y="5302041"/>
            <a:ext cx="6860753" cy="528589"/>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36A52D10-BEA4-029A-0AEB-99E22206B7B1}"/>
              </a:ext>
            </a:extLst>
          </p:cNvPr>
          <p:cNvSpPr txBox="1"/>
          <p:nvPr/>
        </p:nvSpPr>
        <p:spPr>
          <a:xfrm>
            <a:off x="3084973" y="4914463"/>
            <a:ext cx="375425" cy="523220"/>
          </a:xfrm>
          <a:prstGeom prst="rect">
            <a:avLst/>
          </a:prstGeom>
          <a:noFill/>
        </p:spPr>
        <p:txBody>
          <a:bodyPr wrap="none" rtlCol="0">
            <a:spAutoFit/>
          </a:bodyPr>
          <a:lstStyle/>
          <a:p>
            <a:r>
              <a:rPr lang="en-US" sz="2800" b="1">
                <a:solidFill>
                  <a:srgbClr val="00B050"/>
                </a:solidFill>
              </a:rPr>
              <a:t>C</a:t>
            </a:r>
          </a:p>
        </p:txBody>
      </p:sp>
    </p:spTree>
    <p:extLst>
      <p:ext uri="{BB962C8B-B14F-4D97-AF65-F5344CB8AC3E}">
        <p14:creationId xmlns:p14="http://schemas.microsoft.com/office/powerpoint/2010/main" val="4112139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F5D90-DFFE-B72F-B21E-9649BE8AB96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C7FAFB-89E9-EAA0-A8E8-EEFE5D8BE173}"/>
              </a:ext>
            </a:extLst>
          </p:cNvPr>
          <p:cNvSpPr>
            <a:spLocks noGrp="1"/>
          </p:cNvSpPr>
          <p:nvPr>
            <p:ph type="sldNum" sz="quarter" idx="11"/>
          </p:nvPr>
        </p:nvSpPr>
        <p:spPr/>
        <p:txBody>
          <a:bodyPr/>
          <a:lstStyle/>
          <a:p>
            <a:fld id="{28874E94-A9F8-5A41-9D43-235A602D77DE}" type="slidenum">
              <a:rPr lang="en-US" smtClean="0"/>
              <a:pPr/>
              <a:t>25</a:t>
            </a:fld>
            <a:endParaRPr lang="en-US">
              <a:latin typeface="Aptos" panose="020B0004020202020204" pitchFamily="34" charset="0"/>
            </a:endParaRPr>
          </a:p>
        </p:txBody>
      </p:sp>
      <p:sp>
        <p:nvSpPr>
          <p:cNvPr id="28" name="Text Placeholder 2">
            <a:extLst>
              <a:ext uri="{FF2B5EF4-FFF2-40B4-BE49-F238E27FC236}">
                <a16:creationId xmlns:a16="http://schemas.microsoft.com/office/drawing/2014/main" id="{205A7976-1E4C-7CBD-EF48-529EBA8390D9}"/>
              </a:ext>
            </a:extLst>
          </p:cNvPr>
          <p:cNvSpPr>
            <a:spLocks noGrp="1"/>
          </p:cNvSpPr>
          <p:nvPr>
            <p:ph type="body" sz="quarter" idx="13"/>
          </p:nvPr>
        </p:nvSpPr>
        <p:spPr>
          <a:xfrm>
            <a:off x="456642" y="379990"/>
            <a:ext cx="2194560" cy="267710"/>
          </a:xfrm>
        </p:spPr>
        <p:txBody>
          <a:bodyPr>
            <a:normAutofit fontScale="92500" lnSpcReduction="10000"/>
          </a:bodyPr>
          <a:lstStyle/>
          <a:p>
            <a:r>
              <a:rPr lang="en-US">
                <a:latin typeface="Aptos"/>
              </a:rPr>
              <a:t>2) </a:t>
            </a:r>
            <a:r>
              <a:rPr lang="en-US"/>
              <a:t>FastPass test</a:t>
            </a:r>
          </a:p>
        </p:txBody>
      </p:sp>
      <p:sp>
        <p:nvSpPr>
          <p:cNvPr id="4" name="Title 3">
            <a:extLst>
              <a:ext uri="{FF2B5EF4-FFF2-40B4-BE49-F238E27FC236}">
                <a16:creationId xmlns:a16="http://schemas.microsoft.com/office/drawing/2014/main" id="{A352A3B0-835E-4623-D617-0DCDFCBA8A75}"/>
              </a:ext>
            </a:extLst>
          </p:cNvPr>
          <p:cNvSpPr>
            <a:spLocks noGrp="1"/>
          </p:cNvSpPr>
          <p:nvPr>
            <p:ph type="title"/>
          </p:nvPr>
        </p:nvSpPr>
        <p:spPr/>
        <p:txBody>
          <a:bodyPr>
            <a:normAutofit fontScale="90000"/>
          </a:bodyPr>
          <a:lstStyle/>
          <a:p>
            <a:r>
              <a:rPr lang="en-US" b="1">
                <a:latin typeface="Aptos ExtraBold" panose="020B0004020202020204" pitchFamily="34" charset="0"/>
              </a:rPr>
              <a:t>The FastPass test</a:t>
            </a:r>
            <a:endParaRPr lang="en-US">
              <a:latin typeface="Aptos"/>
            </a:endParaRPr>
          </a:p>
        </p:txBody>
      </p:sp>
      <p:sp>
        <p:nvSpPr>
          <p:cNvPr id="5" name="Text Placeholder 4">
            <a:extLst>
              <a:ext uri="{FF2B5EF4-FFF2-40B4-BE49-F238E27FC236}">
                <a16:creationId xmlns:a16="http://schemas.microsoft.com/office/drawing/2014/main" id="{48DB2E1D-A902-C715-DEEC-95606D99C537}"/>
              </a:ext>
            </a:extLst>
          </p:cNvPr>
          <p:cNvSpPr>
            <a:spLocks noGrp="1"/>
          </p:cNvSpPr>
          <p:nvPr>
            <p:ph type="body" sz="quarter" idx="12"/>
          </p:nvPr>
        </p:nvSpPr>
        <p:spPr>
          <a:xfrm>
            <a:off x="443059" y="1355195"/>
            <a:ext cx="11377234" cy="275486"/>
          </a:xfrm>
        </p:spPr>
        <p:txBody>
          <a:bodyPr vert="horz" lIns="91440" tIns="45720" rIns="91440" bIns="45720" rtlCol="0" anchor="t">
            <a:noAutofit/>
          </a:bodyPr>
          <a:lstStyle/>
          <a:p>
            <a:r>
              <a:rPr lang="en-US" sz="1800">
                <a:latin typeface="Aptos Light"/>
              </a:rPr>
              <a:t>(</a:t>
            </a:r>
            <a:r>
              <a:rPr lang="en-US" sz="1800" b="1">
                <a:latin typeface="Aptos Light"/>
              </a:rPr>
              <a:t>C</a:t>
            </a:r>
            <a:r>
              <a:rPr lang="en-US" sz="1800">
                <a:latin typeface="Aptos Light"/>
              </a:rPr>
              <a:t>) Clicking any issue highlights the relevant component in the original window and provides context a developer needs to fix the issue. (</a:t>
            </a:r>
            <a:r>
              <a:rPr lang="en-US" sz="1800" b="1">
                <a:latin typeface="Aptos Light"/>
              </a:rPr>
              <a:t>D</a:t>
            </a:r>
            <a:r>
              <a:rPr lang="en-US" sz="1800">
                <a:latin typeface="Aptos Light"/>
              </a:rPr>
              <a:t>) ”Export result” to download results and share with others. </a:t>
            </a:r>
          </a:p>
        </p:txBody>
      </p:sp>
      <p:pic>
        <p:nvPicPr>
          <p:cNvPr id="16" name="Picture 15" descr="Screenshot of FastPass tool with box D around &quot;Export result&quot; to share context for developer to identify and fix issue in code">
            <a:extLst>
              <a:ext uri="{FF2B5EF4-FFF2-40B4-BE49-F238E27FC236}">
                <a16:creationId xmlns:a16="http://schemas.microsoft.com/office/drawing/2014/main" id="{0E50AAC7-C7BF-2A13-94F2-63E2F3BE6245}"/>
              </a:ext>
            </a:extLst>
          </p:cNvPr>
          <p:cNvPicPr>
            <a:picLocks noChangeAspect="1"/>
          </p:cNvPicPr>
          <p:nvPr/>
        </p:nvPicPr>
        <p:blipFill>
          <a:blip r:embed="rId2"/>
          <a:srcRect b="49698"/>
          <a:stretch>
            <a:fillRect/>
          </a:stretch>
        </p:blipFill>
        <p:spPr>
          <a:xfrm>
            <a:off x="1462554" y="2564342"/>
            <a:ext cx="8977573" cy="3266288"/>
          </a:xfrm>
          <a:prstGeom prst="rect">
            <a:avLst/>
          </a:prstGeom>
        </p:spPr>
      </p:pic>
      <p:sp>
        <p:nvSpPr>
          <p:cNvPr id="6" name="Rectangle 5">
            <a:extLst>
              <a:ext uri="{FF2B5EF4-FFF2-40B4-BE49-F238E27FC236}">
                <a16:creationId xmlns:a16="http://schemas.microsoft.com/office/drawing/2014/main" id="{86DB87A1-DC16-2044-E9C0-96B8A0AB3102}"/>
              </a:ext>
              <a:ext uri="{C183D7F6-B498-43B3-948B-1728B52AA6E4}">
                <adec:decorative xmlns:adec="http://schemas.microsoft.com/office/drawing/2017/decorative" val="1"/>
              </a:ext>
            </a:extLst>
          </p:cNvPr>
          <p:cNvSpPr/>
          <p:nvPr/>
        </p:nvSpPr>
        <p:spPr>
          <a:xfrm>
            <a:off x="8611941" y="3464299"/>
            <a:ext cx="1036821" cy="390553"/>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F3919C1-57F1-F36F-5678-218B554C2F53}"/>
              </a:ext>
            </a:extLst>
          </p:cNvPr>
          <p:cNvSpPr txBox="1"/>
          <p:nvPr/>
        </p:nvSpPr>
        <p:spPr>
          <a:xfrm>
            <a:off x="8192587" y="3516950"/>
            <a:ext cx="410690" cy="523220"/>
          </a:xfrm>
          <a:prstGeom prst="rect">
            <a:avLst/>
          </a:prstGeom>
          <a:noFill/>
        </p:spPr>
        <p:txBody>
          <a:bodyPr wrap="none" rtlCol="0">
            <a:spAutoFit/>
          </a:bodyPr>
          <a:lstStyle/>
          <a:p>
            <a:r>
              <a:rPr lang="en-US" sz="2800" b="1">
                <a:solidFill>
                  <a:srgbClr val="00B050"/>
                </a:solidFill>
              </a:rPr>
              <a:t>D</a:t>
            </a:r>
          </a:p>
        </p:txBody>
      </p:sp>
    </p:spTree>
    <p:extLst>
      <p:ext uri="{BB962C8B-B14F-4D97-AF65-F5344CB8AC3E}">
        <p14:creationId xmlns:p14="http://schemas.microsoft.com/office/powerpoint/2010/main" val="14913824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21595-59E4-ED7F-8078-57D59FF15FB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7C9871-5A2D-6886-AFE8-C9E6E8CE38FC}"/>
              </a:ext>
            </a:extLst>
          </p:cNvPr>
          <p:cNvSpPr>
            <a:spLocks noGrp="1"/>
          </p:cNvSpPr>
          <p:nvPr>
            <p:ph type="sldNum" sz="quarter" idx="11"/>
          </p:nvPr>
        </p:nvSpPr>
        <p:spPr/>
        <p:txBody>
          <a:bodyPr/>
          <a:lstStyle/>
          <a:p>
            <a:fld id="{28874E94-A9F8-5A41-9D43-235A602D77DE}" type="slidenum">
              <a:rPr lang="en-US" smtClean="0"/>
              <a:pPr/>
              <a:t>26</a:t>
            </a:fld>
            <a:endParaRPr lang="en-US">
              <a:latin typeface="Aptos" panose="020B0004020202020204" pitchFamily="34" charset="0"/>
            </a:endParaRPr>
          </a:p>
        </p:txBody>
      </p:sp>
      <p:sp>
        <p:nvSpPr>
          <p:cNvPr id="28" name="Text Placeholder 2">
            <a:extLst>
              <a:ext uri="{FF2B5EF4-FFF2-40B4-BE49-F238E27FC236}">
                <a16:creationId xmlns:a16="http://schemas.microsoft.com/office/drawing/2014/main" id="{E6F05F4C-7D6E-3990-D728-4BCAF59CF340}"/>
              </a:ext>
            </a:extLst>
          </p:cNvPr>
          <p:cNvSpPr>
            <a:spLocks noGrp="1"/>
          </p:cNvSpPr>
          <p:nvPr>
            <p:ph type="body" sz="quarter" idx="13"/>
          </p:nvPr>
        </p:nvSpPr>
        <p:spPr>
          <a:xfrm>
            <a:off x="456642" y="379990"/>
            <a:ext cx="2194560" cy="267710"/>
          </a:xfrm>
        </p:spPr>
        <p:txBody>
          <a:bodyPr>
            <a:normAutofit fontScale="92500" lnSpcReduction="10000"/>
          </a:bodyPr>
          <a:lstStyle/>
          <a:p>
            <a:r>
              <a:rPr lang="en-US">
                <a:latin typeface="Aptos"/>
              </a:rPr>
              <a:t>2) </a:t>
            </a:r>
            <a:r>
              <a:rPr lang="en-US"/>
              <a:t>FastPass test</a:t>
            </a:r>
          </a:p>
        </p:txBody>
      </p:sp>
      <p:sp>
        <p:nvSpPr>
          <p:cNvPr id="4" name="Title 3">
            <a:extLst>
              <a:ext uri="{FF2B5EF4-FFF2-40B4-BE49-F238E27FC236}">
                <a16:creationId xmlns:a16="http://schemas.microsoft.com/office/drawing/2014/main" id="{948AADB1-67D9-BA32-E159-66DF7D1F1DA7}"/>
              </a:ext>
            </a:extLst>
          </p:cNvPr>
          <p:cNvSpPr>
            <a:spLocks noGrp="1"/>
          </p:cNvSpPr>
          <p:nvPr>
            <p:ph type="title"/>
          </p:nvPr>
        </p:nvSpPr>
        <p:spPr/>
        <p:txBody>
          <a:bodyPr>
            <a:normAutofit fontScale="90000"/>
          </a:bodyPr>
          <a:lstStyle/>
          <a:p>
            <a:r>
              <a:rPr lang="en-US" b="1">
                <a:latin typeface="Aptos ExtraBold" panose="020B0004020202020204" pitchFamily="34" charset="0"/>
              </a:rPr>
              <a:t>The FastPass test</a:t>
            </a:r>
            <a:endParaRPr lang="en-US">
              <a:latin typeface="Aptos"/>
            </a:endParaRPr>
          </a:p>
        </p:txBody>
      </p:sp>
      <p:sp>
        <p:nvSpPr>
          <p:cNvPr id="5" name="Text Placeholder 4">
            <a:extLst>
              <a:ext uri="{FF2B5EF4-FFF2-40B4-BE49-F238E27FC236}">
                <a16:creationId xmlns:a16="http://schemas.microsoft.com/office/drawing/2014/main" id="{72B9E219-D1CD-7D7F-B7CA-421935267783}"/>
              </a:ext>
            </a:extLst>
          </p:cNvPr>
          <p:cNvSpPr>
            <a:spLocks noGrp="1"/>
          </p:cNvSpPr>
          <p:nvPr>
            <p:ph type="body" sz="quarter" idx="12"/>
          </p:nvPr>
        </p:nvSpPr>
        <p:spPr>
          <a:xfrm>
            <a:off x="443059" y="1355195"/>
            <a:ext cx="11377234" cy="275486"/>
          </a:xfrm>
        </p:spPr>
        <p:txBody>
          <a:bodyPr vert="horz" lIns="91440" tIns="45720" rIns="91440" bIns="45720" rtlCol="0" anchor="t">
            <a:noAutofit/>
          </a:bodyPr>
          <a:lstStyle/>
          <a:p>
            <a:r>
              <a:rPr lang="en-US" sz="1800">
                <a:latin typeface="Aptos Light"/>
              </a:rPr>
              <a:t>(</a:t>
            </a:r>
            <a:r>
              <a:rPr lang="en-US" sz="1800" b="1">
                <a:latin typeface="Aptos Light"/>
              </a:rPr>
              <a:t>C</a:t>
            </a:r>
            <a:r>
              <a:rPr lang="en-US" sz="1800">
                <a:latin typeface="Aptos Light"/>
              </a:rPr>
              <a:t>) Clicking any issue highlights the relevant component in the original window and provides context a developer needs to fix the issue. (</a:t>
            </a:r>
            <a:r>
              <a:rPr lang="en-US" sz="1800" b="1">
                <a:latin typeface="Aptos Light"/>
              </a:rPr>
              <a:t>D</a:t>
            </a:r>
            <a:r>
              <a:rPr lang="en-US" sz="1800">
                <a:latin typeface="Aptos Light"/>
              </a:rPr>
              <a:t>) ”Export result” to download results and share with others. (</a:t>
            </a:r>
            <a:r>
              <a:rPr lang="en-US" sz="1800" b="1">
                <a:latin typeface="Aptos Light"/>
              </a:rPr>
              <a:t>E</a:t>
            </a:r>
            <a:r>
              <a:rPr lang="en-US" sz="1800">
                <a:latin typeface="Aptos Light"/>
              </a:rPr>
              <a:t>) Select “Tab stops” to continue to Step 2.</a:t>
            </a:r>
          </a:p>
        </p:txBody>
      </p:sp>
      <p:pic>
        <p:nvPicPr>
          <p:cNvPr id="16" name="Picture 15" descr="Screenshot of FastPass tool with box E around step 2 menu item for beginning tab stops test. ">
            <a:extLst>
              <a:ext uri="{FF2B5EF4-FFF2-40B4-BE49-F238E27FC236}">
                <a16:creationId xmlns:a16="http://schemas.microsoft.com/office/drawing/2014/main" id="{C0B9A006-70B9-0681-ED1E-241E9CDCF504}"/>
              </a:ext>
            </a:extLst>
          </p:cNvPr>
          <p:cNvPicPr>
            <a:picLocks noChangeAspect="1"/>
          </p:cNvPicPr>
          <p:nvPr/>
        </p:nvPicPr>
        <p:blipFill>
          <a:blip r:embed="rId2"/>
          <a:srcRect b="49698"/>
          <a:stretch>
            <a:fillRect/>
          </a:stretch>
        </p:blipFill>
        <p:spPr>
          <a:xfrm>
            <a:off x="1462554" y="2564342"/>
            <a:ext cx="8977573" cy="3266288"/>
          </a:xfrm>
          <a:prstGeom prst="rect">
            <a:avLst/>
          </a:prstGeom>
        </p:spPr>
      </p:pic>
      <p:sp>
        <p:nvSpPr>
          <p:cNvPr id="22" name="Rectangle 21">
            <a:extLst>
              <a:ext uri="{FF2B5EF4-FFF2-40B4-BE49-F238E27FC236}">
                <a16:creationId xmlns:a16="http://schemas.microsoft.com/office/drawing/2014/main" id="{9CCBFE38-E093-E512-B9FB-1A4286A132F5}"/>
              </a:ext>
              <a:ext uri="{C183D7F6-B498-43B3-948B-1728B52AA6E4}">
                <adec:decorative xmlns:adec="http://schemas.microsoft.com/office/drawing/2017/decorative" val="1"/>
              </a:ext>
            </a:extLst>
          </p:cNvPr>
          <p:cNvSpPr/>
          <p:nvPr/>
        </p:nvSpPr>
        <p:spPr>
          <a:xfrm>
            <a:off x="1409272" y="4152403"/>
            <a:ext cx="1609619" cy="390553"/>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46A98F81-6760-6993-9CD0-A3540BD9F6E3}"/>
              </a:ext>
            </a:extLst>
          </p:cNvPr>
          <p:cNvSpPr txBox="1"/>
          <p:nvPr/>
        </p:nvSpPr>
        <p:spPr>
          <a:xfrm>
            <a:off x="1025223" y="3773985"/>
            <a:ext cx="359394" cy="523220"/>
          </a:xfrm>
          <a:prstGeom prst="rect">
            <a:avLst/>
          </a:prstGeom>
          <a:noFill/>
        </p:spPr>
        <p:txBody>
          <a:bodyPr wrap="none" rtlCol="0">
            <a:spAutoFit/>
          </a:bodyPr>
          <a:lstStyle/>
          <a:p>
            <a:r>
              <a:rPr lang="en-US" sz="2800" b="1">
                <a:solidFill>
                  <a:srgbClr val="00B050"/>
                </a:solidFill>
              </a:rPr>
              <a:t>E</a:t>
            </a:r>
          </a:p>
        </p:txBody>
      </p:sp>
    </p:spTree>
    <p:extLst>
      <p:ext uri="{BB962C8B-B14F-4D97-AF65-F5344CB8AC3E}">
        <p14:creationId xmlns:p14="http://schemas.microsoft.com/office/powerpoint/2010/main" val="5514031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AD92-C92A-1261-84E3-0B0A19F96C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1E2E1A-1062-AC60-D134-00AB223F47CC}"/>
              </a:ext>
            </a:extLst>
          </p:cNvPr>
          <p:cNvSpPr>
            <a:spLocks noGrp="1"/>
          </p:cNvSpPr>
          <p:nvPr>
            <p:ph type="sldNum" sz="quarter" idx="11"/>
          </p:nvPr>
        </p:nvSpPr>
        <p:spPr/>
        <p:txBody>
          <a:bodyPr/>
          <a:lstStyle/>
          <a:p>
            <a:fld id="{28874E94-A9F8-5A41-9D43-235A602D77DE}" type="slidenum">
              <a:rPr lang="en-US" smtClean="0"/>
              <a:pPr/>
              <a:t>27</a:t>
            </a:fld>
            <a:endParaRPr lang="en-US">
              <a:latin typeface="Aptos" panose="020B0004020202020204" pitchFamily="34" charset="0"/>
            </a:endParaRPr>
          </a:p>
        </p:txBody>
      </p:sp>
      <p:sp>
        <p:nvSpPr>
          <p:cNvPr id="28" name="Text Placeholder 2">
            <a:extLst>
              <a:ext uri="{FF2B5EF4-FFF2-40B4-BE49-F238E27FC236}">
                <a16:creationId xmlns:a16="http://schemas.microsoft.com/office/drawing/2014/main" id="{E398C870-76E5-9CB2-BBEC-5184228F6718}"/>
              </a:ext>
            </a:extLst>
          </p:cNvPr>
          <p:cNvSpPr>
            <a:spLocks noGrp="1"/>
          </p:cNvSpPr>
          <p:nvPr>
            <p:ph type="body" sz="quarter" idx="13"/>
          </p:nvPr>
        </p:nvSpPr>
        <p:spPr>
          <a:xfrm>
            <a:off x="456642" y="379990"/>
            <a:ext cx="2194560" cy="267710"/>
          </a:xfrm>
        </p:spPr>
        <p:txBody>
          <a:bodyPr>
            <a:normAutofit fontScale="92500" lnSpcReduction="10000"/>
          </a:bodyPr>
          <a:lstStyle/>
          <a:p>
            <a:r>
              <a:rPr lang="en-US">
                <a:latin typeface="Aptos"/>
              </a:rPr>
              <a:t>2) </a:t>
            </a:r>
            <a:r>
              <a:rPr lang="en-US"/>
              <a:t>FastPass test</a:t>
            </a:r>
          </a:p>
        </p:txBody>
      </p:sp>
      <p:sp>
        <p:nvSpPr>
          <p:cNvPr id="4" name="Title 3">
            <a:extLst>
              <a:ext uri="{FF2B5EF4-FFF2-40B4-BE49-F238E27FC236}">
                <a16:creationId xmlns:a16="http://schemas.microsoft.com/office/drawing/2014/main" id="{07321CDE-841B-82DA-B358-CE480F87DA6F}"/>
              </a:ext>
            </a:extLst>
          </p:cNvPr>
          <p:cNvSpPr>
            <a:spLocks noGrp="1"/>
          </p:cNvSpPr>
          <p:nvPr>
            <p:ph type="title"/>
          </p:nvPr>
        </p:nvSpPr>
        <p:spPr/>
        <p:txBody>
          <a:bodyPr>
            <a:normAutofit fontScale="90000"/>
          </a:bodyPr>
          <a:lstStyle/>
          <a:p>
            <a:r>
              <a:rPr lang="en-US" b="1">
                <a:latin typeface="Aptos ExtraBold" panose="020B0004020202020204" pitchFamily="34" charset="0"/>
              </a:rPr>
              <a:t>The FastPass test</a:t>
            </a:r>
            <a:endParaRPr lang="en-US">
              <a:latin typeface="Aptos"/>
            </a:endParaRPr>
          </a:p>
        </p:txBody>
      </p:sp>
      <p:sp>
        <p:nvSpPr>
          <p:cNvPr id="5" name="Text Placeholder 4">
            <a:extLst>
              <a:ext uri="{FF2B5EF4-FFF2-40B4-BE49-F238E27FC236}">
                <a16:creationId xmlns:a16="http://schemas.microsoft.com/office/drawing/2014/main" id="{20E22A05-8A07-3CA0-1A87-D9A880220975}"/>
              </a:ext>
            </a:extLst>
          </p:cNvPr>
          <p:cNvSpPr>
            <a:spLocks noGrp="1"/>
          </p:cNvSpPr>
          <p:nvPr>
            <p:ph type="body" sz="quarter" idx="12"/>
          </p:nvPr>
        </p:nvSpPr>
        <p:spPr>
          <a:xfrm>
            <a:off x="451432" y="1330075"/>
            <a:ext cx="11368861" cy="953748"/>
          </a:xfrm>
        </p:spPr>
        <p:txBody>
          <a:bodyPr vert="horz" lIns="91440" tIns="45720" rIns="91440" bIns="45720" rtlCol="0" anchor="t">
            <a:noAutofit/>
          </a:bodyPr>
          <a:lstStyle/>
          <a:p>
            <a:r>
              <a:rPr lang="en-US" sz="1800">
                <a:latin typeface="Aptos Light"/>
              </a:rPr>
              <a:t>Step 2 looks complicated to start but </a:t>
            </a:r>
            <a:r>
              <a:rPr lang="en-US" sz="1800" err="1">
                <a:latin typeface="Aptos Light"/>
              </a:rPr>
              <a:t>i</a:t>
            </a:r>
            <a:r>
              <a:rPr lang="en-US" sz="1800">
                <a:latin typeface="Aptos Light"/>
              </a:rPr>
              <a:t>s surprisingly simple.</a:t>
            </a:r>
            <a:endParaRPr lang="en-US" sz="1800"/>
          </a:p>
        </p:txBody>
      </p:sp>
      <p:pic>
        <p:nvPicPr>
          <p:cNvPr id="3" name="Picture 2" descr="Screenshot of FastPass test Step 2, Tab stops. ">
            <a:extLst>
              <a:ext uri="{FF2B5EF4-FFF2-40B4-BE49-F238E27FC236}">
                <a16:creationId xmlns:a16="http://schemas.microsoft.com/office/drawing/2014/main" id="{D428C987-33EB-ABE1-E2B6-BCA759052AB6}"/>
              </a:ext>
            </a:extLst>
          </p:cNvPr>
          <p:cNvPicPr>
            <a:picLocks noChangeAspect="1"/>
          </p:cNvPicPr>
          <p:nvPr/>
        </p:nvPicPr>
        <p:blipFill>
          <a:blip r:embed="rId2"/>
          <a:stretch>
            <a:fillRect/>
          </a:stretch>
        </p:blipFill>
        <p:spPr>
          <a:xfrm>
            <a:off x="2074985" y="1800328"/>
            <a:ext cx="8042031" cy="5015804"/>
          </a:xfrm>
          <a:prstGeom prst="rect">
            <a:avLst/>
          </a:prstGeom>
        </p:spPr>
      </p:pic>
    </p:spTree>
    <p:extLst>
      <p:ext uri="{BB962C8B-B14F-4D97-AF65-F5344CB8AC3E}">
        <p14:creationId xmlns:p14="http://schemas.microsoft.com/office/powerpoint/2010/main" val="34018308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B8035-64FF-6A39-3AA6-115024DF2C3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89EB61-5E56-82BE-D98B-B8DA17C3FD32}"/>
              </a:ext>
            </a:extLst>
          </p:cNvPr>
          <p:cNvSpPr>
            <a:spLocks noGrp="1"/>
          </p:cNvSpPr>
          <p:nvPr>
            <p:ph type="sldNum" sz="quarter" idx="11"/>
          </p:nvPr>
        </p:nvSpPr>
        <p:spPr/>
        <p:txBody>
          <a:bodyPr/>
          <a:lstStyle/>
          <a:p>
            <a:fld id="{28874E94-A9F8-5A41-9D43-235A602D77DE}" type="slidenum">
              <a:rPr lang="en-US" smtClean="0"/>
              <a:pPr/>
              <a:t>28</a:t>
            </a:fld>
            <a:endParaRPr lang="en-US">
              <a:latin typeface="Aptos" panose="020B0004020202020204" pitchFamily="34" charset="0"/>
            </a:endParaRPr>
          </a:p>
        </p:txBody>
      </p:sp>
      <p:sp>
        <p:nvSpPr>
          <p:cNvPr id="28" name="Text Placeholder 2">
            <a:extLst>
              <a:ext uri="{FF2B5EF4-FFF2-40B4-BE49-F238E27FC236}">
                <a16:creationId xmlns:a16="http://schemas.microsoft.com/office/drawing/2014/main" id="{664FF4BC-AADF-0AC7-35FC-616FF4C2D949}"/>
              </a:ext>
            </a:extLst>
          </p:cNvPr>
          <p:cNvSpPr>
            <a:spLocks noGrp="1"/>
          </p:cNvSpPr>
          <p:nvPr>
            <p:ph type="body" sz="quarter" idx="13"/>
          </p:nvPr>
        </p:nvSpPr>
        <p:spPr>
          <a:xfrm>
            <a:off x="456642" y="379990"/>
            <a:ext cx="2194560" cy="267710"/>
          </a:xfrm>
        </p:spPr>
        <p:txBody>
          <a:bodyPr>
            <a:normAutofit fontScale="92500" lnSpcReduction="10000"/>
          </a:bodyPr>
          <a:lstStyle/>
          <a:p>
            <a:r>
              <a:rPr lang="en-US">
                <a:latin typeface="Aptos"/>
              </a:rPr>
              <a:t>2) </a:t>
            </a:r>
            <a:r>
              <a:rPr lang="en-US"/>
              <a:t>FastPass test</a:t>
            </a:r>
          </a:p>
        </p:txBody>
      </p:sp>
      <p:sp>
        <p:nvSpPr>
          <p:cNvPr id="4" name="Title 3">
            <a:extLst>
              <a:ext uri="{FF2B5EF4-FFF2-40B4-BE49-F238E27FC236}">
                <a16:creationId xmlns:a16="http://schemas.microsoft.com/office/drawing/2014/main" id="{9C979BA2-8B6A-44E6-3E48-F826BCE508BE}"/>
              </a:ext>
            </a:extLst>
          </p:cNvPr>
          <p:cNvSpPr>
            <a:spLocks noGrp="1"/>
          </p:cNvSpPr>
          <p:nvPr>
            <p:ph type="title"/>
          </p:nvPr>
        </p:nvSpPr>
        <p:spPr/>
        <p:txBody>
          <a:bodyPr>
            <a:normAutofit fontScale="90000"/>
          </a:bodyPr>
          <a:lstStyle/>
          <a:p>
            <a:r>
              <a:rPr lang="en-US" b="1">
                <a:latin typeface="Aptos ExtraBold" panose="020B0004020202020204" pitchFamily="34" charset="0"/>
              </a:rPr>
              <a:t>The FastPass test</a:t>
            </a:r>
            <a:endParaRPr lang="en-US">
              <a:latin typeface="Aptos"/>
            </a:endParaRPr>
          </a:p>
        </p:txBody>
      </p:sp>
      <p:sp>
        <p:nvSpPr>
          <p:cNvPr id="5" name="Text Placeholder 4">
            <a:extLst>
              <a:ext uri="{FF2B5EF4-FFF2-40B4-BE49-F238E27FC236}">
                <a16:creationId xmlns:a16="http://schemas.microsoft.com/office/drawing/2014/main" id="{E2C3DFC7-52B1-53DE-6874-0543DC1FCF61}"/>
              </a:ext>
            </a:extLst>
          </p:cNvPr>
          <p:cNvSpPr>
            <a:spLocks noGrp="1"/>
          </p:cNvSpPr>
          <p:nvPr>
            <p:ph type="body" sz="quarter" idx="12"/>
          </p:nvPr>
        </p:nvSpPr>
        <p:spPr>
          <a:xfrm>
            <a:off x="451432" y="1330075"/>
            <a:ext cx="11368861" cy="953748"/>
          </a:xfrm>
        </p:spPr>
        <p:txBody>
          <a:bodyPr vert="horz" lIns="91440" tIns="45720" rIns="91440" bIns="45720" rtlCol="0" anchor="t">
            <a:noAutofit/>
          </a:bodyPr>
          <a:lstStyle/>
          <a:p>
            <a:r>
              <a:rPr lang="en-US" sz="1800">
                <a:latin typeface="Aptos Light"/>
              </a:rPr>
              <a:t>Step 2 looks complicated to start but is surprisingly simple. </a:t>
            </a:r>
            <a:r>
              <a:rPr lang="en-US" sz="1800" b="1">
                <a:latin typeface="Aptos Light"/>
              </a:rPr>
              <a:t>(F)</a:t>
            </a:r>
            <a:r>
              <a:rPr lang="en-US" sz="1800">
                <a:latin typeface="Aptos Light"/>
              </a:rPr>
              <a:t> Start by toggling "Visual helper"</a:t>
            </a:r>
            <a:endParaRPr lang="en-US" sz="1800"/>
          </a:p>
        </p:txBody>
      </p:sp>
      <p:pic>
        <p:nvPicPr>
          <p:cNvPr id="3" name="Picture 2" descr="Screenshot of FastPass Step 2 with box F around &quot;Visual helper&quot;">
            <a:extLst>
              <a:ext uri="{FF2B5EF4-FFF2-40B4-BE49-F238E27FC236}">
                <a16:creationId xmlns:a16="http://schemas.microsoft.com/office/drawing/2014/main" id="{CF36F79C-634D-2EC4-AA68-57655F517FAA}"/>
              </a:ext>
            </a:extLst>
          </p:cNvPr>
          <p:cNvPicPr>
            <a:picLocks noChangeAspect="1"/>
          </p:cNvPicPr>
          <p:nvPr/>
        </p:nvPicPr>
        <p:blipFill>
          <a:blip r:embed="rId2"/>
          <a:srcRect b="9137"/>
          <a:stretch>
            <a:fillRect/>
          </a:stretch>
        </p:blipFill>
        <p:spPr>
          <a:xfrm>
            <a:off x="1816802" y="1725024"/>
            <a:ext cx="8832332" cy="5005307"/>
          </a:xfrm>
          <a:prstGeom prst="rect">
            <a:avLst/>
          </a:prstGeom>
        </p:spPr>
      </p:pic>
      <p:sp>
        <p:nvSpPr>
          <p:cNvPr id="7" name="Rectangle 6">
            <a:extLst>
              <a:ext uri="{FF2B5EF4-FFF2-40B4-BE49-F238E27FC236}">
                <a16:creationId xmlns:a16="http://schemas.microsoft.com/office/drawing/2014/main" id="{579EA010-F91E-CBDB-2361-61C6664D3454}"/>
              </a:ext>
              <a:ext uri="{C183D7F6-B498-43B3-948B-1728B52AA6E4}">
                <adec:decorative xmlns:adec="http://schemas.microsoft.com/office/drawing/2017/decorative" val="1"/>
              </a:ext>
            </a:extLst>
          </p:cNvPr>
          <p:cNvSpPr/>
          <p:nvPr/>
        </p:nvSpPr>
        <p:spPr>
          <a:xfrm>
            <a:off x="3086119" y="2721804"/>
            <a:ext cx="1609619" cy="390553"/>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0EC02B3-9645-1F49-643A-5283882DB8F6}"/>
              </a:ext>
            </a:extLst>
          </p:cNvPr>
          <p:cNvSpPr txBox="1"/>
          <p:nvPr/>
        </p:nvSpPr>
        <p:spPr>
          <a:xfrm>
            <a:off x="4802976" y="2781342"/>
            <a:ext cx="359394" cy="523220"/>
          </a:xfrm>
          <a:prstGeom prst="rect">
            <a:avLst/>
          </a:prstGeom>
          <a:noFill/>
        </p:spPr>
        <p:txBody>
          <a:bodyPr wrap="none" lIns="91440" tIns="45720" rIns="91440" bIns="45720" rtlCol="0" anchor="t">
            <a:spAutoFit/>
          </a:bodyPr>
          <a:lstStyle/>
          <a:p>
            <a:r>
              <a:rPr lang="en-US" sz="2800" b="1">
                <a:solidFill>
                  <a:srgbClr val="00B050"/>
                </a:solidFill>
              </a:rPr>
              <a:t>F</a:t>
            </a:r>
            <a:endParaRPr lang="en-US" sz="2800" b="1">
              <a:solidFill>
                <a:srgbClr val="00B050"/>
              </a:solidFill>
              <a:ea typeface="Calibri"/>
              <a:cs typeface="Calibri"/>
            </a:endParaRPr>
          </a:p>
        </p:txBody>
      </p:sp>
    </p:spTree>
    <p:extLst>
      <p:ext uri="{BB962C8B-B14F-4D97-AF65-F5344CB8AC3E}">
        <p14:creationId xmlns:p14="http://schemas.microsoft.com/office/powerpoint/2010/main" val="19976071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44456-809C-DCD5-36BB-656D6B8DAEE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DFF45A-C0AC-6231-5771-8D835488636F}"/>
              </a:ext>
            </a:extLst>
          </p:cNvPr>
          <p:cNvSpPr>
            <a:spLocks noGrp="1"/>
          </p:cNvSpPr>
          <p:nvPr>
            <p:ph type="sldNum" sz="quarter" idx="11"/>
          </p:nvPr>
        </p:nvSpPr>
        <p:spPr/>
        <p:txBody>
          <a:bodyPr/>
          <a:lstStyle/>
          <a:p>
            <a:fld id="{28874E94-A9F8-5A41-9D43-235A602D77DE}" type="slidenum">
              <a:rPr lang="en-US" smtClean="0"/>
              <a:pPr/>
              <a:t>29</a:t>
            </a:fld>
            <a:endParaRPr lang="en-US">
              <a:latin typeface="Aptos" panose="020B0004020202020204" pitchFamily="34" charset="0"/>
            </a:endParaRPr>
          </a:p>
        </p:txBody>
      </p:sp>
      <p:sp>
        <p:nvSpPr>
          <p:cNvPr id="28" name="Text Placeholder 2">
            <a:extLst>
              <a:ext uri="{FF2B5EF4-FFF2-40B4-BE49-F238E27FC236}">
                <a16:creationId xmlns:a16="http://schemas.microsoft.com/office/drawing/2014/main" id="{222D22E4-C8E3-3A37-5384-A3FF5398BAB2}"/>
              </a:ext>
            </a:extLst>
          </p:cNvPr>
          <p:cNvSpPr>
            <a:spLocks noGrp="1"/>
          </p:cNvSpPr>
          <p:nvPr>
            <p:ph type="body" sz="quarter" idx="13"/>
          </p:nvPr>
        </p:nvSpPr>
        <p:spPr>
          <a:xfrm>
            <a:off x="456642" y="379990"/>
            <a:ext cx="2194560" cy="267710"/>
          </a:xfrm>
        </p:spPr>
        <p:txBody>
          <a:bodyPr>
            <a:normAutofit fontScale="92500" lnSpcReduction="10000"/>
          </a:bodyPr>
          <a:lstStyle/>
          <a:p>
            <a:r>
              <a:rPr lang="en-US">
                <a:latin typeface="Aptos"/>
              </a:rPr>
              <a:t>2) </a:t>
            </a:r>
            <a:r>
              <a:rPr lang="en-US"/>
              <a:t>FastPass test</a:t>
            </a:r>
          </a:p>
        </p:txBody>
      </p:sp>
      <p:sp>
        <p:nvSpPr>
          <p:cNvPr id="4" name="Title 3">
            <a:extLst>
              <a:ext uri="{FF2B5EF4-FFF2-40B4-BE49-F238E27FC236}">
                <a16:creationId xmlns:a16="http://schemas.microsoft.com/office/drawing/2014/main" id="{37F17398-5E6C-7C71-CDFB-5CDB7D752E9D}"/>
              </a:ext>
            </a:extLst>
          </p:cNvPr>
          <p:cNvSpPr>
            <a:spLocks noGrp="1"/>
          </p:cNvSpPr>
          <p:nvPr>
            <p:ph type="title"/>
          </p:nvPr>
        </p:nvSpPr>
        <p:spPr/>
        <p:txBody>
          <a:bodyPr>
            <a:normAutofit fontScale="90000"/>
          </a:bodyPr>
          <a:lstStyle/>
          <a:p>
            <a:r>
              <a:rPr lang="en-US" b="1">
                <a:latin typeface="Aptos ExtraBold" panose="020B0004020202020204" pitchFamily="34" charset="0"/>
              </a:rPr>
              <a:t>The FastPass test</a:t>
            </a:r>
            <a:endParaRPr lang="en-US">
              <a:latin typeface="Aptos"/>
            </a:endParaRPr>
          </a:p>
        </p:txBody>
      </p:sp>
      <p:sp>
        <p:nvSpPr>
          <p:cNvPr id="5" name="Text Placeholder 4">
            <a:extLst>
              <a:ext uri="{FF2B5EF4-FFF2-40B4-BE49-F238E27FC236}">
                <a16:creationId xmlns:a16="http://schemas.microsoft.com/office/drawing/2014/main" id="{CE05C810-7D7F-4AEF-9C6F-28ED7BD84941}"/>
              </a:ext>
            </a:extLst>
          </p:cNvPr>
          <p:cNvSpPr>
            <a:spLocks noGrp="1"/>
          </p:cNvSpPr>
          <p:nvPr>
            <p:ph type="body" sz="quarter" idx="12"/>
          </p:nvPr>
        </p:nvSpPr>
        <p:spPr>
          <a:xfrm>
            <a:off x="460190" y="1295041"/>
            <a:ext cx="11412654" cy="988782"/>
          </a:xfrm>
        </p:spPr>
        <p:txBody>
          <a:bodyPr vert="horz" lIns="91440" tIns="45720" rIns="91440" bIns="45720" rtlCol="0" anchor="t">
            <a:noAutofit/>
          </a:bodyPr>
          <a:lstStyle/>
          <a:p>
            <a:r>
              <a:rPr lang="en-US" sz="1800">
                <a:latin typeface="Aptos Light"/>
              </a:rPr>
              <a:t>Now in the original window, you can use your computer's tab key to visit every interactive element until you reach the end of the page you’re testing. </a:t>
            </a:r>
            <a:r>
              <a:rPr lang="en-US" sz="1800" b="1">
                <a:latin typeface="Aptos Light"/>
              </a:rPr>
              <a:t>(G)</a:t>
            </a:r>
            <a:r>
              <a:rPr lang="en-US" sz="1800">
                <a:latin typeface="Aptos Light"/>
              </a:rPr>
              <a:t> FastPass will number every element you visit. </a:t>
            </a:r>
            <a:endParaRPr lang="en-US" sz="1800"/>
          </a:p>
        </p:txBody>
      </p:sp>
      <p:pic>
        <p:nvPicPr>
          <p:cNvPr id="3" name="Picture 2" descr="Screenshot of OTI homepage website with each interactive element numbered by FastPass">
            <a:extLst>
              <a:ext uri="{FF2B5EF4-FFF2-40B4-BE49-F238E27FC236}">
                <a16:creationId xmlns:a16="http://schemas.microsoft.com/office/drawing/2014/main" id="{43B316F8-4FFE-1770-A4E7-001F0157EE27}"/>
              </a:ext>
            </a:extLst>
          </p:cNvPr>
          <p:cNvPicPr>
            <a:picLocks noChangeAspect="1"/>
          </p:cNvPicPr>
          <p:nvPr/>
        </p:nvPicPr>
        <p:blipFill>
          <a:blip r:embed="rId2"/>
          <a:srcRect t="1098" b="101"/>
          <a:stretch>
            <a:fillRect/>
          </a:stretch>
        </p:blipFill>
        <p:spPr>
          <a:xfrm>
            <a:off x="1909187" y="2229394"/>
            <a:ext cx="8382000" cy="4472825"/>
          </a:xfrm>
          <a:prstGeom prst="rect">
            <a:avLst/>
          </a:prstGeom>
        </p:spPr>
      </p:pic>
      <p:sp>
        <p:nvSpPr>
          <p:cNvPr id="11" name="Arrow: Left 10">
            <a:extLst>
              <a:ext uri="{FF2B5EF4-FFF2-40B4-BE49-F238E27FC236}">
                <a16:creationId xmlns:a16="http://schemas.microsoft.com/office/drawing/2014/main" id="{934DB2D3-D4EF-AAC1-14FC-7263ACD93A2C}"/>
              </a:ext>
              <a:ext uri="{C183D7F6-B498-43B3-948B-1728B52AA6E4}">
                <adec:decorative xmlns:adec="http://schemas.microsoft.com/office/drawing/2017/decorative" val="1"/>
              </a:ext>
            </a:extLst>
          </p:cNvPr>
          <p:cNvSpPr/>
          <p:nvPr/>
        </p:nvSpPr>
        <p:spPr>
          <a:xfrm rot="-2160000">
            <a:off x="8648700" y="4627968"/>
            <a:ext cx="922020" cy="228600"/>
          </a:xfrm>
          <a:prstGeom prst="left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24A6611-F70C-757D-C94E-413A9CF327D9}"/>
              </a:ext>
            </a:extLst>
          </p:cNvPr>
          <p:cNvSpPr txBox="1"/>
          <p:nvPr/>
        </p:nvSpPr>
        <p:spPr>
          <a:xfrm>
            <a:off x="9485700" y="4041912"/>
            <a:ext cx="413896" cy="523220"/>
          </a:xfrm>
          <a:prstGeom prst="rect">
            <a:avLst/>
          </a:prstGeom>
          <a:noFill/>
        </p:spPr>
        <p:txBody>
          <a:bodyPr wrap="none" lIns="91440" tIns="45720" rIns="91440" bIns="45720" rtlCol="0" anchor="t">
            <a:spAutoFit/>
          </a:bodyPr>
          <a:lstStyle/>
          <a:p>
            <a:r>
              <a:rPr lang="en-US" sz="2800" b="1">
                <a:solidFill>
                  <a:srgbClr val="00B050"/>
                </a:solidFill>
                <a:ea typeface="Calibri"/>
                <a:cs typeface="Calibri"/>
              </a:rPr>
              <a:t>G</a:t>
            </a:r>
          </a:p>
        </p:txBody>
      </p:sp>
    </p:spTree>
    <p:extLst>
      <p:ext uri="{BB962C8B-B14F-4D97-AF65-F5344CB8AC3E}">
        <p14:creationId xmlns:p14="http://schemas.microsoft.com/office/powerpoint/2010/main" val="35534307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F19F2-D1AF-B918-3713-A10C2F2E787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AB6CAE-9224-B833-9053-D00DEC70C1B6}"/>
              </a:ext>
            </a:extLst>
          </p:cNvPr>
          <p:cNvSpPr>
            <a:spLocks noGrp="1"/>
          </p:cNvSpPr>
          <p:nvPr>
            <p:ph type="sldNum" sz="quarter" idx="11"/>
          </p:nvPr>
        </p:nvSpPr>
        <p:spPr/>
        <p:txBody>
          <a:bodyPr/>
          <a:lstStyle/>
          <a:p>
            <a:fld id="{28874E94-A9F8-5A41-9D43-235A602D77DE}" type="slidenum">
              <a:rPr lang="en-US" smtClean="0"/>
              <a:pPr/>
              <a:t>30</a:t>
            </a:fld>
            <a:endParaRPr lang="en-US">
              <a:latin typeface="Aptos" panose="020B0004020202020204" pitchFamily="34" charset="0"/>
            </a:endParaRPr>
          </a:p>
        </p:txBody>
      </p:sp>
      <p:sp>
        <p:nvSpPr>
          <p:cNvPr id="28" name="Text Placeholder 2">
            <a:extLst>
              <a:ext uri="{FF2B5EF4-FFF2-40B4-BE49-F238E27FC236}">
                <a16:creationId xmlns:a16="http://schemas.microsoft.com/office/drawing/2014/main" id="{55AE3380-239F-095B-7AFB-347DA7D4E34F}"/>
              </a:ext>
            </a:extLst>
          </p:cNvPr>
          <p:cNvSpPr>
            <a:spLocks noGrp="1"/>
          </p:cNvSpPr>
          <p:nvPr>
            <p:ph type="body" sz="quarter" idx="13"/>
          </p:nvPr>
        </p:nvSpPr>
        <p:spPr>
          <a:xfrm>
            <a:off x="456642" y="379990"/>
            <a:ext cx="2194560" cy="267710"/>
          </a:xfrm>
        </p:spPr>
        <p:txBody>
          <a:bodyPr>
            <a:normAutofit fontScale="92500" lnSpcReduction="10000"/>
          </a:bodyPr>
          <a:lstStyle/>
          <a:p>
            <a:r>
              <a:rPr lang="en-US">
                <a:latin typeface="Aptos"/>
              </a:rPr>
              <a:t>2) </a:t>
            </a:r>
            <a:r>
              <a:rPr lang="en-US"/>
              <a:t>FastPass test</a:t>
            </a:r>
          </a:p>
        </p:txBody>
      </p:sp>
      <p:sp>
        <p:nvSpPr>
          <p:cNvPr id="4" name="Title 3">
            <a:extLst>
              <a:ext uri="{FF2B5EF4-FFF2-40B4-BE49-F238E27FC236}">
                <a16:creationId xmlns:a16="http://schemas.microsoft.com/office/drawing/2014/main" id="{D161F2AD-0FCA-3053-099D-734E3E570DA0}"/>
              </a:ext>
            </a:extLst>
          </p:cNvPr>
          <p:cNvSpPr>
            <a:spLocks noGrp="1"/>
          </p:cNvSpPr>
          <p:nvPr>
            <p:ph type="title"/>
          </p:nvPr>
        </p:nvSpPr>
        <p:spPr/>
        <p:txBody>
          <a:bodyPr>
            <a:normAutofit fontScale="90000"/>
          </a:bodyPr>
          <a:lstStyle/>
          <a:p>
            <a:r>
              <a:rPr lang="en-US" b="1">
                <a:latin typeface="Aptos ExtraBold" panose="020B0004020202020204" pitchFamily="34" charset="0"/>
              </a:rPr>
              <a:t>The FastPass test</a:t>
            </a:r>
            <a:endParaRPr lang="en-US">
              <a:latin typeface="Aptos"/>
            </a:endParaRPr>
          </a:p>
        </p:txBody>
      </p:sp>
      <p:sp>
        <p:nvSpPr>
          <p:cNvPr id="5" name="Text Placeholder 4">
            <a:extLst>
              <a:ext uri="{FF2B5EF4-FFF2-40B4-BE49-F238E27FC236}">
                <a16:creationId xmlns:a16="http://schemas.microsoft.com/office/drawing/2014/main" id="{A731A02E-816A-354E-BFC4-55F4D0909B35}"/>
              </a:ext>
            </a:extLst>
          </p:cNvPr>
          <p:cNvSpPr>
            <a:spLocks noGrp="1"/>
          </p:cNvSpPr>
          <p:nvPr>
            <p:ph type="body" sz="quarter" idx="12"/>
          </p:nvPr>
        </p:nvSpPr>
        <p:spPr>
          <a:xfrm>
            <a:off x="451432" y="1330075"/>
            <a:ext cx="11368861" cy="953748"/>
          </a:xfrm>
        </p:spPr>
        <p:txBody>
          <a:bodyPr vert="horz" lIns="91440" tIns="45720" rIns="91440" bIns="45720" rtlCol="0" anchor="t">
            <a:noAutofit/>
          </a:bodyPr>
          <a:lstStyle/>
          <a:p>
            <a:r>
              <a:rPr lang="en-US" sz="1800">
                <a:latin typeface="Aptos Light"/>
              </a:rPr>
              <a:t>Returning to the FastPass window, </a:t>
            </a:r>
            <a:r>
              <a:rPr lang="en-US" sz="1800" b="1">
                <a:latin typeface="Aptos Light"/>
              </a:rPr>
              <a:t>(H) </a:t>
            </a:r>
            <a:r>
              <a:rPr lang="en-US" sz="1800">
                <a:latin typeface="Aptos Light"/>
              </a:rPr>
              <a:t>some issues will be automatically detected. </a:t>
            </a:r>
            <a:endParaRPr lang="en-US"/>
          </a:p>
        </p:txBody>
      </p:sp>
      <p:pic>
        <p:nvPicPr>
          <p:cNvPr id="3" name="Picture 2" descr="Screenshot of FastPass test with box H around the automatically detected failed instances. ">
            <a:extLst>
              <a:ext uri="{FF2B5EF4-FFF2-40B4-BE49-F238E27FC236}">
                <a16:creationId xmlns:a16="http://schemas.microsoft.com/office/drawing/2014/main" id="{DBB3E185-067F-B0BA-EBCF-AD29779FC2F5}"/>
              </a:ext>
            </a:extLst>
          </p:cNvPr>
          <p:cNvPicPr>
            <a:picLocks noChangeAspect="1"/>
          </p:cNvPicPr>
          <p:nvPr/>
        </p:nvPicPr>
        <p:blipFill>
          <a:blip r:embed="rId2"/>
          <a:stretch>
            <a:fillRect/>
          </a:stretch>
        </p:blipFill>
        <p:spPr>
          <a:xfrm>
            <a:off x="2234084" y="2009670"/>
            <a:ext cx="7723833" cy="4798089"/>
          </a:xfrm>
          <a:prstGeom prst="rect">
            <a:avLst/>
          </a:prstGeom>
        </p:spPr>
      </p:pic>
      <p:sp>
        <p:nvSpPr>
          <p:cNvPr id="7" name="Rectangle 6">
            <a:extLst>
              <a:ext uri="{FF2B5EF4-FFF2-40B4-BE49-F238E27FC236}">
                <a16:creationId xmlns:a16="http://schemas.microsoft.com/office/drawing/2014/main" id="{87B8375E-AA60-9C97-5410-9598D21C931C}"/>
              </a:ext>
              <a:ext uri="{C183D7F6-B498-43B3-948B-1728B52AA6E4}">
                <adec:decorative xmlns:adec="http://schemas.microsoft.com/office/drawing/2017/decorative" val="1"/>
              </a:ext>
            </a:extLst>
          </p:cNvPr>
          <p:cNvSpPr/>
          <p:nvPr/>
        </p:nvSpPr>
        <p:spPr>
          <a:xfrm>
            <a:off x="3469212" y="6334088"/>
            <a:ext cx="4692653" cy="600759"/>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5BA7B19-3EF3-F108-8C3C-A8CA9ABF49CF}"/>
              </a:ext>
            </a:extLst>
          </p:cNvPr>
          <p:cNvSpPr txBox="1"/>
          <p:nvPr/>
        </p:nvSpPr>
        <p:spPr>
          <a:xfrm>
            <a:off x="3056872" y="5916257"/>
            <a:ext cx="410690" cy="523220"/>
          </a:xfrm>
          <a:prstGeom prst="rect">
            <a:avLst/>
          </a:prstGeom>
          <a:noFill/>
        </p:spPr>
        <p:txBody>
          <a:bodyPr wrap="none" lIns="91440" tIns="45720" rIns="91440" bIns="45720" rtlCol="0" anchor="t">
            <a:spAutoFit/>
          </a:bodyPr>
          <a:lstStyle/>
          <a:p>
            <a:r>
              <a:rPr lang="en-US" sz="2800" b="1">
                <a:solidFill>
                  <a:srgbClr val="00B050"/>
                </a:solidFill>
                <a:ea typeface="Calibri"/>
                <a:cs typeface="Calibri"/>
              </a:rPr>
              <a:t>H</a:t>
            </a:r>
          </a:p>
        </p:txBody>
      </p:sp>
    </p:spTree>
    <p:extLst>
      <p:ext uri="{BB962C8B-B14F-4D97-AF65-F5344CB8AC3E}">
        <p14:creationId xmlns:p14="http://schemas.microsoft.com/office/powerpoint/2010/main" val="15368194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E28BF-BE1C-5E88-5EB9-1F3028C095B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317E98-A662-49C0-EF1F-D3064611824D}"/>
              </a:ext>
            </a:extLst>
          </p:cNvPr>
          <p:cNvSpPr>
            <a:spLocks noGrp="1"/>
          </p:cNvSpPr>
          <p:nvPr>
            <p:ph type="sldNum" sz="quarter" idx="11"/>
          </p:nvPr>
        </p:nvSpPr>
        <p:spPr/>
        <p:txBody>
          <a:bodyPr/>
          <a:lstStyle/>
          <a:p>
            <a:fld id="{28874E94-A9F8-5A41-9D43-235A602D77DE}" type="slidenum">
              <a:rPr lang="en-US" smtClean="0"/>
              <a:pPr/>
              <a:t>31</a:t>
            </a:fld>
            <a:endParaRPr lang="en-US">
              <a:latin typeface="Aptos" panose="020B0004020202020204" pitchFamily="34" charset="0"/>
            </a:endParaRPr>
          </a:p>
        </p:txBody>
      </p:sp>
      <p:sp>
        <p:nvSpPr>
          <p:cNvPr id="28" name="Text Placeholder 2">
            <a:extLst>
              <a:ext uri="{FF2B5EF4-FFF2-40B4-BE49-F238E27FC236}">
                <a16:creationId xmlns:a16="http://schemas.microsoft.com/office/drawing/2014/main" id="{ABD4FAF9-B5A5-9E91-E8E1-32417BA6BA4D}"/>
              </a:ext>
            </a:extLst>
          </p:cNvPr>
          <p:cNvSpPr>
            <a:spLocks noGrp="1"/>
          </p:cNvSpPr>
          <p:nvPr>
            <p:ph type="body" sz="quarter" idx="13"/>
          </p:nvPr>
        </p:nvSpPr>
        <p:spPr>
          <a:xfrm>
            <a:off x="456642" y="379990"/>
            <a:ext cx="2194560" cy="267710"/>
          </a:xfrm>
        </p:spPr>
        <p:txBody>
          <a:bodyPr>
            <a:normAutofit fontScale="92500" lnSpcReduction="10000"/>
          </a:bodyPr>
          <a:lstStyle/>
          <a:p>
            <a:r>
              <a:rPr lang="en-US">
                <a:latin typeface="Aptos"/>
              </a:rPr>
              <a:t>2) </a:t>
            </a:r>
            <a:r>
              <a:rPr lang="en-US"/>
              <a:t>FastPass test</a:t>
            </a:r>
          </a:p>
        </p:txBody>
      </p:sp>
      <p:sp>
        <p:nvSpPr>
          <p:cNvPr id="4" name="Title 3">
            <a:extLst>
              <a:ext uri="{FF2B5EF4-FFF2-40B4-BE49-F238E27FC236}">
                <a16:creationId xmlns:a16="http://schemas.microsoft.com/office/drawing/2014/main" id="{08E7D869-9418-52B0-5349-301A92257EA0}"/>
              </a:ext>
            </a:extLst>
          </p:cNvPr>
          <p:cNvSpPr>
            <a:spLocks noGrp="1"/>
          </p:cNvSpPr>
          <p:nvPr>
            <p:ph type="title"/>
          </p:nvPr>
        </p:nvSpPr>
        <p:spPr/>
        <p:txBody>
          <a:bodyPr>
            <a:normAutofit fontScale="90000"/>
          </a:bodyPr>
          <a:lstStyle/>
          <a:p>
            <a:r>
              <a:rPr lang="en-US" b="1">
                <a:latin typeface="Aptos ExtraBold" panose="020B0004020202020204" pitchFamily="34" charset="0"/>
              </a:rPr>
              <a:t>The FastPass test</a:t>
            </a:r>
            <a:endParaRPr lang="en-US">
              <a:latin typeface="Aptos"/>
            </a:endParaRPr>
          </a:p>
        </p:txBody>
      </p:sp>
      <p:sp>
        <p:nvSpPr>
          <p:cNvPr id="5" name="Text Placeholder 4">
            <a:extLst>
              <a:ext uri="{FF2B5EF4-FFF2-40B4-BE49-F238E27FC236}">
                <a16:creationId xmlns:a16="http://schemas.microsoft.com/office/drawing/2014/main" id="{5090399B-ED03-6C7F-BCC6-8AA42535BCE4}"/>
              </a:ext>
            </a:extLst>
          </p:cNvPr>
          <p:cNvSpPr>
            <a:spLocks noGrp="1"/>
          </p:cNvSpPr>
          <p:nvPr>
            <p:ph type="body" sz="quarter" idx="12"/>
          </p:nvPr>
        </p:nvSpPr>
        <p:spPr>
          <a:xfrm>
            <a:off x="451432" y="1330075"/>
            <a:ext cx="11368861" cy="953748"/>
          </a:xfrm>
        </p:spPr>
        <p:txBody>
          <a:bodyPr vert="horz" lIns="91440" tIns="45720" rIns="91440" bIns="45720" rtlCol="0" anchor="t">
            <a:noAutofit/>
          </a:bodyPr>
          <a:lstStyle/>
          <a:p>
            <a:r>
              <a:rPr lang="en-US" sz="1800">
                <a:latin typeface="Aptos Light"/>
              </a:rPr>
              <a:t>Returning to the FastPass window, </a:t>
            </a:r>
            <a:r>
              <a:rPr lang="en-US" sz="1800" b="1">
                <a:latin typeface="Aptos Light"/>
              </a:rPr>
              <a:t>(H) </a:t>
            </a:r>
            <a:r>
              <a:rPr lang="en-US" sz="1800">
                <a:latin typeface="Aptos Light"/>
              </a:rPr>
              <a:t>some issues will be automatically detected. </a:t>
            </a:r>
            <a:r>
              <a:rPr lang="en-US" sz="1800" b="1">
                <a:latin typeface="Aptos Light"/>
              </a:rPr>
              <a:t>(</a:t>
            </a:r>
            <a:r>
              <a:rPr lang="en-US" sz="1800">
                <a:latin typeface="Consolas"/>
              </a:rPr>
              <a:t>I</a:t>
            </a:r>
            <a:r>
              <a:rPr lang="en-US" sz="1800" b="1">
                <a:latin typeface="Aptos Light"/>
              </a:rPr>
              <a:t>)</a:t>
            </a:r>
            <a:r>
              <a:rPr lang="en-US" sz="1800">
                <a:latin typeface="Aptos Light"/>
              </a:rPr>
              <a:t> Answer the five questions (Pass / Fail) yourself to complete the test.</a:t>
            </a:r>
            <a:endParaRPr lang="en-US"/>
          </a:p>
        </p:txBody>
      </p:sp>
      <p:pic>
        <p:nvPicPr>
          <p:cNvPr id="3" name="Picture 2" descr="Screenshot of FastPass test with box I around five pass fail questions.">
            <a:extLst>
              <a:ext uri="{FF2B5EF4-FFF2-40B4-BE49-F238E27FC236}">
                <a16:creationId xmlns:a16="http://schemas.microsoft.com/office/drawing/2014/main" id="{BCDD2EA9-CF25-C550-9A09-B90E101D771E}"/>
              </a:ext>
            </a:extLst>
          </p:cNvPr>
          <p:cNvPicPr>
            <a:picLocks noChangeAspect="1"/>
          </p:cNvPicPr>
          <p:nvPr/>
        </p:nvPicPr>
        <p:blipFill>
          <a:blip r:embed="rId2"/>
          <a:stretch>
            <a:fillRect/>
          </a:stretch>
        </p:blipFill>
        <p:spPr>
          <a:xfrm>
            <a:off x="2234084" y="2009670"/>
            <a:ext cx="7723833" cy="4798089"/>
          </a:xfrm>
          <a:prstGeom prst="rect">
            <a:avLst/>
          </a:prstGeom>
        </p:spPr>
      </p:pic>
      <p:sp>
        <p:nvSpPr>
          <p:cNvPr id="7" name="Rectangle 6">
            <a:extLst>
              <a:ext uri="{FF2B5EF4-FFF2-40B4-BE49-F238E27FC236}">
                <a16:creationId xmlns:a16="http://schemas.microsoft.com/office/drawing/2014/main" id="{87A3F00C-0314-6C9B-5C85-DFFC1AB6FC74}"/>
              </a:ext>
              <a:ext uri="{C183D7F6-B498-43B3-948B-1728B52AA6E4}">
                <adec:decorative xmlns:adec="http://schemas.microsoft.com/office/drawing/2017/decorative" val="1"/>
              </a:ext>
            </a:extLst>
          </p:cNvPr>
          <p:cNvSpPr/>
          <p:nvPr/>
        </p:nvSpPr>
        <p:spPr>
          <a:xfrm>
            <a:off x="3548040" y="4626157"/>
            <a:ext cx="6409342" cy="1809448"/>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1CE2C44-BCE7-EEC8-26E6-19668E031622}"/>
              </a:ext>
            </a:extLst>
          </p:cNvPr>
          <p:cNvSpPr txBox="1"/>
          <p:nvPr/>
        </p:nvSpPr>
        <p:spPr>
          <a:xfrm>
            <a:off x="3100666" y="4234602"/>
            <a:ext cx="381836" cy="523220"/>
          </a:xfrm>
          <a:prstGeom prst="rect">
            <a:avLst/>
          </a:prstGeom>
          <a:noFill/>
        </p:spPr>
        <p:txBody>
          <a:bodyPr wrap="none" lIns="91440" tIns="45720" rIns="91440" bIns="45720" rtlCol="0" anchor="t">
            <a:spAutoFit/>
          </a:bodyPr>
          <a:lstStyle/>
          <a:p>
            <a:r>
              <a:rPr lang="en-US" sz="2800" b="1">
                <a:solidFill>
                  <a:srgbClr val="00B050"/>
                </a:solidFill>
                <a:latin typeface="Consolas"/>
                <a:ea typeface="Cambria"/>
                <a:cs typeface="Calibri"/>
              </a:rPr>
              <a:t>I</a:t>
            </a:r>
            <a:endParaRPr lang="en-US">
              <a:latin typeface="Consolas"/>
              <a:ea typeface="Cambria"/>
            </a:endParaRPr>
          </a:p>
        </p:txBody>
      </p:sp>
    </p:spTree>
    <p:extLst>
      <p:ext uri="{BB962C8B-B14F-4D97-AF65-F5344CB8AC3E}">
        <p14:creationId xmlns:p14="http://schemas.microsoft.com/office/powerpoint/2010/main" val="17022437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1BA87-46AA-1988-D7C6-BC1B43CC4CD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979547-AB6D-19EC-2830-04A9569D8D6E}"/>
              </a:ext>
            </a:extLst>
          </p:cNvPr>
          <p:cNvSpPr>
            <a:spLocks noGrp="1"/>
          </p:cNvSpPr>
          <p:nvPr>
            <p:ph type="sldNum" sz="quarter" idx="11"/>
          </p:nvPr>
        </p:nvSpPr>
        <p:spPr/>
        <p:txBody>
          <a:bodyPr/>
          <a:lstStyle/>
          <a:p>
            <a:fld id="{28874E94-A9F8-5A41-9D43-235A602D77DE}" type="slidenum">
              <a:rPr lang="en-US" smtClean="0"/>
              <a:pPr/>
              <a:t>32</a:t>
            </a:fld>
            <a:endParaRPr lang="en-US">
              <a:latin typeface="Aptos" panose="020B0004020202020204" pitchFamily="34" charset="0"/>
            </a:endParaRPr>
          </a:p>
        </p:txBody>
      </p:sp>
      <p:sp>
        <p:nvSpPr>
          <p:cNvPr id="28" name="Text Placeholder 2">
            <a:extLst>
              <a:ext uri="{FF2B5EF4-FFF2-40B4-BE49-F238E27FC236}">
                <a16:creationId xmlns:a16="http://schemas.microsoft.com/office/drawing/2014/main" id="{C004E4BC-901B-542E-BCE6-3BFDC296449F}"/>
              </a:ext>
            </a:extLst>
          </p:cNvPr>
          <p:cNvSpPr>
            <a:spLocks noGrp="1"/>
          </p:cNvSpPr>
          <p:nvPr>
            <p:ph type="body" sz="quarter" idx="13"/>
          </p:nvPr>
        </p:nvSpPr>
        <p:spPr>
          <a:xfrm>
            <a:off x="456642" y="379990"/>
            <a:ext cx="2194560" cy="267710"/>
          </a:xfrm>
        </p:spPr>
        <p:txBody>
          <a:bodyPr>
            <a:normAutofit fontScale="92500" lnSpcReduction="10000"/>
          </a:bodyPr>
          <a:lstStyle/>
          <a:p>
            <a:r>
              <a:rPr lang="en-US">
                <a:latin typeface="Aptos"/>
              </a:rPr>
              <a:t>2) </a:t>
            </a:r>
            <a:r>
              <a:rPr lang="en-US"/>
              <a:t>FastPass test</a:t>
            </a:r>
          </a:p>
        </p:txBody>
      </p:sp>
      <p:sp>
        <p:nvSpPr>
          <p:cNvPr id="4" name="Title 3">
            <a:extLst>
              <a:ext uri="{FF2B5EF4-FFF2-40B4-BE49-F238E27FC236}">
                <a16:creationId xmlns:a16="http://schemas.microsoft.com/office/drawing/2014/main" id="{4D90C9FD-80AA-3DFC-A0AF-6516E9AA09A4}"/>
              </a:ext>
            </a:extLst>
          </p:cNvPr>
          <p:cNvSpPr>
            <a:spLocks noGrp="1"/>
          </p:cNvSpPr>
          <p:nvPr>
            <p:ph type="title"/>
          </p:nvPr>
        </p:nvSpPr>
        <p:spPr/>
        <p:txBody>
          <a:bodyPr>
            <a:normAutofit fontScale="90000"/>
          </a:bodyPr>
          <a:lstStyle/>
          <a:p>
            <a:r>
              <a:rPr lang="en-US" b="1">
                <a:latin typeface="Aptos ExtraBold" panose="020B0004020202020204" pitchFamily="34" charset="0"/>
              </a:rPr>
              <a:t>The FastPass test</a:t>
            </a:r>
            <a:endParaRPr lang="en-US">
              <a:latin typeface="Aptos"/>
            </a:endParaRPr>
          </a:p>
        </p:txBody>
      </p:sp>
      <p:sp>
        <p:nvSpPr>
          <p:cNvPr id="5" name="Text Placeholder 4">
            <a:extLst>
              <a:ext uri="{FF2B5EF4-FFF2-40B4-BE49-F238E27FC236}">
                <a16:creationId xmlns:a16="http://schemas.microsoft.com/office/drawing/2014/main" id="{F212997E-1186-B610-37B5-1E9E33F8D727}"/>
              </a:ext>
            </a:extLst>
          </p:cNvPr>
          <p:cNvSpPr>
            <a:spLocks noGrp="1"/>
          </p:cNvSpPr>
          <p:nvPr>
            <p:ph type="body" sz="quarter" idx="12"/>
          </p:nvPr>
        </p:nvSpPr>
        <p:spPr>
          <a:xfrm>
            <a:off x="451432" y="1330075"/>
            <a:ext cx="11368861" cy="953748"/>
          </a:xfrm>
        </p:spPr>
        <p:txBody>
          <a:bodyPr vert="horz" lIns="91440" tIns="45720" rIns="91440" bIns="45720" rtlCol="0" anchor="t">
            <a:noAutofit/>
          </a:bodyPr>
          <a:lstStyle/>
          <a:p>
            <a:r>
              <a:rPr lang="en-US" sz="1800">
                <a:latin typeface="Aptos Light"/>
              </a:rPr>
              <a:t>You're done! </a:t>
            </a:r>
            <a:r>
              <a:rPr lang="en-US" sz="1800" b="1">
                <a:latin typeface="Aptos Light"/>
              </a:rPr>
              <a:t>(J)</a:t>
            </a:r>
            <a:r>
              <a:rPr lang="en-US" sz="1800">
                <a:latin typeface="Aptos Light"/>
              </a:rPr>
              <a:t> “Needs review” provides suggestions and can be disregarded.</a:t>
            </a:r>
            <a:endParaRPr lang="en-US"/>
          </a:p>
        </p:txBody>
      </p:sp>
      <p:pic>
        <p:nvPicPr>
          <p:cNvPr id="3" name="Picture 2" descr="Screenshot of FastPass test with box J around button to proceed to Step 3 &quot;Needs review&quot;">
            <a:extLst>
              <a:ext uri="{FF2B5EF4-FFF2-40B4-BE49-F238E27FC236}">
                <a16:creationId xmlns:a16="http://schemas.microsoft.com/office/drawing/2014/main" id="{CB2EE142-AD51-34CA-B731-B1432C47D6DD}"/>
              </a:ext>
            </a:extLst>
          </p:cNvPr>
          <p:cNvPicPr>
            <a:picLocks noChangeAspect="1"/>
          </p:cNvPicPr>
          <p:nvPr/>
        </p:nvPicPr>
        <p:blipFill>
          <a:blip r:embed="rId2"/>
          <a:stretch>
            <a:fillRect/>
          </a:stretch>
        </p:blipFill>
        <p:spPr>
          <a:xfrm>
            <a:off x="2234084" y="2009670"/>
            <a:ext cx="7723833" cy="4798089"/>
          </a:xfrm>
          <a:prstGeom prst="rect">
            <a:avLst/>
          </a:prstGeom>
        </p:spPr>
      </p:pic>
      <p:sp>
        <p:nvSpPr>
          <p:cNvPr id="7" name="Rectangle 6">
            <a:extLst>
              <a:ext uri="{FF2B5EF4-FFF2-40B4-BE49-F238E27FC236}">
                <a16:creationId xmlns:a16="http://schemas.microsoft.com/office/drawing/2014/main" id="{BEE319AC-C69E-33C8-22DD-9877A1CE2962}"/>
              </a:ext>
              <a:ext uri="{C183D7F6-B498-43B3-948B-1728B52AA6E4}">
                <adec:decorative xmlns:adec="http://schemas.microsoft.com/office/drawing/2017/decorative" val="1"/>
              </a:ext>
            </a:extLst>
          </p:cNvPr>
          <p:cNvSpPr/>
          <p:nvPr/>
        </p:nvSpPr>
        <p:spPr>
          <a:xfrm>
            <a:off x="2164178" y="2883191"/>
            <a:ext cx="1478239" cy="355517"/>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5EB8CC-75E6-E834-B3F5-40DA1A85B641}"/>
              </a:ext>
            </a:extLst>
          </p:cNvPr>
          <p:cNvSpPr txBox="1"/>
          <p:nvPr/>
        </p:nvSpPr>
        <p:spPr>
          <a:xfrm>
            <a:off x="1856941" y="2535429"/>
            <a:ext cx="303288" cy="523220"/>
          </a:xfrm>
          <a:prstGeom prst="rect">
            <a:avLst/>
          </a:prstGeom>
          <a:noFill/>
        </p:spPr>
        <p:txBody>
          <a:bodyPr wrap="none" lIns="91440" tIns="45720" rIns="91440" bIns="45720" rtlCol="0" anchor="t">
            <a:spAutoFit/>
          </a:bodyPr>
          <a:lstStyle/>
          <a:p>
            <a:r>
              <a:rPr lang="en-US" sz="2800" b="1">
                <a:solidFill>
                  <a:srgbClr val="00B050"/>
                </a:solidFill>
                <a:ea typeface="Calibri"/>
                <a:cs typeface="Calibri"/>
              </a:rPr>
              <a:t>J</a:t>
            </a:r>
          </a:p>
        </p:txBody>
      </p:sp>
    </p:spTree>
    <p:extLst>
      <p:ext uri="{BB962C8B-B14F-4D97-AF65-F5344CB8AC3E}">
        <p14:creationId xmlns:p14="http://schemas.microsoft.com/office/powerpoint/2010/main" val="8888853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639BB-CCE5-1929-B16F-ED547A11A387}"/>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1C27AD70-7BFF-5D77-B09D-DC91C6798D51}"/>
              </a:ext>
            </a:extLst>
          </p:cNvPr>
          <p:cNvSpPr/>
          <p:nvPr/>
        </p:nvSpPr>
        <p:spPr>
          <a:xfrm>
            <a:off x="129092" y="5680038"/>
            <a:ext cx="5787614" cy="112559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72084634-69F4-7CAB-972E-48C4AC50548E}"/>
              </a:ext>
            </a:extLst>
          </p:cNvPr>
          <p:cNvSpPr>
            <a:spLocks noGrp="1"/>
          </p:cNvSpPr>
          <p:nvPr>
            <p:ph type="sldNum" sz="quarter" idx="11"/>
          </p:nvPr>
        </p:nvSpPr>
        <p:spPr/>
        <p:txBody>
          <a:bodyPr/>
          <a:lstStyle/>
          <a:p>
            <a:fld id="{28874E94-A9F8-5A41-9D43-235A602D77DE}" type="slidenum">
              <a:rPr lang="en-US" smtClean="0"/>
              <a:pPr/>
              <a:t>33</a:t>
            </a:fld>
            <a:endParaRPr lang="en-US">
              <a:latin typeface="Aptos" panose="020B0004020202020204" pitchFamily="34" charset="0"/>
            </a:endParaRPr>
          </a:p>
        </p:txBody>
      </p:sp>
      <p:sp>
        <p:nvSpPr>
          <p:cNvPr id="3" name="Text Placeholder 2">
            <a:extLst>
              <a:ext uri="{FF2B5EF4-FFF2-40B4-BE49-F238E27FC236}">
                <a16:creationId xmlns:a16="http://schemas.microsoft.com/office/drawing/2014/main" id="{C44395C6-26EA-EA68-68F6-A1326C776E2A}"/>
              </a:ext>
            </a:extLst>
          </p:cNvPr>
          <p:cNvSpPr>
            <a:spLocks noGrp="1"/>
          </p:cNvSpPr>
          <p:nvPr>
            <p:ph type="body" sz="quarter" idx="13"/>
          </p:nvPr>
        </p:nvSpPr>
        <p:spPr/>
        <p:txBody>
          <a:bodyPr vert="horz" lIns="91440" tIns="45720" rIns="91440" bIns="45720" rtlCol="0" anchor="t">
            <a:normAutofit/>
          </a:bodyPr>
          <a:lstStyle/>
          <a:p>
            <a:r>
              <a:rPr lang="en-US" sz="1200"/>
              <a:t>3) Engineering prototype</a:t>
            </a:r>
          </a:p>
        </p:txBody>
      </p:sp>
      <p:sp>
        <p:nvSpPr>
          <p:cNvPr id="4" name="Title 3">
            <a:extLst>
              <a:ext uri="{FF2B5EF4-FFF2-40B4-BE49-F238E27FC236}">
                <a16:creationId xmlns:a16="http://schemas.microsoft.com/office/drawing/2014/main" id="{F4747A94-DFE3-9122-5CC3-2E662546AD5F}"/>
              </a:ext>
            </a:extLst>
          </p:cNvPr>
          <p:cNvSpPr>
            <a:spLocks noGrp="1"/>
          </p:cNvSpPr>
          <p:nvPr>
            <p:ph type="title"/>
          </p:nvPr>
        </p:nvSpPr>
        <p:spPr>
          <a:xfrm>
            <a:off x="436356" y="631347"/>
            <a:ext cx="11343406" cy="1354185"/>
          </a:xfrm>
        </p:spPr>
        <p:txBody>
          <a:bodyPr>
            <a:normAutofit fontScale="90000"/>
          </a:bodyPr>
          <a:lstStyle/>
          <a:p>
            <a:r>
              <a:rPr lang="en-US" b="1">
                <a:latin typeface="Aptos ExtraBold" panose="020B0004020202020204" pitchFamily="34" charset="0"/>
              </a:rPr>
              <a:t>3) Share engineering prototype for review</a:t>
            </a:r>
          </a:p>
        </p:txBody>
      </p:sp>
      <p:sp>
        <p:nvSpPr>
          <p:cNvPr id="5" name="Rounded Rectangle 4">
            <a:extLst>
              <a:ext uri="{FF2B5EF4-FFF2-40B4-BE49-F238E27FC236}">
                <a16:creationId xmlns:a16="http://schemas.microsoft.com/office/drawing/2014/main" id="{77CBC83F-E2E5-3529-56CF-2DE3B25DB8D5}"/>
              </a:ext>
            </a:extLst>
          </p:cNvPr>
          <p:cNvSpPr/>
          <p:nvPr/>
        </p:nvSpPr>
        <p:spPr>
          <a:xfrm>
            <a:off x="456642" y="2024708"/>
            <a:ext cx="5283138" cy="1678409"/>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tx1"/>
                </a:solidFill>
                <a:latin typeface="Aptos"/>
              </a:rPr>
              <a:t>Recommendation</a:t>
            </a:r>
            <a:r>
              <a:rPr lang="en-US" sz="2400" b="1">
                <a:solidFill>
                  <a:schemeClr val="tx1"/>
                </a:solidFill>
                <a:latin typeface="Calibri" panose="020F0502020204030204"/>
                <a:cs typeface="Calibri"/>
              </a:rPr>
              <a:t>: </a:t>
            </a:r>
            <a:r>
              <a:rPr lang="en-US" sz="2400">
                <a:solidFill>
                  <a:schemeClr val="tx1"/>
                </a:solidFill>
                <a:latin typeface="Aptos Light"/>
              </a:rPr>
              <a:t>Receive feedback from an accessibility expert again before finalizing engineering.</a:t>
            </a:r>
            <a:endParaRPr lang="en-US" sz="2400">
              <a:solidFill>
                <a:schemeClr val="tx1"/>
              </a:solidFill>
              <a:ea typeface="Calibri"/>
              <a:cs typeface="Calibri"/>
            </a:endParaRPr>
          </a:p>
        </p:txBody>
      </p:sp>
      <p:sp>
        <p:nvSpPr>
          <p:cNvPr id="8" name="Right Arrow 7">
            <a:extLst>
              <a:ext uri="{FF2B5EF4-FFF2-40B4-BE49-F238E27FC236}">
                <a16:creationId xmlns:a16="http://schemas.microsoft.com/office/drawing/2014/main" id="{9786AAB5-830A-A74E-DCC8-20AF966D57C8}"/>
              </a:ext>
              <a:ext uri="{C183D7F6-B498-43B3-948B-1728B52AA6E4}">
                <adec:decorative xmlns:adec="http://schemas.microsoft.com/office/drawing/2017/decorative" val="1"/>
              </a:ext>
            </a:extLst>
          </p:cNvPr>
          <p:cNvSpPr/>
          <p:nvPr/>
        </p:nvSpPr>
        <p:spPr>
          <a:xfrm>
            <a:off x="5767704" y="2619589"/>
            <a:ext cx="717176" cy="530201"/>
          </a:xfrm>
          <a:prstGeom prst="rightArrow">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934FBF58-8B96-E106-8A1A-DCFCAF4F3EB2}"/>
              </a:ext>
            </a:extLst>
          </p:cNvPr>
          <p:cNvSpPr/>
          <p:nvPr/>
        </p:nvSpPr>
        <p:spPr>
          <a:xfrm>
            <a:off x="6484880" y="2024708"/>
            <a:ext cx="5250480" cy="1678409"/>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tx1"/>
                </a:solidFill>
                <a:latin typeface="Aptos"/>
              </a:rPr>
              <a:t>Goal</a:t>
            </a:r>
            <a:r>
              <a:rPr lang="en-US" sz="2400" b="1">
                <a:solidFill>
                  <a:schemeClr val="tx1"/>
                </a:solidFill>
              </a:rPr>
              <a:t>: </a:t>
            </a:r>
            <a:r>
              <a:rPr lang="en-US" sz="2400">
                <a:solidFill>
                  <a:schemeClr val="tx1"/>
                </a:solidFill>
                <a:latin typeface="Aptos Light"/>
              </a:rPr>
              <a:t>Address highest priority feedback items to ensure screen readers can access (</a:t>
            </a:r>
            <a:r>
              <a:rPr lang="en-US" sz="2400" err="1">
                <a:solidFill>
                  <a:schemeClr val="tx1"/>
                </a:solidFill>
                <a:latin typeface="Aptos Light"/>
              </a:rPr>
              <a:t>e.g</a:t>
            </a:r>
            <a:r>
              <a:rPr lang="en-US" sz="2400">
                <a:solidFill>
                  <a:schemeClr val="tx1"/>
                </a:solidFill>
                <a:latin typeface="Aptos Light"/>
              </a:rPr>
              <a:t>, "P0", "P1")</a:t>
            </a:r>
            <a:endParaRPr lang="en-US" sz="2400">
              <a:solidFill>
                <a:schemeClr val="tx1"/>
              </a:solidFill>
            </a:endParaRPr>
          </a:p>
        </p:txBody>
      </p:sp>
      <p:sp>
        <p:nvSpPr>
          <p:cNvPr id="10" name="Rounded Rectangle 9">
            <a:extLst>
              <a:ext uri="{FF2B5EF4-FFF2-40B4-BE49-F238E27FC236}">
                <a16:creationId xmlns:a16="http://schemas.microsoft.com/office/drawing/2014/main" id="{00D1D5FF-3435-7E20-DCA8-0AC590EE3897}"/>
              </a:ext>
            </a:extLst>
          </p:cNvPr>
          <p:cNvSpPr/>
          <p:nvPr/>
        </p:nvSpPr>
        <p:spPr>
          <a:xfrm>
            <a:off x="413098" y="3888226"/>
            <a:ext cx="11278718" cy="45182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How to solicit feedback</a:t>
            </a:r>
          </a:p>
        </p:txBody>
      </p:sp>
      <p:sp>
        <p:nvSpPr>
          <p:cNvPr id="9" name="TextBox 8">
            <a:extLst>
              <a:ext uri="{FF2B5EF4-FFF2-40B4-BE49-F238E27FC236}">
                <a16:creationId xmlns:a16="http://schemas.microsoft.com/office/drawing/2014/main" id="{B8914554-6650-8072-4ECF-9AC6CA939B43}"/>
              </a:ext>
            </a:extLst>
          </p:cNvPr>
          <p:cNvSpPr txBox="1"/>
          <p:nvPr/>
        </p:nvSpPr>
        <p:spPr>
          <a:xfrm>
            <a:off x="459277" y="4412461"/>
            <a:ext cx="7017969" cy="2385268"/>
          </a:xfrm>
          <a:prstGeom prst="rect">
            <a:avLst/>
          </a:prstGeom>
          <a:noFill/>
        </p:spPr>
        <p:txBody>
          <a:bodyPr wrap="square" lIns="91440" tIns="45720" rIns="91440" bIns="45720" anchor="t">
            <a:spAutoFit/>
          </a:bodyPr>
          <a:lstStyle/>
          <a:p>
            <a:pPr>
              <a:spcAft>
                <a:spcPts val="600"/>
              </a:spcAft>
            </a:pPr>
            <a:r>
              <a:rPr lang="en-US" dirty="0">
                <a:latin typeface="Aptos Light"/>
              </a:rPr>
              <a:t>For most agencies this means visiting </a:t>
            </a:r>
            <a:r>
              <a:rPr lang="en-US" b="1" dirty="0">
                <a:latin typeface="Aptos SemiBold"/>
              </a:rPr>
              <a:t>MOPD’s accessibility office hours</a:t>
            </a:r>
            <a:r>
              <a:rPr lang="en-US" dirty="0">
                <a:latin typeface="Aptos Light"/>
              </a:rPr>
              <a:t>. Arthur Jacobs can test your website using a screen reader and advise you on which issues to prioritize.</a:t>
            </a:r>
          </a:p>
          <a:p>
            <a:pPr>
              <a:spcAft>
                <a:spcPts val="600"/>
              </a:spcAft>
            </a:pPr>
            <a:r>
              <a:rPr lang="en-US" b="1" dirty="0">
                <a:latin typeface="Aptos SemiBold"/>
              </a:rPr>
              <a:t>Consultants</a:t>
            </a:r>
            <a:r>
              <a:rPr lang="en-US" dirty="0">
                <a:latin typeface="Aptos SemiBold"/>
              </a:rPr>
              <a:t> </a:t>
            </a:r>
            <a:r>
              <a:rPr lang="en-US" dirty="0">
                <a:latin typeface="Aptos Light"/>
              </a:rPr>
              <a:t>who are accessibility experts can provide the same advice. We can recommend two: </a:t>
            </a:r>
            <a:r>
              <a:rPr lang="en-US" dirty="0">
                <a:latin typeface="Aptos Light"/>
                <a:hlinkClick r:id="rId3"/>
              </a:rPr>
              <a:t>AccessAbility Officer</a:t>
            </a:r>
            <a:r>
              <a:rPr lang="en-US" dirty="0">
                <a:latin typeface="Aptos Light"/>
              </a:rPr>
              <a:t> and </a:t>
            </a:r>
            <a:r>
              <a:rPr lang="en-US" dirty="0">
                <a:latin typeface="Aptos Light"/>
                <a:hlinkClick r:id="rId4"/>
              </a:rPr>
              <a:t>Deque</a:t>
            </a:r>
            <a:r>
              <a:rPr lang="en-US" dirty="0">
                <a:latin typeface="Aptos Light"/>
              </a:rPr>
              <a:t>. </a:t>
            </a:r>
            <a:r>
              <a:rPr lang="en-US" dirty="0">
                <a:latin typeface="Aptos Light" panose="020B0004020202020204" pitchFamily="34" charset="0"/>
              </a:rPr>
              <a:t>The city has a contracting vehicle with </a:t>
            </a:r>
            <a:r>
              <a:rPr lang="en-US" dirty="0">
                <a:latin typeface="Aptos Light" panose="020B0004020202020204" pitchFamily="34" charset="0"/>
                <a:hlinkClick r:id="rId5"/>
              </a:rPr>
              <a:t>NIBNY</a:t>
            </a:r>
            <a:r>
              <a:rPr lang="en-US" dirty="0">
                <a:latin typeface="Aptos Light" panose="020B0004020202020204" pitchFamily="34" charset="0"/>
              </a:rPr>
              <a:t> as a preferred source provider for accessibility testing. As a first step, contact your Agency Chief Contracting Officer (ACCO).</a:t>
            </a:r>
            <a:endParaRPr lang="en-US" dirty="0">
              <a:solidFill>
                <a:srgbClr val="000000"/>
              </a:solidFill>
              <a:latin typeface="Aptos Light"/>
              <a:ea typeface="Calibri"/>
              <a:cs typeface="Calibri"/>
            </a:endParaRPr>
          </a:p>
        </p:txBody>
      </p:sp>
      <p:sp>
        <p:nvSpPr>
          <p:cNvPr id="11" name="Rounded Rectangle 6">
            <a:extLst>
              <a:ext uri="{FF2B5EF4-FFF2-40B4-BE49-F238E27FC236}">
                <a16:creationId xmlns:a16="http://schemas.microsoft.com/office/drawing/2014/main" id="{03A5E8E3-5F5B-E424-4C75-AA406BA5DA13}"/>
              </a:ext>
            </a:extLst>
          </p:cNvPr>
          <p:cNvSpPr/>
          <p:nvPr/>
        </p:nvSpPr>
        <p:spPr>
          <a:xfrm>
            <a:off x="7592992" y="4472888"/>
            <a:ext cx="4000851" cy="1893203"/>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tx1"/>
                </a:solidFill>
                <a:latin typeface="Aptos"/>
              </a:rPr>
              <a:t>Accessibility Office Hours</a:t>
            </a:r>
            <a:endParaRPr lang="en-US" sz="2400">
              <a:solidFill>
                <a:schemeClr val="tx1"/>
              </a:solidFill>
              <a:latin typeface="Aptos Light"/>
            </a:endParaRPr>
          </a:p>
          <a:p>
            <a:pPr marL="285750" indent="-285750">
              <a:lnSpc>
                <a:spcPct val="90000"/>
              </a:lnSpc>
              <a:spcBef>
                <a:spcPts val="1000"/>
              </a:spcBef>
              <a:buFont typeface="Wingdings"/>
              <a:buChar char="v"/>
            </a:pPr>
            <a:r>
              <a:rPr lang="en-US">
                <a:solidFill>
                  <a:schemeClr val="tx1"/>
                </a:solidFill>
                <a:latin typeface="Aptos"/>
              </a:rPr>
              <a:t>Every Friday 10-11am</a:t>
            </a:r>
          </a:p>
          <a:p>
            <a:pPr marL="285750" indent="-285750">
              <a:lnSpc>
                <a:spcPct val="90000"/>
              </a:lnSpc>
              <a:spcBef>
                <a:spcPts val="1000"/>
              </a:spcBef>
              <a:buFont typeface="Wingdings"/>
              <a:buChar char="v"/>
            </a:pPr>
            <a:r>
              <a:rPr lang="en-US">
                <a:solidFill>
                  <a:schemeClr val="tx1"/>
                </a:solidFill>
                <a:latin typeface="Aptos"/>
              </a:rPr>
              <a:t>Hosted by Arthur Jacobs </a:t>
            </a:r>
            <a:br>
              <a:rPr lang="en-US">
                <a:latin typeface="Aptos"/>
              </a:rPr>
            </a:br>
            <a:r>
              <a:rPr lang="en-US">
                <a:solidFill>
                  <a:schemeClr val="tx1"/>
                </a:solidFill>
                <a:latin typeface="Aptos"/>
              </a:rPr>
              <a:t>(</a:t>
            </a:r>
            <a:r>
              <a:rPr lang="en-US">
                <a:solidFill>
                  <a:schemeClr val="tx1"/>
                </a:solidFill>
                <a:latin typeface="Aptos"/>
                <a:ea typeface="+mn-lt"/>
                <a:cs typeface="+mn-lt"/>
                <a:hlinkClick r:id="rId6">
                  <a:extLst>
                    <a:ext uri="{A12FA001-AC4F-418D-AE19-62706E023703}">
                      <ahyp:hlinkClr xmlns:ahyp="http://schemas.microsoft.com/office/drawing/2018/hyperlinkcolor" val="tx"/>
                    </a:ext>
                  </a:extLst>
                </a:hlinkClick>
              </a:rPr>
              <a:t>ajacobs2@mopd.nyc.gov</a:t>
            </a:r>
            <a:r>
              <a:rPr lang="en-US">
                <a:solidFill>
                  <a:schemeClr val="tx1"/>
                </a:solidFill>
                <a:latin typeface="Aptos"/>
                <a:ea typeface="+mn-lt"/>
                <a:cs typeface="+mn-lt"/>
              </a:rPr>
              <a:t>)</a:t>
            </a:r>
          </a:p>
          <a:p>
            <a:pPr marL="285750" indent="-285750">
              <a:lnSpc>
                <a:spcPct val="90000"/>
              </a:lnSpc>
              <a:spcBef>
                <a:spcPts val="1000"/>
              </a:spcBef>
              <a:buFont typeface="Wingdings"/>
              <a:buChar char="v"/>
            </a:pPr>
            <a:r>
              <a:rPr lang="en-US">
                <a:solidFill>
                  <a:schemeClr val="tx1"/>
                </a:solidFill>
                <a:latin typeface="Aptos"/>
                <a:ea typeface="+mn-lt"/>
                <a:cs typeface="+mn-lt"/>
                <a:hlinkClick r:id="rId7"/>
              </a:rPr>
              <a:t>Office hours booking link</a:t>
            </a:r>
            <a:endParaRPr lang="en-US">
              <a:solidFill>
                <a:schemeClr val="tx1"/>
              </a:solidFill>
              <a:latin typeface="Aptos"/>
            </a:endParaRPr>
          </a:p>
        </p:txBody>
      </p:sp>
      <p:sp>
        <p:nvSpPr>
          <p:cNvPr id="6" name="Text Placeholder 5">
            <a:extLst>
              <a:ext uri="{FF2B5EF4-FFF2-40B4-BE49-F238E27FC236}">
                <a16:creationId xmlns:a16="http://schemas.microsoft.com/office/drawing/2014/main" id="{FDF7AC60-F786-DAA7-64DA-7E14BA75E296}"/>
              </a:ext>
            </a:extLst>
          </p:cNvPr>
          <p:cNvSpPr>
            <a:spLocks noGrp="1"/>
          </p:cNvSpPr>
          <p:nvPr>
            <p:ph type="body" sz="quarter" idx="14"/>
          </p:nvPr>
        </p:nvSpPr>
        <p:spPr>
          <a:xfrm>
            <a:off x="8298018" y="6366091"/>
            <a:ext cx="3310841" cy="346561"/>
          </a:xfrm>
        </p:spPr>
        <p:txBody>
          <a:bodyPr/>
          <a:lstStyle/>
          <a:p>
            <a:r>
              <a:rPr lang="en-US"/>
              <a:t>MOPD = Mayor’s Office for People with Disabilities (</a:t>
            </a:r>
            <a:r>
              <a:rPr lang="en-US">
                <a:hlinkClick r:id="rId8"/>
              </a:rPr>
              <a:t>site</a:t>
            </a:r>
            <a:r>
              <a:rPr lang="en-US"/>
              <a:t>)</a:t>
            </a:r>
          </a:p>
        </p:txBody>
      </p:sp>
    </p:spTree>
    <p:extLst>
      <p:ext uri="{BB962C8B-B14F-4D97-AF65-F5344CB8AC3E}">
        <p14:creationId xmlns:p14="http://schemas.microsoft.com/office/powerpoint/2010/main" val="4283275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8DA86-D06D-698A-6C67-A0FCF3A0293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A8DC0F-B6D0-0563-DC78-7F85E070DA5E}"/>
              </a:ext>
            </a:extLst>
          </p:cNvPr>
          <p:cNvSpPr>
            <a:spLocks noGrp="1"/>
          </p:cNvSpPr>
          <p:nvPr>
            <p:ph type="sldNum" sz="quarter" idx="4"/>
          </p:nvPr>
        </p:nvSpPr>
        <p:spPr/>
        <p:txBody>
          <a:bodyPr/>
          <a:lstStyle/>
          <a:p>
            <a:fld id="{28874E94-A9F8-5A41-9D43-235A602D77DE}" type="slidenum">
              <a:rPr lang="en-US" smtClean="0"/>
              <a:pPr/>
              <a:t>34</a:t>
            </a:fld>
            <a:endParaRPr lang="en-US"/>
          </a:p>
        </p:txBody>
      </p:sp>
      <p:sp>
        <p:nvSpPr>
          <p:cNvPr id="3" name="Text Placeholder 2">
            <a:extLst>
              <a:ext uri="{FF2B5EF4-FFF2-40B4-BE49-F238E27FC236}">
                <a16:creationId xmlns:a16="http://schemas.microsoft.com/office/drawing/2014/main" id="{C1F308C5-2C50-B30E-8533-003E2C910560}"/>
              </a:ext>
            </a:extLst>
          </p:cNvPr>
          <p:cNvSpPr>
            <a:spLocks noGrp="1"/>
          </p:cNvSpPr>
          <p:nvPr>
            <p:ph type="title" idx="4294967295"/>
          </p:nvPr>
        </p:nvSpPr>
        <p:spPr>
          <a:xfrm>
            <a:off x="609600" y="3021013"/>
            <a:ext cx="10972800" cy="8159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marL="228600" marR="0" lvl="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u="none" strike="noStrike" kern="1200" cap="none" spc="0" normalizeH="0" baseline="0" noProof="0">
                <a:ln>
                  <a:noFill/>
                </a:ln>
                <a:effectLst/>
                <a:uLnTx/>
                <a:uFillTx/>
                <a:latin typeface="Aptos ExtraBold" panose="020B0004020202020204" pitchFamily="34" charset="0"/>
                <a:ea typeface="+mn-ea"/>
                <a:cs typeface="+mn-cs"/>
              </a:rPr>
              <a:t>Going </a:t>
            </a:r>
            <a:r>
              <a:rPr lang="en-US" sz="4800" b="1">
                <a:latin typeface="Aptos ExtraBold" panose="020B0004020202020204" pitchFamily="34" charset="0"/>
                <a:ea typeface="+mn-ea"/>
                <a:cs typeface="+mn-cs"/>
              </a:rPr>
              <a:t>further</a:t>
            </a:r>
            <a:endParaRPr kumimoji="0" lang="en-US" sz="4800" b="1" u="none" strike="noStrike" kern="1200" cap="none" spc="0" normalizeH="0" baseline="0" noProof="0">
              <a:ln>
                <a:noFill/>
              </a:ln>
              <a:solidFill>
                <a:schemeClr val="tx1"/>
              </a:solidFill>
              <a:effectLst/>
              <a:uLnTx/>
              <a:uFillTx/>
              <a:latin typeface="Aptos ExtraBold" panose="020B0004020202020204" pitchFamily="34" charset="0"/>
              <a:ea typeface="+mn-ea"/>
              <a:cs typeface="+mn-cs"/>
            </a:endParaRPr>
          </a:p>
        </p:txBody>
      </p:sp>
    </p:spTree>
    <p:extLst>
      <p:ext uri="{BB962C8B-B14F-4D97-AF65-F5344CB8AC3E}">
        <p14:creationId xmlns:p14="http://schemas.microsoft.com/office/powerpoint/2010/main" val="40950779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BC57-C4E5-34FF-FDE2-818F13C5C75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F6FF10-CABD-BB24-3602-15932F873151}"/>
              </a:ext>
            </a:extLst>
          </p:cNvPr>
          <p:cNvSpPr>
            <a:spLocks noGrp="1"/>
          </p:cNvSpPr>
          <p:nvPr>
            <p:ph type="sldNum" sz="quarter" idx="11"/>
          </p:nvPr>
        </p:nvSpPr>
        <p:spPr/>
        <p:txBody>
          <a:bodyPr/>
          <a:lstStyle/>
          <a:p>
            <a:fld id="{28874E94-A9F8-5A41-9D43-235A602D77DE}" type="slidenum">
              <a:rPr lang="en-US" smtClean="0"/>
              <a:pPr/>
              <a:t>35</a:t>
            </a:fld>
            <a:endParaRPr lang="en-US">
              <a:latin typeface="Aptos" panose="020B0004020202020204" pitchFamily="34" charset="0"/>
            </a:endParaRPr>
          </a:p>
        </p:txBody>
      </p:sp>
      <p:sp>
        <p:nvSpPr>
          <p:cNvPr id="4" name="Title 3">
            <a:extLst>
              <a:ext uri="{FF2B5EF4-FFF2-40B4-BE49-F238E27FC236}">
                <a16:creationId xmlns:a16="http://schemas.microsoft.com/office/drawing/2014/main" id="{49E838C6-BF85-4D7B-3271-C9DFFEF3A1E7}"/>
              </a:ext>
            </a:extLst>
          </p:cNvPr>
          <p:cNvSpPr>
            <a:spLocks noGrp="1"/>
          </p:cNvSpPr>
          <p:nvPr>
            <p:ph type="title"/>
          </p:nvPr>
        </p:nvSpPr>
        <p:spPr/>
        <p:txBody>
          <a:bodyPr>
            <a:normAutofit fontScale="90000"/>
          </a:bodyPr>
          <a:lstStyle/>
          <a:p>
            <a:r>
              <a:rPr lang="en-US" b="1">
                <a:latin typeface="Aptos ExtraBold" panose="020B0004020202020204" pitchFamily="34" charset="0"/>
              </a:rPr>
              <a:t>Further impactful recommendations</a:t>
            </a:r>
          </a:p>
        </p:txBody>
      </p:sp>
      <p:sp>
        <p:nvSpPr>
          <p:cNvPr id="5" name="Text Placeholder 4">
            <a:extLst>
              <a:ext uri="{FF2B5EF4-FFF2-40B4-BE49-F238E27FC236}">
                <a16:creationId xmlns:a16="http://schemas.microsoft.com/office/drawing/2014/main" id="{0BB2DB8A-CB54-B6D9-DC4F-35E2F9663888}"/>
              </a:ext>
            </a:extLst>
          </p:cNvPr>
          <p:cNvSpPr txBox="1">
            <a:spLocks/>
          </p:cNvSpPr>
          <p:nvPr/>
        </p:nvSpPr>
        <p:spPr>
          <a:xfrm>
            <a:off x="443059" y="1355195"/>
            <a:ext cx="11377234" cy="9906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0" baseline="0">
                <a:solidFill>
                  <a:schemeClr val="tx1"/>
                </a:solidFill>
                <a:latin typeface="Aptos Light"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latin typeface="Aptos Light"/>
                <a:ea typeface="Calibri"/>
                <a:cs typeface="Calibri"/>
              </a:rPr>
              <a:t>For teams that have the resources to go further and are already comfortable with the previously recommended interventions</a:t>
            </a:r>
            <a:endParaRPr lang="en-US" sz="1800"/>
          </a:p>
        </p:txBody>
      </p:sp>
      <p:sp>
        <p:nvSpPr>
          <p:cNvPr id="12" name="Text Placeholder 4">
            <a:extLst>
              <a:ext uri="{FF2B5EF4-FFF2-40B4-BE49-F238E27FC236}">
                <a16:creationId xmlns:a16="http://schemas.microsoft.com/office/drawing/2014/main" id="{3D423767-3692-7454-4071-D6942D1AE0BF}"/>
              </a:ext>
            </a:extLst>
          </p:cNvPr>
          <p:cNvSpPr txBox="1">
            <a:spLocks/>
          </p:cNvSpPr>
          <p:nvPr/>
        </p:nvSpPr>
        <p:spPr>
          <a:xfrm>
            <a:off x="2556903" y="2120249"/>
            <a:ext cx="6641689" cy="379829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0" baseline="0">
                <a:solidFill>
                  <a:schemeClr val="tx1"/>
                </a:solidFill>
                <a:latin typeface="Aptos Light"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startAt="4"/>
            </a:pPr>
            <a:r>
              <a:rPr lang="en-US" sz="2400" b="1" kern="1200">
                <a:latin typeface="Aptos" panose="020B0004020202020204" pitchFamily="34" charset="0"/>
              </a:rPr>
              <a:t>Screen reader testing</a:t>
            </a:r>
            <a:br>
              <a:rPr lang="en-US" sz="2400"/>
            </a:br>
            <a:r>
              <a:rPr lang="en-US" sz="1800">
                <a:latin typeface="Aptos Light"/>
              </a:rPr>
              <a:t>Learn to </a:t>
            </a:r>
            <a:r>
              <a:rPr lang="en-US" sz="1800"/>
              <a:t>use </a:t>
            </a:r>
            <a:r>
              <a:rPr lang="en-US" sz="1800" kern="1200">
                <a:hlinkClick r:id="rId2"/>
              </a:rPr>
              <a:t>NVDA</a:t>
            </a:r>
            <a:r>
              <a:rPr lang="en-US" sz="1800" kern="1200"/>
              <a:t> or </a:t>
            </a:r>
            <a:r>
              <a:rPr lang="en-US" sz="1800" kern="1200">
                <a:hlinkClick r:id="rId3"/>
              </a:rPr>
              <a:t>VoiceOver</a:t>
            </a:r>
            <a:r>
              <a:rPr lang="en-US" sz="1800" kern="1200"/>
              <a:t> to test your products and build intuition for navigating our websites by screen reader</a:t>
            </a:r>
          </a:p>
          <a:p>
            <a:pPr marL="1028700" lvl="1" indent="-342900">
              <a:buFont typeface="Wingdings" pitchFamily="2" charset="2"/>
              <a:buChar char="Ø"/>
            </a:pPr>
            <a:r>
              <a:rPr lang="en-US" sz="1800">
                <a:latin typeface="+mj-lt"/>
              </a:rPr>
              <a:t>Reach out to MOPD for training</a:t>
            </a:r>
          </a:p>
          <a:p>
            <a:pPr marL="342900" indent="-342900">
              <a:buFont typeface="+mj-lt"/>
              <a:buAutoNum type="arabicPeriod" startAt="4"/>
            </a:pPr>
            <a:r>
              <a:rPr lang="en-US" sz="2400" b="1" kern="1200">
                <a:latin typeface="Aptos" panose="020B0004020202020204" pitchFamily="34" charset="0"/>
              </a:rPr>
              <a:t>Check accessibility at scale with axe-core</a:t>
            </a:r>
            <a:br>
              <a:rPr lang="en-US" sz="2400"/>
            </a:br>
            <a:r>
              <a:rPr lang="en-US" sz="1800">
                <a:latin typeface="Aptos Light"/>
              </a:rPr>
              <a:t>Integrate </a:t>
            </a:r>
            <a:r>
              <a:rPr lang="en-US" sz="1800">
                <a:latin typeface="Aptos Light"/>
                <a:hlinkClick r:id="rId4"/>
              </a:rPr>
              <a:t>axe-core</a:t>
            </a:r>
            <a:r>
              <a:rPr lang="en-US" sz="1800">
                <a:latin typeface="Aptos Light"/>
              </a:rPr>
              <a:t>, the open-source rule engine, with your test suites and site crawling.</a:t>
            </a:r>
          </a:p>
          <a:p>
            <a:pPr marL="1028700" lvl="1" indent="-342900">
              <a:buFont typeface="Wingdings" pitchFamily="2" charset="2"/>
              <a:buChar char="Ø"/>
            </a:pPr>
            <a:r>
              <a:rPr lang="en-US" sz="1800">
                <a:latin typeface="Aptos Light" panose="020B0004020202020204" pitchFamily="34" charset="0"/>
              </a:rPr>
              <a:t>Reach out to OTI for examples or access to </a:t>
            </a:r>
            <a:r>
              <a:rPr lang="en-US" sz="1800">
                <a:latin typeface="Aptos Light" panose="020B0004020202020204" pitchFamily="34" charset="0"/>
                <a:hlinkClick r:id="rId5"/>
              </a:rPr>
              <a:t>site scanner prototype</a:t>
            </a:r>
            <a:endParaRPr lang="en-US" sz="1800">
              <a:latin typeface="Aptos Light" panose="020B0004020202020204" pitchFamily="34" charset="0"/>
            </a:endParaRPr>
          </a:p>
        </p:txBody>
      </p:sp>
    </p:spTree>
    <p:extLst>
      <p:ext uri="{BB962C8B-B14F-4D97-AF65-F5344CB8AC3E}">
        <p14:creationId xmlns:p14="http://schemas.microsoft.com/office/powerpoint/2010/main" val="23630458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235D5-E83F-DE96-03FF-6E6A50C1A68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5180D3-8472-246C-5E57-21FF55905B74}"/>
              </a:ext>
            </a:extLst>
          </p:cNvPr>
          <p:cNvSpPr>
            <a:spLocks noGrp="1"/>
          </p:cNvSpPr>
          <p:nvPr>
            <p:ph type="sldNum" sz="quarter" idx="11"/>
          </p:nvPr>
        </p:nvSpPr>
        <p:spPr/>
        <p:txBody>
          <a:bodyPr/>
          <a:lstStyle/>
          <a:p>
            <a:fld id="{28874E94-A9F8-5A41-9D43-235A602D77DE}" type="slidenum">
              <a:rPr lang="en-US" smtClean="0"/>
              <a:pPr/>
              <a:t>36</a:t>
            </a:fld>
            <a:endParaRPr lang="en-US">
              <a:latin typeface="Aptos" panose="020B0004020202020204" pitchFamily="34" charset="0"/>
            </a:endParaRPr>
          </a:p>
        </p:txBody>
      </p:sp>
      <p:sp>
        <p:nvSpPr>
          <p:cNvPr id="4" name="Title 3">
            <a:extLst>
              <a:ext uri="{FF2B5EF4-FFF2-40B4-BE49-F238E27FC236}">
                <a16:creationId xmlns:a16="http://schemas.microsoft.com/office/drawing/2014/main" id="{7DDA4A8F-06AA-C722-D804-237323EC7105}"/>
              </a:ext>
            </a:extLst>
          </p:cNvPr>
          <p:cNvSpPr>
            <a:spLocks noGrp="1"/>
          </p:cNvSpPr>
          <p:nvPr>
            <p:ph type="title"/>
          </p:nvPr>
        </p:nvSpPr>
        <p:spPr>
          <a:xfrm>
            <a:off x="390266" y="538935"/>
            <a:ext cx="11408256" cy="681355"/>
          </a:xfrm>
        </p:spPr>
        <p:txBody>
          <a:bodyPr>
            <a:normAutofit fontScale="90000"/>
          </a:bodyPr>
          <a:lstStyle/>
          <a:p>
            <a:r>
              <a:rPr lang="en-US" b="1">
                <a:latin typeface="Aptos ExtraBold" panose="020B0004020202020204" pitchFamily="34" charset="0"/>
              </a:rPr>
              <a:t>Next steps (Nov 1</a:t>
            </a:r>
            <a:r>
              <a:rPr lang="en-US" b="1" baseline="30000">
                <a:latin typeface="Aptos ExtraBold" panose="020B0004020202020204" pitchFamily="34" charset="0"/>
              </a:rPr>
              <a:t>st</a:t>
            </a:r>
            <a:r>
              <a:rPr lang="en-US" b="1">
                <a:latin typeface="Aptos ExtraBold" panose="020B0004020202020204" pitchFamily="34" charset="0"/>
              </a:rPr>
              <a:t> target date)</a:t>
            </a:r>
          </a:p>
        </p:txBody>
      </p:sp>
      <p:sp>
        <p:nvSpPr>
          <p:cNvPr id="5" name="Text Placeholder 4">
            <a:extLst>
              <a:ext uri="{FF2B5EF4-FFF2-40B4-BE49-F238E27FC236}">
                <a16:creationId xmlns:a16="http://schemas.microsoft.com/office/drawing/2014/main" id="{581A17A5-5A02-82B4-03CC-9398F5085B48}"/>
              </a:ext>
            </a:extLst>
          </p:cNvPr>
          <p:cNvSpPr>
            <a:spLocks noGrp="1"/>
          </p:cNvSpPr>
          <p:nvPr>
            <p:ph type="body" sz="quarter" idx="12"/>
          </p:nvPr>
        </p:nvSpPr>
        <p:spPr>
          <a:xfrm>
            <a:off x="1979785" y="1719886"/>
            <a:ext cx="8044160" cy="4161159"/>
          </a:xfrm>
        </p:spPr>
        <p:txBody>
          <a:bodyPr vert="horz" lIns="91440" tIns="45720" rIns="91440" bIns="45720" rtlCol="0" anchor="t">
            <a:noAutofit/>
          </a:bodyPr>
          <a:lstStyle/>
          <a:p>
            <a:pPr marL="342900" indent="-342900">
              <a:buFont typeface="+mj-lt"/>
              <a:buAutoNum type="arabicPeriod"/>
            </a:pPr>
            <a:r>
              <a:rPr lang="en-US" sz="2400" kern="1200" dirty="0">
                <a:latin typeface="Clash Grotesk Medium"/>
                <a:ea typeface="+mj-ea"/>
                <a:cs typeface="+mj-cs"/>
              </a:rPr>
              <a:t>Communicate</a:t>
            </a:r>
            <a:br>
              <a:rPr lang="en-US" sz="2400" dirty="0"/>
            </a:br>
            <a:r>
              <a:rPr lang="en-US" sz="1800" dirty="0">
                <a:latin typeface="Aptos Light"/>
              </a:rPr>
              <a:t>Share widely with teams creating public-facing sites and applications</a:t>
            </a:r>
          </a:p>
          <a:p>
            <a:pPr marL="342900" indent="-342900">
              <a:buFont typeface="+mj-lt"/>
              <a:buAutoNum type="arabicPeriod"/>
            </a:pPr>
            <a:r>
              <a:rPr lang="en-US" sz="2400" kern="1200" dirty="0">
                <a:latin typeface="Clash Grotesk Medium"/>
              </a:rPr>
              <a:t>CIOs: Enable browser extension Accessibility Insights</a:t>
            </a:r>
            <a:br>
              <a:rPr lang="en-US" sz="2400" dirty="0"/>
            </a:br>
            <a:r>
              <a:rPr lang="en-US" sz="1800" dirty="0">
                <a:latin typeface="Aptos Light"/>
              </a:rPr>
              <a:t>Enable your organization to access this browser extension on </a:t>
            </a:r>
            <a:r>
              <a:rPr lang="en-US" sz="1800" dirty="0">
                <a:latin typeface="Aptos Light"/>
                <a:hlinkClick r:id="rId2"/>
              </a:rPr>
              <a:t>Chrome</a:t>
            </a:r>
            <a:r>
              <a:rPr lang="en-US" sz="1800" dirty="0">
                <a:latin typeface="Aptos Light"/>
              </a:rPr>
              <a:t> &amp; </a:t>
            </a:r>
            <a:r>
              <a:rPr lang="en-US" sz="1800" dirty="0">
                <a:latin typeface="Aptos Light"/>
                <a:hlinkClick r:id="rId3"/>
              </a:rPr>
              <a:t>Edge</a:t>
            </a:r>
            <a:endParaRPr lang="en-US" sz="1800" dirty="0">
              <a:latin typeface="Aptos Light"/>
            </a:endParaRPr>
          </a:p>
          <a:p>
            <a:pPr marL="342900" indent="-342900">
              <a:buAutoNum type="arabicPeriod"/>
            </a:pPr>
            <a:r>
              <a:rPr lang="en-US" sz="2400" kern="1200" dirty="0">
                <a:latin typeface="Clash Grotesk Medium"/>
              </a:rPr>
              <a:t>Visit accessibility office hours for feedback on existing websites in need of remediation</a:t>
            </a:r>
            <a:br>
              <a:rPr lang="en-US" sz="2400" dirty="0"/>
            </a:br>
            <a:r>
              <a:rPr lang="en-US" sz="1800" dirty="0">
                <a:latin typeface="Aptos Light"/>
                <a:hlinkClick r:id="rId4"/>
              </a:rPr>
              <a:t>Sign up</a:t>
            </a:r>
            <a:r>
              <a:rPr lang="en-US" sz="1800" dirty="0">
                <a:latin typeface="Aptos Light"/>
              </a:rPr>
              <a:t> for office hours or email Arthur Jacobs (</a:t>
            </a:r>
            <a:r>
              <a:rPr lang="en-US" sz="1800" dirty="0">
                <a:latin typeface="Aptos Light"/>
                <a:hlinkClick r:id="rId5"/>
              </a:rPr>
              <a:t>ajacobs2@mopd.nyc.gov</a:t>
            </a:r>
            <a:r>
              <a:rPr lang="en-US" sz="1800" dirty="0">
                <a:latin typeface="Aptos Light"/>
              </a:rPr>
              <a:t>) at MOPD.</a:t>
            </a:r>
          </a:p>
          <a:p>
            <a:pPr marL="342900" indent="-342900">
              <a:buFont typeface="+mj-lt"/>
              <a:buAutoNum type="arabicPeriod"/>
            </a:pPr>
            <a:r>
              <a:rPr lang="en-US" sz="2400" kern="1200" dirty="0">
                <a:latin typeface="Clash Grotesk Medium"/>
              </a:rPr>
              <a:t>Share your learnings</a:t>
            </a:r>
            <a:br>
              <a:rPr lang="en-US" sz="1800" dirty="0"/>
            </a:br>
            <a:r>
              <a:rPr lang="en-US" sz="1800" dirty="0">
                <a:latin typeface="Aptos Light"/>
              </a:rPr>
              <a:t>OTI is learning alongside agencies how best to implement recommended tools. We value your feedback on what works. </a:t>
            </a:r>
          </a:p>
        </p:txBody>
      </p:sp>
    </p:spTree>
    <p:extLst>
      <p:ext uri="{BB962C8B-B14F-4D97-AF65-F5344CB8AC3E}">
        <p14:creationId xmlns:p14="http://schemas.microsoft.com/office/powerpoint/2010/main" val="22754191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D576B-E8EE-81F7-91B1-E4B74934DD8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37ECA7-21ED-5A82-D8B8-140A2A743B62}"/>
              </a:ext>
            </a:extLst>
          </p:cNvPr>
          <p:cNvSpPr>
            <a:spLocks noGrp="1"/>
          </p:cNvSpPr>
          <p:nvPr>
            <p:ph type="sldNum" sz="quarter" idx="4"/>
          </p:nvPr>
        </p:nvSpPr>
        <p:spPr/>
        <p:txBody>
          <a:bodyPr/>
          <a:lstStyle/>
          <a:p>
            <a:fld id="{28874E94-A9F8-5A41-9D43-235A602D77DE}" type="slidenum">
              <a:rPr lang="en-US" smtClean="0"/>
              <a:pPr/>
              <a:t>37</a:t>
            </a:fld>
            <a:endParaRPr lang="en-US"/>
          </a:p>
        </p:txBody>
      </p:sp>
      <p:sp>
        <p:nvSpPr>
          <p:cNvPr id="3" name="Text Placeholder 2">
            <a:extLst>
              <a:ext uri="{FF2B5EF4-FFF2-40B4-BE49-F238E27FC236}">
                <a16:creationId xmlns:a16="http://schemas.microsoft.com/office/drawing/2014/main" id="{4D290DC5-A1A7-4EDC-4807-A33068437450}"/>
              </a:ext>
            </a:extLst>
          </p:cNvPr>
          <p:cNvSpPr>
            <a:spLocks noGrp="1"/>
          </p:cNvSpPr>
          <p:nvPr>
            <p:ph type="title" idx="4294967295"/>
          </p:nvPr>
        </p:nvSpPr>
        <p:spPr>
          <a:xfrm>
            <a:off x="609600" y="3021013"/>
            <a:ext cx="10972800" cy="8159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marL="228600" marR="0" lvl="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u="none" strike="noStrike" kern="1200" cap="none" spc="0" normalizeH="0" baseline="0" noProof="0">
                <a:ln>
                  <a:noFill/>
                </a:ln>
                <a:solidFill>
                  <a:schemeClr val="tx1"/>
                </a:solidFill>
                <a:effectLst/>
                <a:uLnTx/>
                <a:uFillTx/>
                <a:latin typeface="Aptos ExtraBold" panose="020B0004020202020204" pitchFamily="34" charset="0"/>
                <a:ea typeface="+mn-ea"/>
                <a:cs typeface="+mn-cs"/>
              </a:rPr>
              <a:t>Q&amp;A</a:t>
            </a:r>
          </a:p>
        </p:txBody>
      </p:sp>
    </p:spTree>
    <p:extLst>
      <p:ext uri="{BB962C8B-B14F-4D97-AF65-F5344CB8AC3E}">
        <p14:creationId xmlns:p14="http://schemas.microsoft.com/office/powerpoint/2010/main" val="5711031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8EF88-71FD-CEB0-203B-50853CD87C9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692120-6A68-3050-6C7F-011ECDB0DEE7}"/>
              </a:ext>
            </a:extLst>
          </p:cNvPr>
          <p:cNvSpPr>
            <a:spLocks noGrp="1"/>
          </p:cNvSpPr>
          <p:nvPr>
            <p:ph type="sldNum" sz="quarter" idx="4"/>
          </p:nvPr>
        </p:nvSpPr>
        <p:spPr/>
        <p:txBody>
          <a:bodyPr/>
          <a:lstStyle/>
          <a:p>
            <a:fld id="{28874E94-A9F8-5A41-9D43-235A602D77DE}" type="slidenum">
              <a:rPr lang="en-US" smtClean="0"/>
              <a:pPr/>
              <a:t>38</a:t>
            </a:fld>
            <a:endParaRPr lang="en-US"/>
          </a:p>
        </p:txBody>
      </p:sp>
      <p:sp>
        <p:nvSpPr>
          <p:cNvPr id="3" name="Text Placeholder 2">
            <a:extLst>
              <a:ext uri="{FF2B5EF4-FFF2-40B4-BE49-F238E27FC236}">
                <a16:creationId xmlns:a16="http://schemas.microsoft.com/office/drawing/2014/main" id="{8DD0C4F0-E89A-2B32-46E1-611265F1538C}"/>
              </a:ext>
            </a:extLst>
          </p:cNvPr>
          <p:cNvSpPr>
            <a:spLocks noGrp="1"/>
          </p:cNvSpPr>
          <p:nvPr>
            <p:ph type="title" idx="4294967295"/>
          </p:nvPr>
        </p:nvSpPr>
        <p:spPr>
          <a:xfrm>
            <a:off x="609600" y="3021013"/>
            <a:ext cx="10972800" cy="8159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marL="228600" marR="0" lvl="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u="none" strike="noStrike" kern="1200" cap="none" spc="0" normalizeH="0" baseline="0" noProof="0">
                <a:ln>
                  <a:noFill/>
                </a:ln>
                <a:solidFill>
                  <a:schemeClr val="tx1"/>
                </a:solidFill>
                <a:effectLst/>
                <a:uLnTx/>
                <a:uFillTx/>
                <a:latin typeface="Aptos ExtraBold" panose="020B0004020202020204" pitchFamily="34" charset="0"/>
                <a:ea typeface="+mn-ea"/>
                <a:cs typeface="+mn-cs"/>
              </a:rPr>
              <a:t>Appendix</a:t>
            </a:r>
          </a:p>
        </p:txBody>
      </p:sp>
    </p:spTree>
    <p:extLst>
      <p:ext uri="{BB962C8B-B14F-4D97-AF65-F5344CB8AC3E}">
        <p14:creationId xmlns:p14="http://schemas.microsoft.com/office/powerpoint/2010/main" val="30898195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6C2F4C-1528-8B8B-0CC0-38D251F7E8C5}"/>
              </a:ext>
            </a:extLst>
          </p:cNvPr>
          <p:cNvSpPr>
            <a:spLocks noGrp="1"/>
          </p:cNvSpPr>
          <p:nvPr>
            <p:ph type="sldNum" sz="quarter" idx="11"/>
          </p:nvPr>
        </p:nvSpPr>
        <p:spPr/>
        <p:txBody>
          <a:bodyPr/>
          <a:lstStyle/>
          <a:p>
            <a:fld id="{28874E94-A9F8-5A41-9D43-235A602D77DE}" type="slidenum">
              <a:rPr lang="en-US" smtClean="0"/>
              <a:pPr/>
              <a:t>39</a:t>
            </a:fld>
            <a:endParaRPr lang="en-US">
              <a:latin typeface="Aptos" panose="020B0004020202020204" pitchFamily="34" charset="0"/>
            </a:endParaRPr>
          </a:p>
        </p:txBody>
      </p:sp>
      <p:sp>
        <p:nvSpPr>
          <p:cNvPr id="17" name="Text Placeholder 2">
            <a:extLst>
              <a:ext uri="{FF2B5EF4-FFF2-40B4-BE49-F238E27FC236}">
                <a16:creationId xmlns:a16="http://schemas.microsoft.com/office/drawing/2014/main" id="{82CEEA4D-CA77-9B18-E20F-8DCE4E1BFF9E}"/>
              </a:ext>
            </a:extLst>
          </p:cNvPr>
          <p:cNvSpPr>
            <a:spLocks noGrp="1"/>
          </p:cNvSpPr>
          <p:nvPr>
            <p:ph type="body" sz="quarter" idx="13"/>
          </p:nvPr>
        </p:nvSpPr>
        <p:spPr/>
        <p:txBody>
          <a:bodyPr vert="horz" lIns="91440" tIns="45720" rIns="91440" bIns="45720" rtlCol="0" anchor="t">
            <a:normAutofit fontScale="92500" lnSpcReduction="10000"/>
          </a:bodyPr>
          <a:lstStyle/>
          <a:p>
            <a:r>
              <a:rPr lang="en-US">
                <a:latin typeface="Aptos"/>
              </a:rPr>
              <a:t>Appendix</a:t>
            </a:r>
          </a:p>
        </p:txBody>
      </p:sp>
      <p:sp>
        <p:nvSpPr>
          <p:cNvPr id="4" name="Title 3">
            <a:extLst>
              <a:ext uri="{FF2B5EF4-FFF2-40B4-BE49-F238E27FC236}">
                <a16:creationId xmlns:a16="http://schemas.microsoft.com/office/drawing/2014/main" id="{3C12B2F4-9235-6411-45E1-054DFBF9BEE7}"/>
              </a:ext>
            </a:extLst>
          </p:cNvPr>
          <p:cNvSpPr>
            <a:spLocks noGrp="1"/>
          </p:cNvSpPr>
          <p:nvPr>
            <p:ph type="title"/>
          </p:nvPr>
        </p:nvSpPr>
        <p:spPr/>
        <p:txBody>
          <a:bodyPr>
            <a:normAutofit fontScale="90000"/>
          </a:bodyPr>
          <a:lstStyle/>
          <a:p>
            <a:r>
              <a:rPr lang="en-US">
                <a:latin typeface="Aptos ExtraBold"/>
              </a:rPr>
              <a:t>Comparing Accessibility Tools</a:t>
            </a:r>
          </a:p>
        </p:txBody>
      </p:sp>
      <p:sp>
        <p:nvSpPr>
          <p:cNvPr id="5" name="Text Placeholder 4">
            <a:extLst>
              <a:ext uri="{FF2B5EF4-FFF2-40B4-BE49-F238E27FC236}">
                <a16:creationId xmlns:a16="http://schemas.microsoft.com/office/drawing/2014/main" id="{93D1B4DA-B0B9-713F-F5F8-CE0A3DB01634}"/>
              </a:ext>
            </a:extLst>
          </p:cNvPr>
          <p:cNvSpPr>
            <a:spLocks noGrp="1"/>
          </p:cNvSpPr>
          <p:nvPr>
            <p:ph type="body" sz="quarter" idx="12"/>
          </p:nvPr>
        </p:nvSpPr>
        <p:spPr/>
        <p:txBody>
          <a:bodyPr vert="horz" lIns="91440" tIns="45720" rIns="91440" bIns="45720" rtlCol="0" anchor="t">
            <a:noAutofit/>
          </a:bodyPr>
          <a:lstStyle/>
          <a:p>
            <a:r>
              <a:rPr lang="en-US" sz="1800" b="1">
                <a:latin typeface="Aptos"/>
              </a:rPr>
              <a:t>Process</a:t>
            </a:r>
            <a:r>
              <a:rPr lang="en-US" sz="1800">
                <a:latin typeface="Aptos Light"/>
              </a:rPr>
              <a:t>: 16 URLs across 3 sites (NYC.gov, MOPD, DOT) were picked for our “golden set”. We scored the open-source rule-engine axe-core and two vendors (BrowserStack &amp; Evinced) against manual audits conducted by experts at AccessAbility Officer. </a:t>
            </a:r>
          </a:p>
          <a:p>
            <a:r>
              <a:rPr lang="en-US" sz="1800" b="1">
                <a:latin typeface="Aptos"/>
              </a:rPr>
              <a:t>Results</a:t>
            </a:r>
            <a:r>
              <a:rPr lang="en-US" sz="1800">
                <a:latin typeface="Aptos Light"/>
              </a:rPr>
              <a:t>: No fully automated tools (no human intervention at all) can catch more than 30-40% of accessibility issues with perfect confidence. The open-source option, axe-core, fulfilled its ”</a:t>
            </a:r>
            <a:r>
              <a:rPr lang="en-US" sz="1800">
                <a:latin typeface="Aptos Light"/>
                <a:hlinkClick r:id="rId2"/>
              </a:rPr>
              <a:t>zero false positives</a:t>
            </a:r>
            <a:r>
              <a:rPr lang="en-US" sz="1800">
                <a:latin typeface="Aptos Light"/>
              </a:rPr>
              <a:t>” promise. </a:t>
            </a:r>
          </a:p>
        </p:txBody>
      </p:sp>
      <p:graphicFrame>
        <p:nvGraphicFramePr>
          <p:cNvPr id="16" name="Table 15">
            <a:extLst>
              <a:ext uri="{FF2B5EF4-FFF2-40B4-BE49-F238E27FC236}">
                <a16:creationId xmlns:a16="http://schemas.microsoft.com/office/drawing/2014/main" id="{01F01188-9A81-B75A-2733-08B1C0665929}"/>
              </a:ext>
            </a:extLst>
          </p:cNvPr>
          <p:cNvGraphicFramePr>
            <a:graphicFrameLocks noGrp="1"/>
          </p:cNvGraphicFramePr>
          <p:nvPr>
            <p:extLst>
              <p:ext uri="{D42A27DB-BD31-4B8C-83A1-F6EECF244321}">
                <p14:modId xmlns:p14="http://schemas.microsoft.com/office/powerpoint/2010/main" val="2192904994"/>
              </p:ext>
            </p:extLst>
          </p:nvPr>
        </p:nvGraphicFramePr>
        <p:xfrm>
          <a:off x="453712" y="3104312"/>
          <a:ext cx="11345942" cy="2646195"/>
        </p:xfrm>
        <a:graphic>
          <a:graphicData uri="http://schemas.openxmlformats.org/drawingml/2006/table">
            <a:tbl>
              <a:tblPr firstRow="1">
                <a:tableStyleId>{5C22544A-7EE6-4342-B048-85BDC9FD1C3A}</a:tableStyleId>
              </a:tblPr>
              <a:tblGrid>
                <a:gridCol w="3155757">
                  <a:extLst>
                    <a:ext uri="{9D8B030D-6E8A-4147-A177-3AD203B41FA5}">
                      <a16:colId xmlns:a16="http://schemas.microsoft.com/office/drawing/2014/main" val="566189823"/>
                    </a:ext>
                  </a:extLst>
                </a:gridCol>
                <a:gridCol w="1866217">
                  <a:extLst>
                    <a:ext uri="{9D8B030D-6E8A-4147-A177-3AD203B41FA5}">
                      <a16:colId xmlns:a16="http://schemas.microsoft.com/office/drawing/2014/main" val="1575751388"/>
                    </a:ext>
                  </a:extLst>
                </a:gridCol>
                <a:gridCol w="3161984">
                  <a:extLst>
                    <a:ext uri="{9D8B030D-6E8A-4147-A177-3AD203B41FA5}">
                      <a16:colId xmlns:a16="http://schemas.microsoft.com/office/drawing/2014/main" val="2144738960"/>
                    </a:ext>
                  </a:extLst>
                </a:gridCol>
                <a:gridCol w="3161984">
                  <a:extLst>
                    <a:ext uri="{9D8B030D-6E8A-4147-A177-3AD203B41FA5}">
                      <a16:colId xmlns:a16="http://schemas.microsoft.com/office/drawing/2014/main" val="866625930"/>
                    </a:ext>
                  </a:extLst>
                </a:gridCol>
              </a:tblGrid>
              <a:tr h="506551">
                <a:tc>
                  <a:txBody>
                    <a:bodyPr/>
                    <a:lstStyle/>
                    <a:p>
                      <a:pPr algn="r" fontAlgn="b">
                        <a:buNone/>
                      </a:pPr>
                      <a:endParaRPr lang="en-US" sz="1800" b="1" i="0" u="none" strike="noStrike">
                        <a:solidFill>
                          <a:srgbClr val="1F3864"/>
                        </a:solidFill>
                        <a:effectLst/>
                        <a:latin typeface="Arial"/>
                      </a:endParaRPr>
                    </a:p>
                  </a:txBody>
                  <a:tcPr marL="9525" marR="9525" marT="9525" marB="0" anchor="ctr"/>
                </a:tc>
                <a:tc>
                  <a:txBody>
                    <a:bodyPr/>
                    <a:lstStyle/>
                    <a:p>
                      <a:pPr algn="ctr" fontAlgn="ctr">
                        <a:buNone/>
                      </a:pPr>
                      <a:r>
                        <a:rPr lang="en-US" sz="1800" b="1" u="none" strike="noStrike">
                          <a:effectLst/>
                        </a:rPr>
                        <a:t>axe-core</a:t>
                      </a:r>
                      <a:endParaRPr lang="en-US" sz="1800" b="1" i="0" u="none" strike="noStrike">
                        <a:solidFill>
                          <a:srgbClr val="FFFFFF"/>
                        </a:solidFill>
                        <a:effectLst/>
                        <a:latin typeface="Arial"/>
                      </a:endParaRPr>
                    </a:p>
                  </a:txBody>
                  <a:tcPr marL="9525" marR="9525" marT="9525" marB="0" anchor="ctr"/>
                </a:tc>
                <a:tc>
                  <a:txBody>
                    <a:bodyPr/>
                    <a:lstStyle/>
                    <a:p>
                      <a:pPr algn="ctr" fontAlgn="ctr">
                        <a:buNone/>
                      </a:pPr>
                      <a:r>
                        <a:rPr lang="en-US" sz="1800" b="1" u="none" strike="noStrike">
                          <a:effectLst/>
                        </a:rPr>
                        <a:t>Vendor A</a:t>
                      </a:r>
                      <a:br>
                        <a:rPr lang="en-US" sz="1800" b="1" u="none" strike="noStrike">
                          <a:effectLst/>
                        </a:rPr>
                      </a:br>
                      <a:r>
                        <a:rPr lang="en-US" sz="1800" b="1" u="none" strike="noStrike">
                          <a:effectLst/>
                        </a:rPr>
                        <a:t>(BrowserStack)</a:t>
                      </a:r>
                      <a:endParaRPr lang="en-US" sz="1800" b="1" i="0" u="none" strike="noStrike">
                        <a:solidFill>
                          <a:srgbClr val="FFFFFF"/>
                        </a:solidFill>
                        <a:effectLst/>
                        <a:latin typeface="Arial"/>
                      </a:endParaRPr>
                    </a:p>
                  </a:txBody>
                  <a:tcPr marL="9525" marR="9525" marT="9525" marB="0" anchor="ctr"/>
                </a:tc>
                <a:tc>
                  <a:txBody>
                    <a:bodyPr/>
                    <a:lstStyle/>
                    <a:p>
                      <a:pPr algn="ctr" fontAlgn="ctr">
                        <a:buNone/>
                      </a:pPr>
                      <a:r>
                        <a:rPr lang="en-US" sz="1800" b="1" u="none" strike="noStrike">
                          <a:effectLst/>
                        </a:rPr>
                        <a:t>Vendor B</a:t>
                      </a:r>
                      <a:br>
                        <a:rPr lang="en-US" sz="1800" b="1" u="none" strike="noStrike">
                          <a:effectLst/>
                        </a:rPr>
                      </a:br>
                      <a:r>
                        <a:rPr lang="en-US" sz="1800" b="1" u="none" strike="noStrike">
                          <a:effectLst/>
                        </a:rPr>
                        <a:t>(Evinced)</a:t>
                      </a:r>
                      <a:endParaRPr lang="en-US" sz="1800" b="1" i="0" u="none" strike="noStrike">
                        <a:solidFill>
                          <a:srgbClr val="FFFFFF"/>
                        </a:solidFill>
                        <a:effectLst/>
                        <a:latin typeface="Arial"/>
                      </a:endParaRPr>
                    </a:p>
                  </a:txBody>
                  <a:tcPr marL="9525" marR="9525" marT="9525" marB="0" anchor="ctr"/>
                </a:tc>
                <a:extLst>
                  <a:ext uri="{0D108BD9-81ED-4DB2-BD59-A6C34878D82A}">
                    <a16:rowId xmlns:a16="http://schemas.microsoft.com/office/drawing/2014/main" val="1387025067"/>
                  </a:ext>
                </a:extLst>
              </a:tr>
              <a:tr h="326571">
                <a:tc>
                  <a:txBody>
                    <a:bodyPr/>
                    <a:lstStyle/>
                    <a:p>
                      <a:pPr algn="r" fontAlgn="b">
                        <a:buNone/>
                      </a:pPr>
                      <a:r>
                        <a:rPr lang="en-US" sz="1800" b="1" u="none" strike="noStrike">
                          <a:effectLst/>
                        </a:rPr>
                        <a:t>Coverage</a:t>
                      </a:r>
                      <a:r>
                        <a:rPr lang="en-US" sz="1800" u="none" strike="noStrike">
                          <a:effectLst/>
                        </a:rPr>
                        <a:t> (caught ÷ scored)</a:t>
                      </a:r>
                      <a:endParaRPr lang="en-US" sz="1800" b="1" i="0" u="none" strike="noStrike">
                        <a:solidFill>
                          <a:srgbClr val="000000"/>
                        </a:solidFill>
                        <a:effectLst/>
                        <a:latin typeface="Arial"/>
                      </a:endParaRPr>
                    </a:p>
                  </a:txBody>
                  <a:tcPr marL="9525" marR="9525" marT="9525" marB="0" anchor="ctr"/>
                </a:tc>
                <a:tc>
                  <a:txBody>
                    <a:bodyPr/>
                    <a:lstStyle/>
                    <a:p>
                      <a:pPr algn="ctr" fontAlgn="b">
                        <a:buNone/>
                      </a:pPr>
                      <a:r>
                        <a:rPr lang="en-US" sz="1800" u="none" strike="noStrike">
                          <a:effectLst/>
                        </a:rPr>
                        <a:t>33% (27/81)</a:t>
                      </a:r>
                      <a:endParaRPr lang="en-US" sz="1800" b="1" i="0" u="none" strike="noStrike">
                        <a:solidFill>
                          <a:srgbClr val="000000"/>
                        </a:solidFill>
                        <a:effectLst/>
                        <a:latin typeface="Arial"/>
                      </a:endParaRPr>
                    </a:p>
                  </a:txBody>
                  <a:tcPr marL="9525" marR="9525" marT="9525" marB="0" anchor="ctr"/>
                </a:tc>
                <a:tc>
                  <a:txBody>
                    <a:bodyPr/>
                    <a:lstStyle/>
                    <a:p>
                      <a:pPr algn="ctr" fontAlgn="b">
                        <a:buNone/>
                      </a:pPr>
                      <a:r>
                        <a:rPr lang="en-US" sz="1800" u="none" strike="noStrike">
                          <a:effectLst/>
                        </a:rPr>
                        <a:t>27% (22/81)</a:t>
                      </a:r>
                      <a:endParaRPr lang="en-US" sz="1800" b="1" i="0" u="none" strike="noStrike">
                        <a:solidFill>
                          <a:srgbClr val="000000"/>
                        </a:solidFill>
                        <a:effectLst/>
                        <a:latin typeface="Arial"/>
                      </a:endParaRPr>
                    </a:p>
                  </a:txBody>
                  <a:tcPr marL="9525" marR="9525" marT="9525" marB="0" anchor="ctr"/>
                </a:tc>
                <a:tc>
                  <a:txBody>
                    <a:bodyPr/>
                    <a:lstStyle/>
                    <a:p>
                      <a:pPr algn="ctr" fontAlgn="b">
                        <a:buNone/>
                      </a:pPr>
                      <a:r>
                        <a:rPr lang="en-US" sz="1800" u="none" strike="noStrike">
                          <a:effectLst/>
                        </a:rPr>
                        <a:t>41% (33/81)</a:t>
                      </a:r>
                      <a:endParaRPr lang="en-US" sz="1800" b="1" i="0" u="none" strike="noStrike">
                        <a:solidFill>
                          <a:srgbClr val="000000"/>
                        </a:solidFill>
                        <a:effectLst/>
                        <a:latin typeface="Arial"/>
                      </a:endParaRPr>
                    </a:p>
                  </a:txBody>
                  <a:tcPr marL="9525" marR="9525" marT="9525" marB="0" anchor="ctr"/>
                </a:tc>
                <a:extLst>
                  <a:ext uri="{0D108BD9-81ED-4DB2-BD59-A6C34878D82A}">
                    <a16:rowId xmlns:a16="http://schemas.microsoft.com/office/drawing/2014/main" val="2944827251"/>
                  </a:ext>
                </a:extLst>
              </a:tr>
              <a:tr h="370114">
                <a:tc>
                  <a:txBody>
                    <a:bodyPr/>
                    <a:lstStyle/>
                    <a:p>
                      <a:pPr algn="r" fontAlgn="b">
                        <a:buNone/>
                      </a:pPr>
                      <a:r>
                        <a:rPr lang="en-US" sz="1800" b="1" u="none" strike="noStrike">
                          <a:effectLst/>
                        </a:rPr>
                        <a:t>Priority</a:t>
                      </a:r>
                      <a:r>
                        <a:rPr lang="en-US" sz="1800" u="none" strike="noStrike">
                          <a:effectLst/>
                        </a:rPr>
                        <a:t> coverage (caught ÷  scored)</a:t>
                      </a:r>
                      <a:endParaRPr lang="en-US" sz="1800" b="1" i="0" u="none" strike="noStrike">
                        <a:solidFill>
                          <a:srgbClr val="000000"/>
                        </a:solidFill>
                        <a:effectLst/>
                        <a:latin typeface="Arial"/>
                      </a:endParaRPr>
                    </a:p>
                  </a:txBody>
                  <a:tcPr marL="9525" marR="9525" marT="9525" marB="0" anchor="ctr"/>
                </a:tc>
                <a:tc>
                  <a:txBody>
                    <a:bodyPr/>
                    <a:lstStyle/>
                    <a:p>
                      <a:pPr algn="ctr" fontAlgn="b">
                        <a:buNone/>
                      </a:pPr>
                      <a:r>
                        <a:rPr lang="en-US" sz="1800" u="none" strike="noStrike">
                          <a:effectLst/>
                        </a:rPr>
                        <a:t>25% (9/36)</a:t>
                      </a:r>
                      <a:endParaRPr lang="en-US" sz="1800" b="1" i="0" u="none" strike="noStrike">
                        <a:solidFill>
                          <a:srgbClr val="000000"/>
                        </a:solidFill>
                        <a:effectLst/>
                        <a:latin typeface="Arial"/>
                      </a:endParaRPr>
                    </a:p>
                  </a:txBody>
                  <a:tcPr marL="9525" marR="9525" marT="9525" marB="0" anchor="ctr"/>
                </a:tc>
                <a:tc>
                  <a:txBody>
                    <a:bodyPr/>
                    <a:lstStyle/>
                    <a:p>
                      <a:pPr algn="ctr" fontAlgn="b">
                        <a:buNone/>
                      </a:pPr>
                      <a:r>
                        <a:rPr lang="en-US" sz="1800" u="none" strike="noStrike">
                          <a:effectLst/>
                        </a:rPr>
                        <a:t>14% (5/36)</a:t>
                      </a:r>
                      <a:endParaRPr lang="en-US" sz="1800" b="1" i="0" u="none" strike="noStrike">
                        <a:solidFill>
                          <a:srgbClr val="000000"/>
                        </a:solidFill>
                        <a:effectLst/>
                        <a:latin typeface="Arial"/>
                      </a:endParaRPr>
                    </a:p>
                  </a:txBody>
                  <a:tcPr marL="9525" marR="9525" marT="9525" marB="0" anchor="ctr"/>
                </a:tc>
                <a:tc>
                  <a:txBody>
                    <a:bodyPr/>
                    <a:lstStyle/>
                    <a:p>
                      <a:pPr algn="ctr" fontAlgn="b">
                        <a:buNone/>
                      </a:pPr>
                      <a:r>
                        <a:rPr lang="en-US" sz="1800" u="none" strike="noStrike">
                          <a:effectLst/>
                        </a:rPr>
                        <a:t>33% (12/36)</a:t>
                      </a:r>
                      <a:endParaRPr lang="en-US" sz="1800" b="1" i="0" u="none" strike="noStrike">
                        <a:solidFill>
                          <a:srgbClr val="000000"/>
                        </a:solidFill>
                        <a:effectLst/>
                        <a:latin typeface="Arial"/>
                      </a:endParaRPr>
                    </a:p>
                  </a:txBody>
                  <a:tcPr marL="9525" marR="9525" marT="9525" marB="0" anchor="ctr"/>
                </a:tc>
                <a:extLst>
                  <a:ext uri="{0D108BD9-81ED-4DB2-BD59-A6C34878D82A}">
                    <a16:rowId xmlns:a16="http://schemas.microsoft.com/office/drawing/2014/main" val="3892021662"/>
                  </a:ext>
                </a:extLst>
              </a:tr>
              <a:tr h="326571">
                <a:tc>
                  <a:txBody>
                    <a:bodyPr/>
                    <a:lstStyle/>
                    <a:p>
                      <a:pPr algn="r" fontAlgn="b">
                        <a:buNone/>
                      </a:pPr>
                      <a:r>
                        <a:rPr lang="en-US" sz="1800" b="1" u="none" strike="noStrike">
                          <a:effectLst/>
                        </a:rPr>
                        <a:t>False positive rate</a:t>
                      </a:r>
                      <a:endParaRPr lang="en-US" sz="1800" b="1" i="0" u="none" strike="noStrike">
                        <a:solidFill>
                          <a:srgbClr val="000000"/>
                        </a:solidFill>
                        <a:effectLst/>
                        <a:latin typeface="Arial"/>
                      </a:endParaRPr>
                    </a:p>
                  </a:txBody>
                  <a:tcPr marL="9525" marR="9525" marT="9525" marB="0" anchor="ctr"/>
                </a:tc>
                <a:tc>
                  <a:txBody>
                    <a:bodyPr/>
                    <a:lstStyle/>
                    <a:p>
                      <a:pPr algn="ctr" fontAlgn="b">
                        <a:buNone/>
                      </a:pPr>
                      <a:r>
                        <a:rPr lang="en-US" sz="1800" u="none" strike="noStrike">
                          <a:effectLst/>
                        </a:rPr>
                        <a:t>0% (0/27)</a:t>
                      </a:r>
                      <a:endParaRPr lang="en-US" sz="1800" b="1" i="0" u="none" strike="noStrike">
                        <a:solidFill>
                          <a:srgbClr val="000000"/>
                        </a:solidFill>
                        <a:effectLst/>
                        <a:latin typeface="Arial"/>
                      </a:endParaRPr>
                    </a:p>
                  </a:txBody>
                  <a:tcPr marL="9525" marR="9525" marT="9525" marB="0" anchor="ctr"/>
                </a:tc>
                <a:tc>
                  <a:txBody>
                    <a:bodyPr/>
                    <a:lstStyle/>
                    <a:p>
                      <a:pPr algn="ctr" fontAlgn="b">
                        <a:buNone/>
                      </a:pPr>
                      <a:r>
                        <a:rPr lang="en-US" sz="1800" u="none" strike="noStrike">
                          <a:effectLst/>
                        </a:rPr>
                        <a:t>61% (34/56)</a:t>
                      </a:r>
                      <a:endParaRPr lang="en-US" sz="1800" b="1" i="0" u="none" strike="noStrike">
                        <a:solidFill>
                          <a:srgbClr val="000000"/>
                        </a:solidFill>
                        <a:effectLst/>
                        <a:latin typeface="Arial"/>
                      </a:endParaRPr>
                    </a:p>
                  </a:txBody>
                  <a:tcPr marL="9525" marR="9525" marT="9525" marB="0" anchor="ctr"/>
                </a:tc>
                <a:tc>
                  <a:txBody>
                    <a:bodyPr/>
                    <a:lstStyle/>
                    <a:p>
                      <a:pPr algn="ctr" fontAlgn="b">
                        <a:buNone/>
                      </a:pPr>
                      <a:r>
                        <a:rPr lang="en-US" sz="1800" u="none" strike="noStrike">
                          <a:effectLst/>
                        </a:rPr>
                        <a:t>3% (1/34)</a:t>
                      </a:r>
                      <a:endParaRPr lang="en-US" sz="1800" b="1" i="0" u="none" strike="noStrike">
                        <a:solidFill>
                          <a:srgbClr val="000000"/>
                        </a:solidFill>
                        <a:effectLst/>
                        <a:latin typeface="Arial"/>
                      </a:endParaRPr>
                    </a:p>
                  </a:txBody>
                  <a:tcPr marL="9525" marR="9525" marT="9525" marB="0" anchor="ctr"/>
                </a:tc>
                <a:extLst>
                  <a:ext uri="{0D108BD9-81ED-4DB2-BD59-A6C34878D82A}">
                    <a16:rowId xmlns:a16="http://schemas.microsoft.com/office/drawing/2014/main" val="3020417295"/>
                  </a:ext>
                </a:extLst>
              </a:tr>
              <a:tr h="292241">
                <a:tc>
                  <a:txBody>
                    <a:bodyPr/>
                    <a:lstStyle/>
                    <a:p>
                      <a:pPr algn="r" fontAlgn="b">
                        <a:buNone/>
                      </a:pPr>
                      <a:r>
                        <a:rPr lang="en-US" sz="1800" b="1" u="none" strike="noStrike">
                          <a:effectLst/>
                        </a:rPr>
                        <a:t>Caught</a:t>
                      </a:r>
                      <a:endParaRPr lang="en-US" sz="1800" b="1" i="0" u="none" strike="noStrike">
                        <a:solidFill>
                          <a:srgbClr val="000000"/>
                        </a:solidFill>
                        <a:effectLst/>
                        <a:latin typeface="Arial"/>
                      </a:endParaRPr>
                    </a:p>
                  </a:txBody>
                  <a:tcPr marL="9525" marR="9525" marT="9525" marB="0" anchor="ctr"/>
                </a:tc>
                <a:tc>
                  <a:txBody>
                    <a:bodyPr/>
                    <a:lstStyle/>
                    <a:p>
                      <a:pPr algn="ctr" fontAlgn="b">
                        <a:buNone/>
                      </a:pPr>
                      <a:r>
                        <a:rPr lang="en-US" sz="1800" u="none" strike="noStrike">
                          <a:effectLst/>
                        </a:rPr>
                        <a:t>27</a:t>
                      </a:r>
                      <a:endParaRPr lang="en-US" sz="1800" b="0" i="0" u="none" strike="noStrike">
                        <a:solidFill>
                          <a:srgbClr val="000000"/>
                        </a:solidFill>
                        <a:effectLst/>
                        <a:latin typeface="Arial"/>
                      </a:endParaRPr>
                    </a:p>
                  </a:txBody>
                  <a:tcPr marL="9525" marR="9525" marT="9525" marB="0" anchor="ctr"/>
                </a:tc>
                <a:tc>
                  <a:txBody>
                    <a:bodyPr/>
                    <a:lstStyle/>
                    <a:p>
                      <a:pPr algn="ctr" fontAlgn="b">
                        <a:buNone/>
                      </a:pPr>
                      <a:r>
                        <a:rPr lang="en-US" sz="1800" u="none" strike="noStrike">
                          <a:effectLst/>
                        </a:rPr>
                        <a:t>22</a:t>
                      </a:r>
                      <a:endParaRPr lang="en-US" sz="1800" b="0" i="0" u="none" strike="noStrike">
                        <a:solidFill>
                          <a:srgbClr val="000000"/>
                        </a:solidFill>
                        <a:effectLst/>
                        <a:latin typeface="Arial"/>
                      </a:endParaRPr>
                    </a:p>
                  </a:txBody>
                  <a:tcPr marL="9525" marR="9525" marT="9525" marB="0" anchor="ctr"/>
                </a:tc>
                <a:tc>
                  <a:txBody>
                    <a:bodyPr/>
                    <a:lstStyle/>
                    <a:p>
                      <a:pPr algn="ctr" fontAlgn="b">
                        <a:buNone/>
                      </a:pPr>
                      <a:r>
                        <a:rPr lang="en-US" sz="1800" u="none" strike="noStrike">
                          <a:effectLst/>
                        </a:rPr>
                        <a:t>33</a:t>
                      </a:r>
                      <a:endParaRPr lang="en-US" sz="1800" b="0" i="0" u="none" strike="noStrike">
                        <a:solidFill>
                          <a:srgbClr val="000000"/>
                        </a:solidFill>
                        <a:effectLst/>
                        <a:latin typeface="Arial"/>
                      </a:endParaRPr>
                    </a:p>
                  </a:txBody>
                  <a:tcPr marL="9525" marR="9525" marT="9525" marB="0" anchor="ctr"/>
                </a:tc>
                <a:extLst>
                  <a:ext uri="{0D108BD9-81ED-4DB2-BD59-A6C34878D82A}">
                    <a16:rowId xmlns:a16="http://schemas.microsoft.com/office/drawing/2014/main" val="2757872643"/>
                  </a:ext>
                </a:extLst>
              </a:tr>
              <a:tr h="292241">
                <a:tc>
                  <a:txBody>
                    <a:bodyPr/>
                    <a:lstStyle/>
                    <a:p>
                      <a:pPr algn="r" fontAlgn="b">
                        <a:buNone/>
                      </a:pPr>
                      <a:r>
                        <a:rPr lang="en-US" sz="1800" b="1" u="none" strike="noStrike">
                          <a:effectLst/>
                        </a:rPr>
                        <a:t>Missed</a:t>
                      </a:r>
                      <a:endParaRPr lang="en-US" sz="1800" b="1" i="0" u="none" strike="noStrike">
                        <a:solidFill>
                          <a:srgbClr val="000000"/>
                        </a:solidFill>
                        <a:effectLst/>
                        <a:latin typeface="Arial"/>
                      </a:endParaRPr>
                    </a:p>
                  </a:txBody>
                  <a:tcPr marL="9525" marR="9525" marT="9525" marB="0" anchor="ctr"/>
                </a:tc>
                <a:tc>
                  <a:txBody>
                    <a:bodyPr/>
                    <a:lstStyle/>
                    <a:p>
                      <a:pPr algn="ctr" fontAlgn="b">
                        <a:buNone/>
                      </a:pPr>
                      <a:r>
                        <a:rPr lang="en-US" sz="1800" u="none" strike="noStrike">
                          <a:effectLst/>
                        </a:rPr>
                        <a:t>54</a:t>
                      </a:r>
                      <a:endParaRPr lang="en-US" sz="1800" b="0" i="0" u="none" strike="noStrike">
                        <a:solidFill>
                          <a:srgbClr val="000000"/>
                        </a:solidFill>
                        <a:effectLst/>
                        <a:latin typeface="Arial"/>
                      </a:endParaRPr>
                    </a:p>
                  </a:txBody>
                  <a:tcPr marL="9525" marR="9525" marT="9525" marB="0" anchor="ctr"/>
                </a:tc>
                <a:tc>
                  <a:txBody>
                    <a:bodyPr/>
                    <a:lstStyle/>
                    <a:p>
                      <a:pPr algn="ctr" fontAlgn="b">
                        <a:buNone/>
                      </a:pPr>
                      <a:r>
                        <a:rPr lang="en-US" sz="1800" u="none" strike="noStrike">
                          <a:effectLst/>
                        </a:rPr>
                        <a:t>59</a:t>
                      </a:r>
                      <a:endParaRPr lang="en-US" sz="1800" b="0" i="0" u="none" strike="noStrike">
                        <a:solidFill>
                          <a:srgbClr val="000000"/>
                        </a:solidFill>
                        <a:effectLst/>
                        <a:latin typeface="Arial"/>
                      </a:endParaRPr>
                    </a:p>
                  </a:txBody>
                  <a:tcPr marL="9525" marR="9525" marT="9525" marB="0" anchor="ctr"/>
                </a:tc>
                <a:tc>
                  <a:txBody>
                    <a:bodyPr/>
                    <a:lstStyle/>
                    <a:p>
                      <a:pPr algn="ctr" fontAlgn="b">
                        <a:buNone/>
                      </a:pPr>
                      <a:r>
                        <a:rPr lang="en-US" sz="1800" u="none" strike="noStrike">
                          <a:effectLst/>
                        </a:rPr>
                        <a:t>48</a:t>
                      </a:r>
                      <a:endParaRPr lang="en-US" sz="1800" b="0" i="0" u="none" strike="noStrike">
                        <a:solidFill>
                          <a:srgbClr val="000000"/>
                        </a:solidFill>
                        <a:effectLst/>
                        <a:latin typeface="Arial"/>
                      </a:endParaRPr>
                    </a:p>
                  </a:txBody>
                  <a:tcPr marL="9525" marR="9525" marT="9525" marB="0" anchor="ctr"/>
                </a:tc>
                <a:extLst>
                  <a:ext uri="{0D108BD9-81ED-4DB2-BD59-A6C34878D82A}">
                    <a16:rowId xmlns:a16="http://schemas.microsoft.com/office/drawing/2014/main" val="182633323"/>
                  </a:ext>
                </a:extLst>
              </a:tr>
              <a:tr h="292241">
                <a:tc>
                  <a:txBody>
                    <a:bodyPr/>
                    <a:lstStyle/>
                    <a:p>
                      <a:pPr algn="r" fontAlgn="b">
                        <a:buNone/>
                      </a:pPr>
                      <a:r>
                        <a:rPr lang="en-US" sz="1800" b="1" u="none" strike="noStrike">
                          <a:effectLst/>
                        </a:rPr>
                        <a:t>False positives</a:t>
                      </a:r>
                      <a:endParaRPr lang="en-US" sz="1800" b="1" i="0" u="none" strike="noStrike">
                        <a:solidFill>
                          <a:srgbClr val="000000"/>
                        </a:solidFill>
                        <a:effectLst/>
                        <a:latin typeface="Arial"/>
                      </a:endParaRPr>
                    </a:p>
                  </a:txBody>
                  <a:tcPr marL="9525" marR="9525" marT="9525" marB="0" anchor="ctr"/>
                </a:tc>
                <a:tc>
                  <a:txBody>
                    <a:bodyPr/>
                    <a:lstStyle/>
                    <a:p>
                      <a:pPr algn="ctr" fontAlgn="b">
                        <a:buNone/>
                      </a:pPr>
                      <a:r>
                        <a:rPr lang="en-US" sz="1800" u="none" strike="noStrike">
                          <a:effectLst/>
                        </a:rPr>
                        <a:t>0</a:t>
                      </a:r>
                      <a:endParaRPr lang="en-US" sz="1800" b="0" i="0" u="none" strike="noStrike">
                        <a:solidFill>
                          <a:srgbClr val="000000"/>
                        </a:solidFill>
                        <a:effectLst/>
                        <a:latin typeface="Arial"/>
                      </a:endParaRPr>
                    </a:p>
                  </a:txBody>
                  <a:tcPr marL="9525" marR="9525" marT="9525" marB="0" anchor="ctr"/>
                </a:tc>
                <a:tc>
                  <a:txBody>
                    <a:bodyPr/>
                    <a:lstStyle/>
                    <a:p>
                      <a:pPr algn="ctr" fontAlgn="b">
                        <a:buNone/>
                      </a:pPr>
                      <a:r>
                        <a:rPr lang="en-US" sz="1800" u="none" strike="noStrike">
                          <a:effectLst/>
                        </a:rPr>
                        <a:t>34</a:t>
                      </a:r>
                      <a:endParaRPr lang="en-US" sz="1800" b="0" i="0" u="none" strike="noStrike">
                        <a:solidFill>
                          <a:srgbClr val="000000"/>
                        </a:solidFill>
                        <a:effectLst/>
                        <a:latin typeface="Arial"/>
                      </a:endParaRPr>
                    </a:p>
                  </a:txBody>
                  <a:tcPr marL="9525" marR="9525" marT="9525" marB="0" anchor="ctr"/>
                </a:tc>
                <a:tc>
                  <a:txBody>
                    <a:bodyPr/>
                    <a:lstStyle/>
                    <a:p>
                      <a:pPr algn="ctr" fontAlgn="b">
                        <a:buNone/>
                      </a:pPr>
                      <a:r>
                        <a:rPr lang="en-US" sz="1800" u="none" strike="noStrike">
                          <a:effectLst/>
                        </a:rPr>
                        <a:t>1</a:t>
                      </a:r>
                      <a:endParaRPr lang="en-US" sz="1800" b="0" i="0" u="none" strike="noStrike">
                        <a:solidFill>
                          <a:srgbClr val="000000"/>
                        </a:solidFill>
                        <a:effectLst/>
                        <a:latin typeface="Arial"/>
                      </a:endParaRPr>
                    </a:p>
                  </a:txBody>
                  <a:tcPr marL="9525" marR="9525" marT="9525" marB="0" anchor="ctr"/>
                </a:tc>
                <a:extLst>
                  <a:ext uri="{0D108BD9-81ED-4DB2-BD59-A6C34878D82A}">
                    <a16:rowId xmlns:a16="http://schemas.microsoft.com/office/drawing/2014/main" val="3405174009"/>
                  </a:ext>
                </a:extLst>
              </a:tr>
            </a:tbl>
          </a:graphicData>
        </a:graphic>
      </p:graphicFrame>
    </p:spTree>
    <p:extLst>
      <p:ext uri="{BB962C8B-B14F-4D97-AF65-F5344CB8AC3E}">
        <p14:creationId xmlns:p14="http://schemas.microsoft.com/office/powerpoint/2010/main" val="17004875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D5830-5F7F-08A2-F4EF-4237F5DB718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047412-AEA3-D4E2-8BB3-973FD7CDC27B}"/>
              </a:ext>
            </a:extLst>
          </p:cNvPr>
          <p:cNvSpPr>
            <a:spLocks noGrp="1"/>
          </p:cNvSpPr>
          <p:nvPr>
            <p:ph type="sldNum" sz="quarter" idx="11"/>
          </p:nvPr>
        </p:nvSpPr>
        <p:spPr/>
        <p:txBody>
          <a:bodyPr/>
          <a:lstStyle/>
          <a:p>
            <a:fld id="{28874E94-A9F8-5A41-9D43-235A602D77DE}" type="slidenum">
              <a:rPr lang="en-US" smtClean="0"/>
              <a:pPr/>
              <a:t>40</a:t>
            </a:fld>
            <a:endParaRPr lang="en-US">
              <a:latin typeface="Aptos" panose="020B0004020202020204" pitchFamily="34" charset="0"/>
            </a:endParaRPr>
          </a:p>
        </p:txBody>
      </p:sp>
      <p:sp>
        <p:nvSpPr>
          <p:cNvPr id="4" name="Title 3">
            <a:extLst>
              <a:ext uri="{FF2B5EF4-FFF2-40B4-BE49-F238E27FC236}">
                <a16:creationId xmlns:a16="http://schemas.microsoft.com/office/drawing/2014/main" id="{32AD42AA-EE56-C770-39E4-2CE6A6E8EA1D}"/>
              </a:ext>
            </a:extLst>
          </p:cNvPr>
          <p:cNvSpPr>
            <a:spLocks noGrp="1"/>
          </p:cNvSpPr>
          <p:nvPr>
            <p:ph type="title"/>
          </p:nvPr>
        </p:nvSpPr>
        <p:spPr/>
        <p:txBody>
          <a:bodyPr>
            <a:normAutofit fontScale="90000"/>
          </a:bodyPr>
          <a:lstStyle/>
          <a:p>
            <a:r>
              <a:rPr lang="en-US">
                <a:latin typeface="Aptos ExtraBold"/>
              </a:rPr>
              <a:t>WCAG 2.2 coverage</a:t>
            </a:r>
            <a:endParaRPr lang="en-US"/>
          </a:p>
        </p:txBody>
      </p:sp>
      <p:sp>
        <p:nvSpPr>
          <p:cNvPr id="5" name="Text Placeholder 4">
            <a:extLst>
              <a:ext uri="{FF2B5EF4-FFF2-40B4-BE49-F238E27FC236}">
                <a16:creationId xmlns:a16="http://schemas.microsoft.com/office/drawing/2014/main" id="{3760CD9D-A7AC-CB51-D812-033C7895E766}"/>
              </a:ext>
            </a:extLst>
          </p:cNvPr>
          <p:cNvSpPr>
            <a:spLocks noGrp="1"/>
          </p:cNvSpPr>
          <p:nvPr>
            <p:ph type="body" sz="quarter" idx="12"/>
          </p:nvPr>
        </p:nvSpPr>
        <p:spPr>
          <a:xfrm>
            <a:off x="402729" y="1296490"/>
            <a:ext cx="11377234" cy="990600"/>
          </a:xfrm>
        </p:spPr>
        <p:txBody>
          <a:bodyPr vert="horz" lIns="91440" tIns="45720" rIns="91440" bIns="45720" rtlCol="0" anchor="t">
            <a:noAutofit/>
          </a:bodyPr>
          <a:lstStyle/>
          <a:p>
            <a:r>
              <a:rPr lang="en-US" sz="1800">
                <a:latin typeface="Aptos Light"/>
              </a:rPr>
              <a:t>A simplified breakdown of how many WCAG issues are covered by each accessibility test. As explained earlier, we can identify ~60% of WCAG 2.2 issues using FastPass (steps 1 and 2). For the remaining 40% we rely on accessibility office hours and screen reader testing.</a:t>
            </a:r>
            <a:endParaRPr lang="en-US" sz="1800"/>
          </a:p>
        </p:txBody>
      </p:sp>
      <p:graphicFrame>
        <p:nvGraphicFramePr>
          <p:cNvPr id="3" name="Table 2">
            <a:extLst>
              <a:ext uri="{FF2B5EF4-FFF2-40B4-BE49-F238E27FC236}">
                <a16:creationId xmlns:a16="http://schemas.microsoft.com/office/drawing/2014/main" id="{7B79BD21-BD3A-8887-BF2F-539E76A82A8A}"/>
              </a:ext>
            </a:extLst>
          </p:cNvPr>
          <p:cNvGraphicFramePr>
            <a:graphicFrameLocks noGrp="1"/>
          </p:cNvGraphicFramePr>
          <p:nvPr>
            <p:extLst>
              <p:ext uri="{D42A27DB-BD31-4B8C-83A1-F6EECF244321}">
                <p14:modId xmlns:p14="http://schemas.microsoft.com/office/powerpoint/2010/main" val="2807504164"/>
              </p:ext>
            </p:extLst>
          </p:nvPr>
        </p:nvGraphicFramePr>
        <p:xfrm>
          <a:off x="1643058" y="2287090"/>
          <a:ext cx="8896575" cy="4079234"/>
        </p:xfrm>
        <a:graphic>
          <a:graphicData uri="http://schemas.openxmlformats.org/drawingml/2006/table">
            <a:tbl>
              <a:tblPr firstRow="1" bandRow="1">
                <a:tableStyleId>{5C22544A-7EE6-4342-B048-85BDC9FD1C3A}</a:tableStyleId>
              </a:tblPr>
              <a:tblGrid>
                <a:gridCol w="1779315">
                  <a:extLst>
                    <a:ext uri="{9D8B030D-6E8A-4147-A177-3AD203B41FA5}">
                      <a16:colId xmlns:a16="http://schemas.microsoft.com/office/drawing/2014/main" val="1006717105"/>
                    </a:ext>
                  </a:extLst>
                </a:gridCol>
                <a:gridCol w="1779315">
                  <a:extLst>
                    <a:ext uri="{9D8B030D-6E8A-4147-A177-3AD203B41FA5}">
                      <a16:colId xmlns:a16="http://schemas.microsoft.com/office/drawing/2014/main" val="3373937225"/>
                    </a:ext>
                  </a:extLst>
                </a:gridCol>
                <a:gridCol w="1779315">
                  <a:extLst>
                    <a:ext uri="{9D8B030D-6E8A-4147-A177-3AD203B41FA5}">
                      <a16:colId xmlns:a16="http://schemas.microsoft.com/office/drawing/2014/main" val="2947281932"/>
                    </a:ext>
                  </a:extLst>
                </a:gridCol>
                <a:gridCol w="1779315">
                  <a:extLst>
                    <a:ext uri="{9D8B030D-6E8A-4147-A177-3AD203B41FA5}">
                      <a16:colId xmlns:a16="http://schemas.microsoft.com/office/drawing/2014/main" val="577466864"/>
                    </a:ext>
                  </a:extLst>
                </a:gridCol>
                <a:gridCol w="1779315">
                  <a:extLst>
                    <a:ext uri="{9D8B030D-6E8A-4147-A177-3AD203B41FA5}">
                      <a16:colId xmlns:a16="http://schemas.microsoft.com/office/drawing/2014/main" val="3163800313"/>
                    </a:ext>
                  </a:extLst>
                </a:gridCol>
              </a:tblGrid>
              <a:tr h="370840">
                <a:tc>
                  <a:txBody>
                    <a:bodyPr/>
                    <a:lstStyle/>
                    <a:p>
                      <a:pPr algn="ctr"/>
                      <a:r>
                        <a:rPr lang="en-US" sz="1800"/>
                        <a:t>% of WCAG 2.2</a:t>
                      </a:r>
                    </a:p>
                  </a:txBody>
                  <a:tcPr anchor="ctr"/>
                </a:tc>
                <a:tc gridSpan="4">
                  <a:txBody>
                    <a:bodyPr/>
                    <a:lstStyle/>
                    <a:p>
                      <a:pPr algn="ctr"/>
                      <a:r>
                        <a:rPr lang="en-US" sz="1800"/>
                        <a:t>Accessibility intervention</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56760417"/>
                  </a:ext>
                </a:extLst>
              </a:tr>
              <a:tr h="1112520">
                <a:tc>
                  <a:txBody>
                    <a:bodyPr/>
                    <a:lstStyle/>
                    <a:p>
                      <a:pPr algn="ctr"/>
                      <a:r>
                        <a:rPr lang="en-US" sz="1800"/>
                        <a:t>~30%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a:t>FastPass Step 1</a:t>
                      </a:r>
                    </a:p>
                    <a:p>
                      <a:pPr lvl="0" algn="ctr">
                        <a:buNone/>
                      </a:pPr>
                      <a:r>
                        <a:rPr lang="en-US" sz="1800"/>
                        <a:t>(Automated checks) </a:t>
                      </a:r>
                    </a:p>
                  </a:txBody>
                  <a:tcPr anchor="ctr"/>
                </a:tc>
                <a:tc>
                  <a:txBody>
                    <a:bodyPr/>
                    <a:lstStyle/>
                    <a:p>
                      <a:pPr algn="ctr"/>
                      <a:endParaRPr lang="en-US" sz="1800"/>
                    </a:p>
                  </a:txBody>
                  <a:tcPr anchor="ctr"/>
                </a:tc>
                <a:tc>
                  <a:txBody>
                    <a:bodyPr/>
                    <a:lstStyle/>
                    <a:p>
                      <a:pPr algn="ctr"/>
                      <a:endParaRPr lang="en-US" sz="1800"/>
                    </a:p>
                  </a:txBody>
                  <a:tcPr anchor="ctr"/>
                </a:tc>
                <a:tc rowSpan="4">
                  <a:txBody>
                    <a:bodyPr/>
                    <a:lstStyle/>
                    <a:p>
                      <a:pPr algn="ctr"/>
                      <a:r>
                        <a:rPr lang="en-US" sz="1800"/>
                        <a:t>MOPD Office Hours </a:t>
                      </a:r>
                      <a:br>
                        <a:rPr lang="en-US" sz="1800"/>
                      </a:br>
                      <a:r>
                        <a:rPr lang="en-US" sz="1800"/>
                        <a:t>(or feedback from another accessibility expert)</a:t>
                      </a:r>
                    </a:p>
                  </a:txBody>
                  <a:tcPr anchor="ctr"/>
                </a:tc>
                <a:extLst>
                  <a:ext uri="{0D108BD9-81ED-4DB2-BD59-A6C34878D82A}">
                    <a16:rowId xmlns:a16="http://schemas.microsoft.com/office/drawing/2014/main" val="4185658734"/>
                  </a:ext>
                </a:extLst>
              </a:tr>
              <a:tr h="1112520">
                <a:tc>
                  <a:txBody>
                    <a:bodyPr/>
                    <a:lstStyle/>
                    <a:p>
                      <a:pPr algn="ctr"/>
                      <a:r>
                        <a:rPr lang="en-US" sz="1800"/>
                        <a:t>~30%</a:t>
                      </a:r>
                    </a:p>
                  </a:txBody>
                  <a:tcPr anchor="ctr"/>
                </a:tc>
                <a:tc>
                  <a:txBody>
                    <a:bodyPr/>
                    <a:lstStyle/>
                    <a:p>
                      <a:pPr algn="ctr"/>
                      <a:endParaRPr lang="en-US" sz="1800"/>
                    </a:p>
                  </a:txBody>
                  <a:tcPr anchor="ctr"/>
                </a:tc>
                <a:tc>
                  <a:txBody>
                    <a:bodyPr/>
                    <a:lstStyle/>
                    <a:p>
                      <a:pPr algn="ctr"/>
                      <a:r>
                        <a:rPr lang="en-US" sz="1800"/>
                        <a:t>FastPass Step 2</a:t>
                      </a:r>
                    </a:p>
                    <a:p>
                      <a:pPr algn="ctr"/>
                      <a:r>
                        <a:rPr lang="en-US" sz="1800"/>
                        <a:t>(Tab stops)</a:t>
                      </a:r>
                    </a:p>
                  </a:txBody>
                  <a:tcPr anchor="ctr"/>
                </a:tc>
                <a:tc>
                  <a:txBody>
                    <a:bodyPr/>
                    <a:lstStyle/>
                    <a:p>
                      <a:pPr algn="ctr"/>
                      <a:endParaRPr lang="en-US" sz="1800"/>
                    </a:p>
                  </a:txBody>
                  <a:tcPr anchor="ctr"/>
                </a:tc>
                <a:tc vMerge="1">
                  <a:txBody>
                    <a:bodyPr/>
                    <a:lstStyle/>
                    <a:p>
                      <a:endParaRPr lang="en-US"/>
                    </a:p>
                  </a:txBody>
                  <a:tcPr/>
                </a:tc>
                <a:extLst>
                  <a:ext uri="{0D108BD9-81ED-4DB2-BD59-A6C34878D82A}">
                    <a16:rowId xmlns:a16="http://schemas.microsoft.com/office/drawing/2014/main" val="1093384757"/>
                  </a:ext>
                </a:extLst>
              </a:tr>
              <a:tr h="1112516">
                <a:tc>
                  <a:txBody>
                    <a:bodyPr/>
                    <a:lstStyle/>
                    <a:p>
                      <a:pPr algn="ctr"/>
                      <a:r>
                        <a:rPr lang="en-US" sz="1800"/>
                        <a:t>~30%</a:t>
                      </a:r>
                    </a:p>
                  </a:txBody>
                  <a:tcPr anchor="ctr"/>
                </a:tc>
                <a:tc>
                  <a:txBody>
                    <a:bodyPr/>
                    <a:lstStyle/>
                    <a:p>
                      <a:pPr algn="ctr"/>
                      <a:endParaRPr lang="en-US" sz="1800"/>
                    </a:p>
                  </a:txBody>
                  <a:tcPr anchor="ctr"/>
                </a:tc>
                <a:tc>
                  <a:txBody>
                    <a:bodyPr/>
                    <a:lstStyle/>
                    <a:p>
                      <a:pPr algn="ctr"/>
                      <a:endParaRPr lang="en-US" sz="1800"/>
                    </a:p>
                  </a:txBody>
                  <a:tcPr anchor="ctr"/>
                </a:tc>
                <a:tc>
                  <a:txBody>
                    <a:bodyPr/>
                    <a:lstStyle/>
                    <a:p>
                      <a:pPr algn="ctr"/>
                      <a:r>
                        <a:rPr lang="en-US" sz="1800"/>
                        <a:t>Screen reader testing (NVDA &amp; </a:t>
                      </a:r>
                      <a:r>
                        <a:rPr lang="en-US" sz="1800" err="1"/>
                        <a:t>VoiceOver</a:t>
                      </a:r>
                      <a:r>
                        <a:rPr lang="en-US" sz="1800"/>
                        <a:t>)</a:t>
                      </a:r>
                    </a:p>
                  </a:txBody>
                  <a:tcPr anchor="ctr"/>
                </a:tc>
                <a:tc vMerge="1">
                  <a:txBody>
                    <a:bodyPr/>
                    <a:lstStyle/>
                    <a:p>
                      <a:endParaRPr lang="en-US"/>
                    </a:p>
                  </a:txBody>
                  <a:tcPr/>
                </a:tc>
                <a:extLst>
                  <a:ext uri="{0D108BD9-81ED-4DB2-BD59-A6C34878D82A}">
                    <a16:rowId xmlns:a16="http://schemas.microsoft.com/office/drawing/2014/main" val="99188126"/>
                  </a:ext>
                </a:extLst>
              </a:tr>
              <a:tr h="370838">
                <a:tc>
                  <a:txBody>
                    <a:bodyPr/>
                    <a:lstStyle/>
                    <a:p>
                      <a:pPr lvl="0" algn="ctr">
                        <a:buNone/>
                      </a:pPr>
                      <a:r>
                        <a:rPr lang="en-US"/>
                        <a:t>~10%</a:t>
                      </a:r>
                    </a:p>
                  </a:txBody>
                  <a:tcPr anchor="ctr"/>
                </a:tc>
                <a:tc>
                  <a:txBody>
                    <a:bodyPr/>
                    <a:lstStyle/>
                    <a:p>
                      <a:pPr lvl="0" algn="ctr">
                        <a:buNone/>
                      </a:pPr>
                      <a:endParaRPr lang="en-US"/>
                    </a:p>
                  </a:txBody>
                  <a:tcPr anchor="ctr"/>
                </a:tc>
                <a:tc>
                  <a:txBody>
                    <a:bodyPr/>
                    <a:lstStyle/>
                    <a:p>
                      <a:pPr lvl="0" algn="ctr">
                        <a:buNone/>
                      </a:pPr>
                      <a:endParaRPr lang="en-US"/>
                    </a:p>
                  </a:txBody>
                  <a:tcPr anchor="ctr"/>
                </a:tc>
                <a:tc>
                  <a:txBody>
                    <a:bodyPr/>
                    <a:lstStyle/>
                    <a:p>
                      <a:pPr lvl="0" algn="ctr">
                        <a:buNone/>
                      </a:pPr>
                      <a:endParaRPr lang="en-US"/>
                    </a:p>
                  </a:txBody>
                  <a:tcPr anchor="ctr"/>
                </a:tc>
                <a:tc vMerge="1">
                  <a:txBody>
                    <a:bodyPr/>
                    <a:lstStyle/>
                    <a:p>
                      <a:endParaRPr lang="en-US"/>
                    </a:p>
                  </a:txBody>
                  <a:tcPr/>
                </a:tc>
                <a:extLst>
                  <a:ext uri="{0D108BD9-81ED-4DB2-BD59-A6C34878D82A}">
                    <a16:rowId xmlns:a16="http://schemas.microsoft.com/office/drawing/2014/main" val="2720021199"/>
                  </a:ext>
                </a:extLst>
              </a:tr>
            </a:tbl>
          </a:graphicData>
        </a:graphic>
      </p:graphicFrame>
      <p:sp>
        <p:nvSpPr>
          <p:cNvPr id="7" name="Text Placeholder 2">
            <a:extLst>
              <a:ext uri="{FF2B5EF4-FFF2-40B4-BE49-F238E27FC236}">
                <a16:creationId xmlns:a16="http://schemas.microsoft.com/office/drawing/2014/main" id="{AD3462A7-BA6C-5493-FA0A-7210559F2A11}"/>
              </a:ext>
            </a:extLst>
          </p:cNvPr>
          <p:cNvSpPr>
            <a:spLocks noGrp="1"/>
          </p:cNvSpPr>
          <p:nvPr>
            <p:ph type="body" sz="quarter" idx="13"/>
          </p:nvPr>
        </p:nvSpPr>
        <p:spPr>
          <a:xfrm>
            <a:off x="456642" y="379990"/>
            <a:ext cx="2194560" cy="267710"/>
          </a:xfrm>
        </p:spPr>
        <p:txBody>
          <a:bodyPr>
            <a:normAutofit fontScale="92500" lnSpcReduction="10000"/>
          </a:bodyPr>
          <a:lstStyle/>
          <a:p>
            <a:r>
              <a:rPr lang="en-US"/>
              <a:t>Appendix</a:t>
            </a:r>
          </a:p>
        </p:txBody>
      </p:sp>
    </p:spTree>
    <p:extLst>
      <p:ext uri="{BB962C8B-B14F-4D97-AF65-F5344CB8AC3E}">
        <p14:creationId xmlns:p14="http://schemas.microsoft.com/office/powerpoint/2010/main" val="27291137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021FC8-4889-7D90-05A5-8DE43822643B}"/>
              </a:ext>
            </a:extLst>
          </p:cNvPr>
          <p:cNvSpPr>
            <a:spLocks noGrp="1"/>
          </p:cNvSpPr>
          <p:nvPr>
            <p:ph type="sldNum" sz="quarter" idx="11"/>
          </p:nvPr>
        </p:nvSpPr>
        <p:spPr/>
        <p:txBody>
          <a:bodyPr/>
          <a:lstStyle/>
          <a:p>
            <a:fld id="{28874E94-A9F8-5A41-9D43-235A602D77DE}" type="slidenum">
              <a:rPr lang="en-US" smtClean="0"/>
              <a:pPr/>
              <a:t>41</a:t>
            </a:fld>
            <a:endParaRPr lang="en-US">
              <a:latin typeface="Aptos" panose="020B0004020202020204" pitchFamily="34" charset="0"/>
            </a:endParaRPr>
          </a:p>
        </p:txBody>
      </p:sp>
      <p:sp>
        <p:nvSpPr>
          <p:cNvPr id="4" name="Title 3">
            <a:extLst>
              <a:ext uri="{FF2B5EF4-FFF2-40B4-BE49-F238E27FC236}">
                <a16:creationId xmlns:a16="http://schemas.microsoft.com/office/drawing/2014/main" id="{508300DF-822F-56CA-FD20-B50E739A71DF}"/>
              </a:ext>
            </a:extLst>
          </p:cNvPr>
          <p:cNvSpPr>
            <a:spLocks noGrp="1"/>
          </p:cNvSpPr>
          <p:nvPr>
            <p:ph type="title"/>
          </p:nvPr>
        </p:nvSpPr>
        <p:spPr>
          <a:xfrm>
            <a:off x="391872" y="2439301"/>
            <a:ext cx="11408256" cy="681355"/>
          </a:xfrm>
        </p:spPr>
        <p:txBody>
          <a:bodyPr>
            <a:normAutofit fontScale="90000"/>
          </a:bodyPr>
          <a:lstStyle/>
          <a:p>
            <a:pPr algn="ctr"/>
            <a:r>
              <a:rPr lang="en-US" dirty="0">
                <a:latin typeface="Aptos ExtraBold"/>
              </a:rPr>
              <a:t>How to use </a:t>
            </a:r>
            <a:br>
              <a:rPr lang="en-US" dirty="0">
                <a:latin typeface="Aptos ExtraBold"/>
              </a:rPr>
            </a:br>
            <a:r>
              <a:rPr lang="en-US" dirty="0">
                <a:latin typeface="Aptos ExtraBold"/>
              </a:rPr>
              <a:t>Accessibility Insights for Web</a:t>
            </a:r>
          </a:p>
        </p:txBody>
      </p:sp>
      <p:sp>
        <p:nvSpPr>
          <p:cNvPr id="7" name="TextBox 6">
            <a:extLst>
              <a:ext uri="{FF2B5EF4-FFF2-40B4-BE49-F238E27FC236}">
                <a16:creationId xmlns:a16="http://schemas.microsoft.com/office/drawing/2014/main" id="{548E16D8-7B04-3DFC-0A10-4ED281420A1D}"/>
              </a:ext>
            </a:extLst>
          </p:cNvPr>
          <p:cNvSpPr txBox="1"/>
          <p:nvPr/>
        </p:nvSpPr>
        <p:spPr>
          <a:xfrm>
            <a:off x="3534882" y="4040925"/>
            <a:ext cx="5122236" cy="369332"/>
          </a:xfrm>
          <a:prstGeom prst="rect">
            <a:avLst/>
          </a:prstGeom>
          <a:noFill/>
        </p:spPr>
        <p:txBody>
          <a:bodyPr wrap="none" rtlCol="0">
            <a:spAutoFit/>
          </a:bodyPr>
          <a:lstStyle/>
          <a:p>
            <a:r>
              <a:rPr lang="en-US" dirty="0"/>
              <a:t>(Read official documentation and instructions </a:t>
            </a:r>
            <a:r>
              <a:rPr lang="en-US" dirty="0">
                <a:hlinkClick r:id="rId2"/>
              </a:rPr>
              <a:t>here</a:t>
            </a:r>
            <a:r>
              <a:rPr lang="en-US" dirty="0"/>
              <a:t>.) </a:t>
            </a:r>
          </a:p>
        </p:txBody>
      </p:sp>
      <p:sp>
        <p:nvSpPr>
          <p:cNvPr id="8" name="Text Placeholder 2">
            <a:extLst>
              <a:ext uri="{FF2B5EF4-FFF2-40B4-BE49-F238E27FC236}">
                <a16:creationId xmlns:a16="http://schemas.microsoft.com/office/drawing/2014/main" id="{7AF196C2-E3BA-A93D-F7B6-472C5D8A341D}"/>
              </a:ext>
            </a:extLst>
          </p:cNvPr>
          <p:cNvSpPr>
            <a:spLocks noGrp="1"/>
          </p:cNvSpPr>
          <p:nvPr>
            <p:ph type="body" sz="quarter" idx="13"/>
          </p:nvPr>
        </p:nvSpPr>
        <p:spPr>
          <a:xfrm>
            <a:off x="456642" y="379990"/>
            <a:ext cx="2194560" cy="267710"/>
          </a:xfrm>
        </p:spPr>
        <p:txBody>
          <a:bodyPr vert="horz" lIns="91440" tIns="45720" rIns="91440" bIns="45720" rtlCol="0" anchor="t">
            <a:normAutofit fontScale="92500" lnSpcReduction="10000"/>
          </a:bodyPr>
          <a:lstStyle/>
          <a:p>
            <a:r>
              <a:rPr lang="en-US">
                <a:latin typeface="Aptos"/>
              </a:rPr>
              <a:t>Appendix</a:t>
            </a:r>
          </a:p>
        </p:txBody>
      </p:sp>
    </p:spTree>
    <p:extLst>
      <p:ext uri="{BB962C8B-B14F-4D97-AF65-F5344CB8AC3E}">
        <p14:creationId xmlns:p14="http://schemas.microsoft.com/office/powerpoint/2010/main" val="16612450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21EE9-82F0-6FE5-58B2-2C8255D6465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F47731-C777-7D65-2517-90F0C117611D}"/>
              </a:ext>
            </a:extLst>
          </p:cNvPr>
          <p:cNvSpPr>
            <a:spLocks noGrp="1"/>
          </p:cNvSpPr>
          <p:nvPr>
            <p:ph type="sldNum" sz="quarter" idx="11"/>
          </p:nvPr>
        </p:nvSpPr>
        <p:spPr/>
        <p:txBody>
          <a:bodyPr/>
          <a:lstStyle/>
          <a:p>
            <a:fld id="{28874E94-A9F8-5A41-9D43-235A602D77DE}" type="slidenum">
              <a:rPr lang="en-US" smtClean="0"/>
              <a:pPr/>
              <a:t>42</a:t>
            </a:fld>
            <a:endParaRPr lang="en-US">
              <a:latin typeface="Aptos" panose="020B0004020202020204" pitchFamily="34" charset="0"/>
            </a:endParaRPr>
          </a:p>
        </p:txBody>
      </p:sp>
      <p:sp>
        <p:nvSpPr>
          <p:cNvPr id="4" name="Title 3">
            <a:extLst>
              <a:ext uri="{FF2B5EF4-FFF2-40B4-BE49-F238E27FC236}">
                <a16:creationId xmlns:a16="http://schemas.microsoft.com/office/drawing/2014/main" id="{DD57DC8D-E7C9-13C2-ED83-6AD2E2574B62}"/>
              </a:ext>
            </a:extLst>
          </p:cNvPr>
          <p:cNvSpPr>
            <a:spLocks noGrp="1"/>
          </p:cNvSpPr>
          <p:nvPr>
            <p:ph type="title"/>
          </p:nvPr>
        </p:nvSpPr>
        <p:spPr/>
        <p:txBody>
          <a:bodyPr>
            <a:normAutofit fontScale="90000"/>
          </a:bodyPr>
          <a:lstStyle/>
          <a:p>
            <a:r>
              <a:rPr lang="en-US" b="1">
                <a:latin typeface="Aptos ExtraBold" panose="020B0004020202020204" pitchFamily="34" charset="0"/>
              </a:rPr>
              <a:t>Screen reader testing</a:t>
            </a:r>
          </a:p>
        </p:txBody>
      </p:sp>
      <p:sp>
        <p:nvSpPr>
          <p:cNvPr id="11" name="Rounded Rectangle 4">
            <a:extLst>
              <a:ext uri="{FF2B5EF4-FFF2-40B4-BE49-F238E27FC236}">
                <a16:creationId xmlns:a16="http://schemas.microsoft.com/office/drawing/2014/main" id="{0DA59AB8-A9A5-E9F3-6CFC-8354CDD17544}"/>
              </a:ext>
            </a:extLst>
          </p:cNvPr>
          <p:cNvSpPr/>
          <p:nvPr/>
        </p:nvSpPr>
        <p:spPr>
          <a:xfrm>
            <a:off x="456641" y="1445278"/>
            <a:ext cx="5234153" cy="140925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latin typeface="Aptos"/>
              </a:rPr>
              <a:t>Recommendation:</a:t>
            </a:r>
            <a:r>
              <a:rPr lang="en-US">
                <a:solidFill>
                  <a:schemeClr val="tx1"/>
                </a:solidFill>
                <a:latin typeface="Aptos"/>
              </a:rPr>
              <a:t> </a:t>
            </a:r>
            <a:r>
              <a:rPr lang="en-US">
                <a:solidFill>
                  <a:schemeClr val="tx1"/>
                </a:solidFill>
                <a:latin typeface="Aptos Light"/>
              </a:rPr>
              <a:t>Learn how to use a screen reader to test your website before finalizing engineering</a:t>
            </a:r>
            <a:endParaRPr lang="en-US">
              <a:solidFill>
                <a:schemeClr val="tx1"/>
              </a:solidFill>
              <a:latin typeface="Aptos Light"/>
              <a:ea typeface="Calibri"/>
              <a:cs typeface="Calibri"/>
            </a:endParaRPr>
          </a:p>
        </p:txBody>
      </p:sp>
      <p:sp>
        <p:nvSpPr>
          <p:cNvPr id="16" name="Right Arrow 7">
            <a:extLst>
              <a:ext uri="{FF2B5EF4-FFF2-40B4-BE49-F238E27FC236}">
                <a16:creationId xmlns:a16="http://schemas.microsoft.com/office/drawing/2014/main" id="{5FAC6281-F3F8-76A6-31F0-0AD8FAAB6387}"/>
              </a:ext>
              <a:ext uri="{C183D7F6-B498-43B3-948B-1728B52AA6E4}">
                <adec:decorative xmlns:adec="http://schemas.microsoft.com/office/drawing/2017/decorative" val="1"/>
              </a:ext>
            </a:extLst>
          </p:cNvPr>
          <p:cNvSpPr/>
          <p:nvPr/>
        </p:nvSpPr>
        <p:spPr>
          <a:xfrm>
            <a:off x="5757577" y="1816417"/>
            <a:ext cx="717176" cy="666974"/>
          </a:xfrm>
          <a:prstGeom prst="rightArrow">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6">
            <a:extLst>
              <a:ext uri="{FF2B5EF4-FFF2-40B4-BE49-F238E27FC236}">
                <a16:creationId xmlns:a16="http://schemas.microsoft.com/office/drawing/2014/main" id="{D3039018-8444-8B8A-C8E5-39B568C64B7E}"/>
              </a:ext>
            </a:extLst>
          </p:cNvPr>
          <p:cNvSpPr/>
          <p:nvPr/>
        </p:nvSpPr>
        <p:spPr>
          <a:xfrm>
            <a:off x="6501206" y="1445278"/>
            <a:ext cx="5234153" cy="1409252"/>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latin typeface="Aptos"/>
              </a:rPr>
              <a:t>Goal: </a:t>
            </a:r>
            <a:r>
              <a:rPr lang="en-US">
                <a:solidFill>
                  <a:schemeClr val="tx1"/>
                </a:solidFill>
                <a:latin typeface="Aptos Light"/>
              </a:rPr>
              <a:t>Your team regular tests websites by screen reader to ensure essential information and services are easy to access</a:t>
            </a:r>
          </a:p>
        </p:txBody>
      </p:sp>
      <p:sp>
        <p:nvSpPr>
          <p:cNvPr id="18" name="Rounded Rectangle 9">
            <a:extLst>
              <a:ext uri="{FF2B5EF4-FFF2-40B4-BE49-F238E27FC236}">
                <a16:creationId xmlns:a16="http://schemas.microsoft.com/office/drawing/2014/main" id="{B2C456CF-0CF4-C52A-D8C9-65E183737B39}"/>
              </a:ext>
            </a:extLst>
          </p:cNvPr>
          <p:cNvSpPr/>
          <p:nvPr/>
        </p:nvSpPr>
        <p:spPr>
          <a:xfrm>
            <a:off x="456641" y="3151991"/>
            <a:ext cx="11278718" cy="45182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lIns="91440" tIns="45720" rIns="91440" bIns="45720" rtlCol="0" anchor="ctr"/>
          <a:lstStyle/>
          <a:p>
            <a:pPr algn="ctr"/>
            <a:r>
              <a:rPr lang="en-US"/>
              <a:t>How to get started</a:t>
            </a:r>
          </a:p>
        </p:txBody>
      </p:sp>
      <p:sp>
        <p:nvSpPr>
          <p:cNvPr id="6" name="TextBox 5">
            <a:extLst>
              <a:ext uri="{FF2B5EF4-FFF2-40B4-BE49-F238E27FC236}">
                <a16:creationId xmlns:a16="http://schemas.microsoft.com/office/drawing/2014/main" id="{5689214F-80BF-6E26-D838-DC5E09D75749}"/>
              </a:ext>
            </a:extLst>
          </p:cNvPr>
          <p:cNvSpPr txBox="1"/>
          <p:nvPr/>
        </p:nvSpPr>
        <p:spPr>
          <a:xfrm>
            <a:off x="459277" y="3995772"/>
            <a:ext cx="7490490" cy="1908215"/>
          </a:xfrm>
          <a:prstGeom prst="rect">
            <a:avLst/>
          </a:prstGeom>
          <a:noFill/>
        </p:spPr>
        <p:txBody>
          <a:bodyPr wrap="square" lIns="91440" tIns="45720" rIns="91440" bIns="45720" anchor="t">
            <a:spAutoFit/>
          </a:bodyPr>
          <a:lstStyle/>
          <a:p>
            <a:pPr>
              <a:spcAft>
                <a:spcPts val="600"/>
              </a:spcAft>
            </a:pPr>
            <a:r>
              <a:rPr lang="en-US">
                <a:latin typeface="Aptos Light"/>
              </a:rPr>
              <a:t>It's hard to build intuition for how a </a:t>
            </a:r>
            <a:r>
              <a:rPr lang="en-US" err="1">
                <a:latin typeface="Aptos Light"/>
              </a:rPr>
              <a:t>visuall</a:t>
            </a:r>
            <a:r>
              <a:rPr lang="en-US">
                <a:latin typeface="Aptos Light"/>
              </a:rPr>
              <a:t>y-impaired New Yorker if you've never used a screen reader </a:t>
            </a:r>
            <a:r>
              <a:rPr lang="en-US" err="1">
                <a:latin typeface="Aptos Light"/>
              </a:rPr>
              <a:t>yourse</a:t>
            </a:r>
            <a:r>
              <a:rPr lang="en-US">
                <a:latin typeface="Aptos Light"/>
              </a:rPr>
              <a:t>lf. </a:t>
            </a:r>
          </a:p>
          <a:p>
            <a:pPr>
              <a:spcAft>
                <a:spcPts val="600"/>
              </a:spcAft>
            </a:pPr>
            <a:r>
              <a:rPr lang="en-US">
                <a:latin typeface="Aptos Light"/>
              </a:rPr>
              <a:t>Luckily there are great open-source options: </a:t>
            </a:r>
            <a:r>
              <a:rPr lang="en-US">
                <a:latin typeface="Aptos SemiBold"/>
                <a:ea typeface="+mn-lt"/>
                <a:cs typeface="+mn-lt"/>
                <a:hlinkClick r:id="rId2"/>
              </a:rPr>
              <a:t>NVDA</a:t>
            </a:r>
            <a:r>
              <a:rPr lang="en-US">
                <a:latin typeface="Aptos Light"/>
                <a:ea typeface="+mn-lt"/>
                <a:cs typeface="+mn-lt"/>
              </a:rPr>
              <a:t> is a screen reader for Windows that is free to download and can be used without installation (approved by Cyber Command). </a:t>
            </a:r>
            <a:r>
              <a:rPr lang="en-US">
                <a:latin typeface="Aptos SemiBold"/>
                <a:ea typeface="+mn-lt"/>
                <a:cs typeface="+mn-lt"/>
                <a:hlinkClick r:id="rId3"/>
              </a:rPr>
              <a:t>VoiceOver</a:t>
            </a:r>
            <a:r>
              <a:rPr lang="en-US">
                <a:latin typeface="Aptos Light"/>
                <a:ea typeface="+mn-lt"/>
                <a:cs typeface="+mn-lt"/>
              </a:rPr>
              <a:t> comes preinstalled on all Macs.</a:t>
            </a:r>
          </a:p>
          <a:p>
            <a:pPr>
              <a:spcAft>
                <a:spcPts val="600"/>
              </a:spcAft>
            </a:pPr>
            <a:r>
              <a:rPr lang="en-US">
                <a:latin typeface="Aptos Light"/>
                <a:ea typeface="+mn-lt"/>
                <a:cs typeface="+mn-lt"/>
              </a:rPr>
              <a:t>MOPD offers training sessions for teams on how to use a screen reader.</a:t>
            </a:r>
          </a:p>
        </p:txBody>
      </p:sp>
      <p:sp>
        <p:nvSpPr>
          <p:cNvPr id="20" name="Rounded Rectangle 6">
            <a:extLst>
              <a:ext uri="{FF2B5EF4-FFF2-40B4-BE49-F238E27FC236}">
                <a16:creationId xmlns:a16="http://schemas.microsoft.com/office/drawing/2014/main" id="{E3885F5E-8D6C-10EC-DCE2-1F5CA2D68E29}"/>
              </a:ext>
            </a:extLst>
          </p:cNvPr>
          <p:cNvSpPr/>
          <p:nvPr/>
        </p:nvSpPr>
        <p:spPr>
          <a:xfrm>
            <a:off x="8188491" y="3812920"/>
            <a:ext cx="3405352" cy="248149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tx1"/>
                </a:solidFill>
                <a:latin typeface="Aptos"/>
              </a:rPr>
              <a:t>Attend screen reader training with MOPD</a:t>
            </a:r>
          </a:p>
          <a:p>
            <a:pPr marL="285750" indent="-285750">
              <a:lnSpc>
                <a:spcPct val="90000"/>
              </a:lnSpc>
              <a:spcBef>
                <a:spcPts val="1000"/>
              </a:spcBef>
              <a:buFont typeface="Wingdings"/>
              <a:buChar char="v"/>
            </a:pPr>
            <a:r>
              <a:rPr lang="en-US">
                <a:solidFill>
                  <a:schemeClr val="tx1"/>
                </a:solidFill>
                <a:ea typeface="+mn-lt"/>
                <a:cs typeface="+mn-lt"/>
              </a:rPr>
              <a:t>Learn how to use a screen reader by attending a 1-hr training session</a:t>
            </a:r>
            <a:endParaRPr lang="en-US">
              <a:solidFill>
                <a:schemeClr val="tx1"/>
              </a:solidFill>
              <a:latin typeface="Aptos"/>
              <a:ea typeface="+mn-lt"/>
              <a:cs typeface="+mn-lt"/>
            </a:endParaRPr>
          </a:p>
          <a:p>
            <a:pPr marL="285750" indent="-285750">
              <a:lnSpc>
                <a:spcPct val="90000"/>
              </a:lnSpc>
              <a:spcBef>
                <a:spcPts val="1000"/>
              </a:spcBef>
              <a:buFont typeface="Wingdings"/>
              <a:buChar char="v"/>
            </a:pPr>
            <a:r>
              <a:rPr lang="en-US">
                <a:solidFill>
                  <a:schemeClr val="tx1"/>
                </a:solidFill>
                <a:ea typeface="+mn-lt"/>
                <a:cs typeface="+mn-lt"/>
              </a:rPr>
              <a:t>Email Arthur Jacobs (</a:t>
            </a:r>
            <a:r>
              <a:rPr lang="en-US">
                <a:solidFill>
                  <a:schemeClr val="tx1"/>
                </a:solidFill>
                <a:ea typeface="+mn-lt"/>
                <a:cs typeface="+mn-lt"/>
                <a:hlinkClick r:id="rId4"/>
              </a:rPr>
              <a:t>ajacobs2@mopd.nyc.gov</a:t>
            </a:r>
            <a:r>
              <a:rPr lang="en-US">
                <a:solidFill>
                  <a:schemeClr val="tx1"/>
                </a:solidFill>
                <a:ea typeface="+mn-lt"/>
                <a:cs typeface="+mn-lt"/>
              </a:rPr>
              <a:t>)</a:t>
            </a:r>
            <a:endParaRPr lang="en-US">
              <a:solidFill>
                <a:schemeClr val="tx1"/>
              </a:solidFill>
              <a:latin typeface="Aptos"/>
              <a:ea typeface="+mn-lt"/>
              <a:cs typeface="+mn-lt"/>
            </a:endParaRPr>
          </a:p>
        </p:txBody>
      </p:sp>
      <p:sp>
        <p:nvSpPr>
          <p:cNvPr id="5" name="Text Placeholder 2">
            <a:extLst>
              <a:ext uri="{FF2B5EF4-FFF2-40B4-BE49-F238E27FC236}">
                <a16:creationId xmlns:a16="http://schemas.microsoft.com/office/drawing/2014/main" id="{0A915559-B926-ECC4-BD95-384FD627C9B5}"/>
              </a:ext>
            </a:extLst>
          </p:cNvPr>
          <p:cNvSpPr>
            <a:spLocks noGrp="1"/>
          </p:cNvSpPr>
          <p:nvPr>
            <p:ph type="body" sz="quarter" idx="13"/>
          </p:nvPr>
        </p:nvSpPr>
        <p:spPr>
          <a:xfrm>
            <a:off x="456642" y="379990"/>
            <a:ext cx="2194560" cy="267710"/>
          </a:xfrm>
        </p:spPr>
        <p:txBody>
          <a:bodyPr>
            <a:normAutofit fontScale="92500" lnSpcReduction="10000"/>
          </a:bodyPr>
          <a:lstStyle/>
          <a:p>
            <a:r>
              <a:rPr lang="en-US"/>
              <a:t>Appendix</a:t>
            </a:r>
          </a:p>
        </p:txBody>
      </p:sp>
    </p:spTree>
    <p:extLst>
      <p:ext uri="{BB962C8B-B14F-4D97-AF65-F5344CB8AC3E}">
        <p14:creationId xmlns:p14="http://schemas.microsoft.com/office/powerpoint/2010/main" val="2305826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63A510-7244-D79B-0A13-EFAE2E54C4CE}"/>
              </a:ext>
            </a:extLst>
          </p:cNvPr>
          <p:cNvSpPr>
            <a:spLocks noGrp="1"/>
          </p:cNvSpPr>
          <p:nvPr>
            <p:ph type="sldNum" sz="quarter" idx="11"/>
          </p:nvPr>
        </p:nvSpPr>
        <p:spPr/>
        <p:txBody>
          <a:bodyPr/>
          <a:lstStyle/>
          <a:p>
            <a:fld id="{28874E94-A9F8-5A41-9D43-235A602D77DE}" type="slidenum">
              <a:rPr lang="en-US" smtClean="0"/>
              <a:pPr/>
              <a:t>43</a:t>
            </a:fld>
            <a:endParaRPr lang="en-US">
              <a:latin typeface="Aptos" panose="020B0004020202020204" pitchFamily="34" charset="0"/>
            </a:endParaRPr>
          </a:p>
        </p:txBody>
      </p:sp>
      <p:sp>
        <p:nvSpPr>
          <p:cNvPr id="4" name="Title 3">
            <a:extLst>
              <a:ext uri="{FF2B5EF4-FFF2-40B4-BE49-F238E27FC236}">
                <a16:creationId xmlns:a16="http://schemas.microsoft.com/office/drawing/2014/main" id="{B3B09357-F7E0-88E9-AB03-DDBF2DA2B641}"/>
              </a:ext>
            </a:extLst>
          </p:cNvPr>
          <p:cNvSpPr>
            <a:spLocks noGrp="1"/>
          </p:cNvSpPr>
          <p:nvPr>
            <p:ph type="title"/>
          </p:nvPr>
        </p:nvSpPr>
        <p:spPr>
          <a:xfrm>
            <a:off x="412037" y="615135"/>
            <a:ext cx="12090018" cy="681355"/>
          </a:xfrm>
        </p:spPr>
        <p:txBody>
          <a:bodyPr>
            <a:normAutofit fontScale="90000"/>
          </a:bodyPr>
          <a:lstStyle/>
          <a:p>
            <a:r>
              <a:rPr lang="en-US" b="1">
                <a:latin typeface="Aptos" panose="020B0004020202020204" pitchFamily="34" charset="0"/>
              </a:rPr>
              <a:t>Check accessibility at scale w/ axe-core</a:t>
            </a:r>
          </a:p>
        </p:txBody>
      </p:sp>
      <p:sp>
        <p:nvSpPr>
          <p:cNvPr id="10" name="Rounded Rectangle 4">
            <a:extLst>
              <a:ext uri="{FF2B5EF4-FFF2-40B4-BE49-F238E27FC236}">
                <a16:creationId xmlns:a16="http://schemas.microsoft.com/office/drawing/2014/main" id="{615CF8A6-1B71-70B0-95E2-CA1AB4EAAB9E}"/>
              </a:ext>
            </a:extLst>
          </p:cNvPr>
          <p:cNvSpPr/>
          <p:nvPr/>
        </p:nvSpPr>
        <p:spPr>
          <a:xfrm>
            <a:off x="456641" y="1445278"/>
            <a:ext cx="5234153" cy="140925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latin typeface="Aptos"/>
              </a:rPr>
              <a:t>Recommendation: </a:t>
            </a:r>
            <a:r>
              <a:rPr lang="en-US">
                <a:solidFill>
                  <a:schemeClr val="tx1"/>
                </a:solidFill>
                <a:latin typeface="Aptos Light"/>
              </a:rPr>
              <a:t>check accessibility at scale by running axe-core in your automated test suites and site-wide crawling</a:t>
            </a:r>
            <a:endParaRPr lang="en-US">
              <a:solidFill>
                <a:schemeClr val="tx1"/>
              </a:solidFill>
              <a:latin typeface="Aptos Light"/>
              <a:ea typeface="Calibri"/>
              <a:cs typeface="Calibri"/>
            </a:endParaRPr>
          </a:p>
        </p:txBody>
      </p:sp>
      <p:sp>
        <p:nvSpPr>
          <p:cNvPr id="14" name="Right Arrow 7">
            <a:extLst>
              <a:ext uri="{FF2B5EF4-FFF2-40B4-BE49-F238E27FC236}">
                <a16:creationId xmlns:a16="http://schemas.microsoft.com/office/drawing/2014/main" id="{AF37E2B8-773B-9E42-555E-033C54CF4312}"/>
              </a:ext>
              <a:ext uri="{C183D7F6-B498-43B3-948B-1728B52AA6E4}">
                <adec:decorative xmlns:adec="http://schemas.microsoft.com/office/drawing/2017/decorative" val="1"/>
              </a:ext>
            </a:extLst>
          </p:cNvPr>
          <p:cNvSpPr/>
          <p:nvPr/>
        </p:nvSpPr>
        <p:spPr>
          <a:xfrm>
            <a:off x="5757577" y="1816417"/>
            <a:ext cx="717176" cy="666974"/>
          </a:xfrm>
          <a:prstGeom prst="rightArrow">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6">
            <a:extLst>
              <a:ext uri="{FF2B5EF4-FFF2-40B4-BE49-F238E27FC236}">
                <a16:creationId xmlns:a16="http://schemas.microsoft.com/office/drawing/2014/main" id="{2C82BF6B-8647-7428-7103-A79DC7FCEE19}"/>
              </a:ext>
            </a:extLst>
          </p:cNvPr>
          <p:cNvSpPr/>
          <p:nvPr/>
        </p:nvSpPr>
        <p:spPr>
          <a:xfrm>
            <a:off x="6501206" y="1445278"/>
            <a:ext cx="5234153" cy="1409252"/>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latin typeface="Aptos"/>
              </a:rPr>
              <a:t>Goal: </a:t>
            </a:r>
            <a:r>
              <a:rPr lang="en-US">
                <a:solidFill>
                  <a:schemeClr val="tx1"/>
                </a:solidFill>
                <a:latin typeface="Aptos Light"/>
              </a:rPr>
              <a:t>catch accessibility issues before code enters production and monitor sitewide progress</a:t>
            </a:r>
          </a:p>
        </p:txBody>
      </p:sp>
      <p:sp>
        <p:nvSpPr>
          <p:cNvPr id="16" name="Rounded Rectangle 9">
            <a:extLst>
              <a:ext uri="{FF2B5EF4-FFF2-40B4-BE49-F238E27FC236}">
                <a16:creationId xmlns:a16="http://schemas.microsoft.com/office/drawing/2014/main" id="{811558D8-90D1-C758-8B0F-000D0324ADCB}"/>
              </a:ext>
            </a:extLst>
          </p:cNvPr>
          <p:cNvSpPr/>
          <p:nvPr/>
        </p:nvSpPr>
        <p:spPr>
          <a:xfrm>
            <a:off x="456641" y="3151991"/>
            <a:ext cx="11278718" cy="45182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lIns="91440" tIns="45720" rIns="91440" bIns="45720" rtlCol="0" anchor="ctr"/>
          <a:lstStyle/>
          <a:p>
            <a:pPr algn="ctr"/>
            <a:r>
              <a:rPr lang="en-US"/>
              <a:t>How to get started</a:t>
            </a:r>
          </a:p>
        </p:txBody>
      </p:sp>
      <p:sp>
        <p:nvSpPr>
          <p:cNvPr id="6" name="TextBox 5">
            <a:extLst>
              <a:ext uri="{FF2B5EF4-FFF2-40B4-BE49-F238E27FC236}">
                <a16:creationId xmlns:a16="http://schemas.microsoft.com/office/drawing/2014/main" id="{3FC2F1E7-13D7-6022-1703-DA44DF4FE60E}"/>
              </a:ext>
            </a:extLst>
          </p:cNvPr>
          <p:cNvSpPr txBox="1"/>
          <p:nvPr/>
        </p:nvSpPr>
        <p:spPr>
          <a:xfrm>
            <a:off x="459277" y="3995772"/>
            <a:ext cx="7490490" cy="1905715"/>
          </a:xfrm>
          <a:prstGeom prst="rect">
            <a:avLst/>
          </a:prstGeom>
          <a:noFill/>
        </p:spPr>
        <p:txBody>
          <a:bodyPr wrap="square" lIns="91440" tIns="45720" rIns="91440" bIns="45720" anchor="t">
            <a:spAutoFit/>
          </a:bodyPr>
          <a:lstStyle/>
          <a:p>
            <a:pPr>
              <a:spcAft>
                <a:spcPts val="600"/>
              </a:spcAft>
            </a:pPr>
            <a:r>
              <a:rPr lang="en-US" dirty="0">
                <a:latin typeface="Aptos SemiBold"/>
              </a:rPr>
              <a:t>Axe-core</a:t>
            </a:r>
            <a:r>
              <a:rPr lang="en-US" dirty="0">
                <a:latin typeface="Aptos Light"/>
              </a:rPr>
              <a:t> is the industry-standard open-source rule engine that powers many accessibility tools (including Accessibility Insights, our recommended browser extension). It was developed by Deque with a "</a:t>
            </a:r>
            <a:r>
              <a:rPr lang="en-US" dirty="0">
                <a:latin typeface="Aptos Light"/>
                <a:hlinkClick r:id="rId2"/>
              </a:rPr>
              <a:t>no false positives</a:t>
            </a:r>
            <a:r>
              <a:rPr lang="en-US" dirty="0">
                <a:latin typeface="Aptos Light"/>
              </a:rPr>
              <a:t>" philosophy. </a:t>
            </a:r>
          </a:p>
          <a:p>
            <a:pPr>
              <a:lnSpc>
                <a:spcPct val="90000"/>
              </a:lnSpc>
              <a:spcBef>
                <a:spcPts val="1000"/>
              </a:spcBef>
            </a:pPr>
            <a:r>
              <a:rPr lang="en-US" dirty="0">
                <a:latin typeface="Aptos Light"/>
              </a:rPr>
              <a:t>OTI has experimented with a </a:t>
            </a:r>
            <a:r>
              <a:rPr lang="en-US" dirty="0">
                <a:latin typeface="Aptos SemiBold"/>
                <a:hlinkClick r:id="rId3"/>
              </a:rPr>
              <a:t>site scanner prototype</a:t>
            </a:r>
            <a:r>
              <a:rPr lang="en-US" dirty="0">
                <a:latin typeface="Aptos Light"/>
              </a:rPr>
              <a:t> that can scan entire sites and aggregate results across multiple URLs. Reach out to learn more. </a:t>
            </a:r>
          </a:p>
        </p:txBody>
      </p:sp>
      <p:sp>
        <p:nvSpPr>
          <p:cNvPr id="18" name="Rounded Rectangle 6">
            <a:extLst>
              <a:ext uri="{FF2B5EF4-FFF2-40B4-BE49-F238E27FC236}">
                <a16:creationId xmlns:a16="http://schemas.microsoft.com/office/drawing/2014/main" id="{D7BCFCF6-86BD-1F32-AEB8-83CE9CD44B2D}"/>
              </a:ext>
            </a:extLst>
          </p:cNvPr>
          <p:cNvSpPr/>
          <p:nvPr/>
        </p:nvSpPr>
        <p:spPr>
          <a:xfrm>
            <a:off x="8188491" y="3812920"/>
            <a:ext cx="3405352" cy="248149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tx1"/>
                </a:solidFill>
                <a:latin typeface="Aptos"/>
              </a:rPr>
              <a:t>Using axe-core</a:t>
            </a:r>
          </a:p>
          <a:p>
            <a:pPr marL="285750" indent="-285750">
              <a:lnSpc>
                <a:spcPct val="90000"/>
              </a:lnSpc>
              <a:spcBef>
                <a:spcPts val="1000"/>
              </a:spcBef>
              <a:buFont typeface="Wingdings"/>
              <a:buChar char="v"/>
            </a:pPr>
            <a:r>
              <a:rPr lang="en-US">
                <a:solidFill>
                  <a:schemeClr val="tx1"/>
                </a:solidFill>
                <a:ea typeface="+mn-lt"/>
                <a:cs typeface="+mn-lt"/>
              </a:rPr>
              <a:t>GitHub: </a:t>
            </a:r>
            <a:r>
              <a:rPr lang="en-US">
                <a:solidFill>
                  <a:schemeClr val="tx1"/>
                </a:solidFill>
                <a:ea typeface="+mn-lt"/>
                <a:cs typeface="+mn-lt"/>
                <a:hlinkClick r:id="rId4">
                  <a:extLst>
                    <a:ext uri="{A12FA001-AC4F-418D-AE19-62706E023703}">
                      <ahyp:hlinkClr xmlns:ahyp="http://schemas.microsoft.com/office/drawing/2018/hyperlinkcolor" val="tx"/>
                    </a:ext>
                  </a:extLst>
                </a:hlinkClick>
              </a:rPr>
              <a:t>axe-core</a:t>
            </a:r>
            <a:endParaRPr lang="en-US">
              <a:solidFill>
                <a:schemeClr val="tx1"/>
              </a:solidFill>
              <a:ea typeface="+mn-lt"/>
              <a:cs typeface="+mn-lt"/>
            </a:endParaRPr>
          </a:p>
          <a:p>
            <a:pPr marL="285750" indent="-285750">
              <a:lnSpc>
                <a:spcPct val="90000"/>
              </a:lnSpc>
              <a:spcBef>
                <a:spcPts val="1000"/>
              </a:spcBef>
              <a:buFont typeface="Wingdings"/>
              <a:buChar char="v"/>
            </a:pPr>
            <a:r>
              <a:rPr lang="en-US">
                <a:solidFill>
                  <a:schemeClr val="tx1"/>
                </a:solidFill>
                <a:ea typeface="+mn-lt"/>
                <a:cs typeface="+mn-lt"/>
              </a:rPr>
              <a:t>OTI can provide examples of integrating axe-core with test suites </a:t>
            </a:r>
          </a:p>
          <a:p>
            <a:pPr marL="285750" indent="-285750">
              <a:lnSpc>
                <a:spcPct val="90000"/>
              </a:lnSpc>
              <a:spcBef>
                <a:spcPts val="1000"/>
              </a:spcBef>
              <a:buFont typeface="Wingdings"/>
              <a:buChar char="v"/>
            </a:pPr>
            <a:r>
              <a:rPr lang="en-US">
                <a:solidFill>
                  <a:schemeClr val="tx1"/>
                </a:solidFill>
                <a:ea typeface="Calibri"/>
                <a:cs typeface="Calibri"/>
              </a:rPr>
              <a:t>Covers ~30% of issues in WCAG 2.2 AA</a:t>
            </a:r>
          </a:p>
        </p:txBody>
      </p:sp>
      <p:sp>
        <p:nvSpPr>
          <p:cNvPr id="5" name="Text Placeholder 2">
            <a:extLst>
              <a:ext uri="{FF2B5EF4-FFF2-40B4-BE49-F238E27FC236}">
                <a16:creationId xmlns:a16="http://schemas.microsoft.com/office/drawing/2014/main" id="{D5A25154-0B70-1C87-A39C-C49552AD9338}"/>
              </a:ext>
            </a:extLst>
          </p:cNvPr>
          <p:cNvSpPr>
            <a:spLocks noGrp="1"/>
          </p:cNvSpPr>
          <p:nvPr>
            <p:ph type="body" sz="quarter" idx="13"/>
          </p:nvPr>
        </p:nvSpPr>
        <p:spPr>
          <a:xfrm>
            <a:off x="456642" y="379990"/>
            <a:ext cx="2194560" cy="267710"/>
          </a:xfrm>
        </p:spPr>
        <p:txBody>
          <a:bodyPr>
            <a:normAutofit fontScale="92500" lnSpcReduction="10000"/>
          </a:bodyPr>
          <a:lstStyle/>
          <a:p>
            <a:r>
              <a:rPr lang="en-US"/>
              <a:t>Appendix</a:t>
            </a:r>
          </a:p>
        </p:txBody>
      </p:sp>
    </p:spTree>
    <p:extLst>
      <p:ext uri="{BB962C8B-B14F-4D97-AF65-F5344CB8AC3E}">
        <p14:creationId xmlns:p14="http://schemas.microsoft.com/office/powerpoint/2010/main" val="9972364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BA20DB-BFB8-F307-B20C-391C3AC42646}"/>
              </a:ext>
            </a:extLst>
          </p:cNvPr>
          <p:cNvSpPr>
            <a:spLocks noGrp="1"/>
          </p:cNvSpPr>
          <p:nvPr>
            <p:ph type="sldNum" sz="quarter" idx="11"/>
          </p:nvPr>
        </p:nvSpPr>
        <p:spPr/>
        <p:txBody>
          <a:bodyPr/>
          <a:lstStyle/>
          <a:p>
            <a:fld id="{28874E94-A9F8-5A41-9D43-235A602D77DE}" type="slidenum">
              <a:rPr lang="en-US" smtClean="0"/>
              <a:pPr/>
              <a:t>44</a:t>
            </a:fld>
            <a:endParaRPr lang="en-US">
              <a:latin typeface="Aptos" panose="020B0004020202020204" pitchFamily="34" charset="0"/>
            </a:endParaRPr>
          </a:p>
        </p:txBody>
      </p:sp>
      <p:sp>
        <p:nvSpPr>
          <p:cNvPr id="4" name="Title 3">
            <a:extLst>
              <a:ext uri="{FF2B5EF4-FFF2-40B4-BE49-F238E27FC236}">
                <a16:creationId xmlns:a16="http://schemas.microsoft.com/office/drawing/2014/main" id="{56FB8D86-D383-D54E-4409-A9A92BB7DA6E}"/>
              </a:ext>
            </a:extLst>
          </p:cNvPr>
          <p:cNvSpPr>
            <a:spLocks noGrp="1"/>
          </p:cNvSpPr>
          <p:nvPr>
            <p:ph type="title"/>
          </p:nvPr>
        </p:nvSpPr>
        <p:spPr/>
        <p:txBody>
          <a:bodyPr>
            <a:normAutofit fontScale="90000"/>
          </a:bodyPr>
          <a:lstStyle/>
          <a:p>
            <a:r>
              <a:rPr lang="en-US">
                <a:latin typeface="Aptos ExtraBold"/>
              </a:rPr>
              <a:t>Color contrast</a:t>
            </a:r>
          </a:p>
        </p:txBody>
      </p:sp>
      <p:sp>
        <p:nvSpPr>
          <p:cNvPr id="5" name="Text Placeholder 4">
            <a:extLst>
              <a:ext uri="{FF2B5EF4-FFF2-40B4-BE49-F238E27FC236}">
                <a16:creationId xmlns:a16="http://schemas.microsoft.com/office/drawing/2014/main" id="{851E2F97-FA1D-BD35-F403-59205D77A07B}"/>
              </a:ext>
            </a:extLst>
          </p:cNvPr>
          <p:cNvSpPr>
            <a:spLocks noGrp="1"/>
          </p:cNvSpPr>
          <p:nvPr>
            <p:ph type="body" sz="quarter" idx="12"/>
          </p:nvPr>
        </p:nvSpPr>
        <p:spPr/>
        <p:txBody>
          <a:bodyPr vert="horz" lIns="91440" tIns="45720" rIns="91440" bIns="45720" rtlCol="0" anchor="t">
            <a:noAutofit/>
          </a:bodyPr>
          <a:lstStyle/>
          <a:p>
            <a:r>
              <a:rPr lang="en-US" sz="1800" err="1">
                <a:latin typeface="Aptos Light"/>
              </a:rPr>
              <a:t>FastPass</a:t>
            </a:r>
            <a:r>
              <a:rPr lang="en-US" sz="1800">
                <a:latin typeface="Aptos Light"/>
              </a:rPr>
              <a:t> Step 1 in the Accessibility Insights for Web browser extension already covers color contrast at the AA level necessary for DOJ compliance. Designers are encouraged to verify color contrast at the higher AAA standard before engineering begins..</a:t>
            </a:r>
          </a:p>
        </p:txBody>
      </p:sp>
      <p:sp>
        <p:nvSpPr>
          <p:cNvPr id="7" name="Text Placeholder 4">
            <a:extLst>
              <a:ext uri="{FF2B5EF4-FFF2-40B4-BE49-F238E27FC236}">
                <a16:creationId xmlns:a16="http://schemas.microsoft.com/office/drawing/2014/main" id="{C2D012F0-D7EE-915A-CFC8-36B19AF51410}"/>
              </a:ext>
            </a:extLst>
          </p:cNvPr>
          <p:cNvSpPr txBox="1">
            <a:spLocks/>
          </p:cNvSpPr>
          <p:nvPr/>
        </p:nvSpPr>
        <p:spPr>
          <a:xfrm>
            <a:off x="437851" y="2270977"/>
            <a:ext cx="6317715" cy="972891"/>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0" baseline="0">
                <a:solidFill>
                  <a:schemeClr val="tx1"/>
                </a:solidFill>
                <a:latin typeface="Aptos Light"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a:latin typeface="Aptos"/>
              </a:rPr>
              <a:t>Color contrast</a:t>
            </a:r>
            <a:br>
              <a:rPr lang="en-US" sz="1800" b="1"/>
            </a:br>
            <a:r>
              <a:rPr lang="en-US" sz="1800">
                <a:latin typeface="Aptos Light"/>
              </a:rPr>
              <a:t>OTI recommends using the WCAG AAA standard for text color contrast (7:1 for normal text, 4.5:1 for large text). </a:t>
            </a:r>
          </a:p>
        </p:txBody>
      </p:sp>
      <p:sp>
        <p:nvSpPr>
          <p:cNvPr id="13" name="Rounded Rectangle 12">
            <a:extLst>
              <a:ext uri="{FF2B5EF4-FFF2-40B4-BE49-F238E27FC236}">
                <a16:creationId xmlns:a16="http://schemas.microsoft.com/office/drawing/2014/main" id="{51BB0409-D241-FFF6-5BCB-BD961A14294F}"/>
              </a:ext>
              <a:ext uri="{C183D7F6-B498-43B3-948B-1728B52AA6E4}">
                <adec:decorative xmlns:adec="http://schemas.microsoft.com/office/drawing/2017/decorative" val="1"/>
              </a:ext>
            </a:extLst>
          </p:cNvPr>
          <p:cNvSpPr/>
          <p:nvPr/>
        </p:nvSpPr>
        <p:spPr>
          <a:xfrm>
            <a:off x="443059" y="3410115"/>
            <a:ext cx="5879142" cy="1254387"/>
          </a:xfrm>
          <a:prstGeom prst="roundRect">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nSpc>
                <a:spcPct val="90000"/>
              </a:lnSpc>
              <a:spcBef>
                <a:spcPts val="1000"/>
              </a:spcBef>
            </a:pPr>
            <a:r>
              <a:rPr lang="en-US" b="1">
                <a:solidFill>
                  <a:srgbClr val="000000"/>
                </a:solidFill>
                <a:latin typeface="Aptos"/>
              </a:rPr>
              <a:t>Recommended tool: </a:t>
            </a:r>
            <a:r>
              <a:rPr lang="en-US" b="1">
                <a:solidFill>
                  <a:srgbClr val="000000"/>
                </a:solidFill>
                <a:latin typeface="Aptos"/>
                <a:hlinkClick r:id="rId2"/>
              </a:rPr>
              <a:t>Adobe Color Contrast Analyzer</a:t>
            </a:r>
            <a:r>
              <a:rPr lang="en-US" b="1">
                <a:solidFill>
                  <a:srgbClr val="000000"/>
                </a:solidFill>
                <a:latin typeface="Aptos"/>
              </a:rPr>
              <a:t> </a:t>
            </a:r>
            <a:endParaRPr lang="en-US">
              <a:solidFill>
                <a:srgbClr val="000000"/>
              </a:solidFill>
              <a:latin typeface="Aptos"/>
            </a:endParaRPr>
          </a:p>
          <a:p>
            <a:pPr>
              <a:lnSpc>
                <a:spcPct val="90000"/>
              </a:lnSpc>
              <a:spcBef>
                <a:spcPts val="1000"/>
              </a:spcBef>
            </a:pPr>
            <a:r>
              <a:rPr lang="en-US">
                <a:solidFill>
                  <a:srgbClr val="000000"/>
                </a:solidFill>
                <a:latin typeface="Aptos Light"/>
              </a:rPr>
              <a:t>Adobe’s free online tool checks for WCAG color contrast given two hex values.</a:t>
            </a:r>
          </a:p>
        </p:txBody>
      </p:sp>
      <p:sp>
        <p:nvSpPr>
          <p:cNvPr id="9" name="Rounded Rectangle 8">
            <a:extLst>
              <a:ext uri="{FF2B5EF4-FFF2-40B4-BE49-F238E27FC236}">
                <a16:creationId xmlns:a16="http://schemas.microsoft.com/office/drawing/2014/main" id="{DC72BE1D-6C65-2C10-BE60-44007484C91C}"/>
              </a:ext>
              <a:ext uri="{C183D7F6-B498-43B3-948B-1728B52AA6E4}">
                <adec:decorative xmlns:adec="http://schemas.microsoft.com/office/drawing/2017/decorative" val="1"/>
              </a:ext>
            </a:extLst>
          </p:cNvPr>
          <p:cNvSpPr/>
          <p:nvPr/>
        </p:nvSpPr>
        <p:spPr>
          <a:xfrm>
            <a:off x="443059" y="4836461"/>
            <a:ext cx="5879142" cy="1124685"/>
          </a:xfrm>
          <a:prstGeom prst="roundRect">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nSpc>
                <a:spcPct val="90000"/>
              </a:lnSpc>
              <a:spcBef>
                <a:spcPts val="1000"/>
              </a:spcBef>
            </a:pPr>
            <a:r>
              <a:rPr lang="en-US" b="1">
                <a:solidFill>
                  <a:srgbClr val="000000"/>
                </a:solidFill>
                <a:latin typeface="Aptos"/>
              </a:rPr>
              <a:t>Recommended tool: </a:t>
            </a:r>
            <a:r>
              <a:rPr lang="en-US" b="1">
                <a:solidFill>
                  <a:srgbClr val="000000"/>
                </a:solidFill>
                <a:latin typeface="Aptos"/>
                <a:hlinkClick r:id="rId3"/>
              </a:rPr>
              <a:t>Stark</a:t>
            </a:r>
            <a:endParaRPr lang="en-US">
              <a:solidFill>
                <a:srgbClr val="000000"/>
              </a:solidFill>
              <a:latin typeface="Aptos"/>
            </a:endParaRPr>
          </a:p>
          <a:p>
            <a:pPr>
              <a:lnSpc>
                <a:spcPct val="90000"/>
              </a:lnSpc>
              <a:spcBef>
                <a:spcPts val="1000"/>
              </a:spcBef>
            </a:pPr>
            <a:r>
              <a:rPr lang="en-US">
                <a:solidFill>
                  <a:srgbClr val="000000"/>
                </a:solidFill>
                <a:latin typeface="Aptos Light"/>
              </a:rPr>
              <a:t>For designers using Figma, Stark is a freely available plugin that checks for WCAG color contrast.</a:t>
            </a:r>
          </a:p>
        </p:txBody>
      </p:sp>
      <p:pic>
        <p:nvPicPr>
          <p:cNvPr id="12" name="Picture 11">
            <a:extLst>
              <a:ext uri="{FF2B5EF4-FFF2-40B4-BE49-F238E27FC236}">
                <a16:creationId xmlns:a16="http://schemas.microsoft.com/office/drawing/2014/main" id="{7B11842F-D6B1-AC0A-F247-50F06BEA23F4}"/>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425648" y="2345795"/>
            <a:ext cx="3910455" cy="3491232"/>
          </a:xfrm>
          <a:prstGeom prst="rect">
            <a:avLst/>
          </a:prstGeom>
        </p:spPr>
      </p:pic>
      <p:sp>
        <p:nvSpPr>
          <p:cNvPr id="16" name="Text Placeholder 2">
            <a:extLst>
              <a:ext uri="{FF2B5EF4-FFF2-40B4-BE49-F238E27FC236}">
                <a16:creationId xmlns:a16="http://schemas.microsoft.com/office/drawing/2014/main" id="{E9CF1B2E-96A7-4FE0-1DF3-FF8A1FD4D719}"/>
              </a:ext>
            </a:extLst>
          </p:cNvPr>
          <p:cNvSpPr>
            <a:spLocks noGrp="1"/>
          </p:cNvSpPr>
          <p:nvPr>
            <p:ph type="body" sz="quarter" idx="13"/>
          </p:nvPr>
        </p:nvSpPr>
        <p:spPr>
          <a:xfrm>
            <a:off x="456642" y="379990"/>
            <a:ext cx="2194560" cy="267710"/>
          </a:xfrm>
        </p:spPr>
        <p:txBody>
          <a:bodyPr>
            <a:normAutofit fontScale="92500" lnSpcReduction="10000"/>
          </a:bodyPr>
          <a:lstStyle/>
          <a:p>
            <a:r>
              <a:rPr lang="en-US"/>
              <a:t>Appendix</a:t>
            </a:r>
          </a:p>
        </p:txBody>
      </p:sp>
    </p:spTree>
    <p:extLst>
      <p:ext uri="{BB962C8B-B14F-4D97-AF65-F5344CB8AC3E}">
        <p14:creationId xmlns:p14="http://schemas.microsoft.com/office/powerpoint/2010/main" val="2654590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C86DB-BBBE-D7E0-27CA-9991A4AF42D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9953E8-F78F-9CFF-4D26-DC1FA8B621AB}"/>
              </a:ext>
            </a:extLst>
          </p:cNvPr>
          <p:cNvSpPr>
            <a:spLocks noGrp="1"/>
          </p:cNvSpPr>
          <p:nvPr>
            <p:ph type="sldNum" sz="quarter" idx="11"/>
          </p:nvPr>
        </p:nvSpPr>
        <p:spPr/>
        <p:txBody>
          <a:bodyPr/>
          <a:lstStyle/>
          <a:p>
            <a:fld id="{28874E94-A9F8-5A41-9D43-235A602D77DE}" type="slidenum">
              <a:rPr lang="en-US" smtClean="0"/>
              <a:pPr/>
              <a:t>45</a:t>
            </a:fld>
            <a:endParaRPr lang="en-US">
              <a:latin typeface="Aptos" panose="020B0004020202020204" pitchFamily="34" charset="0"/>
            </a:endParaRPr>
          </a:p>
        </p:txBody>
      </p:sp>
      <p:sp>
        <p:nvSpPr>
          <p:cNvPr id="8" name="Text Placeholder 2">
            <a:extLst>
              <a:ext uri="{FF2B5EF4-FFF2-40B4-BE49-F238E27FC236}">
                <a16:creationId xmlns:a16="http://schemas.microsoft.com/office/drawing/2014/main" id="{D23AAB47-8896-6E17-1EDA-9A971E33ED6C}"/>
              </a:ext>
            </a:extLst>
          </p:cNvPr>
          <p:cNvSpPr>
            <a:spLocks noGrp="1"/>
          </p:cNvSpPr>
          <p:nvPr>
            <p:ph type="body" sz="quarter" idx="13"/>
          </p:nvPr>
        </p:nvSpPr>
        <p:spPr/>
        <p:txBody>
          <a:bodyPr vert="horz" lIns="91440" tIns="45720" rIns="91440" bIns="45720" rtlCol="0" anchor="t">
            <a:normAutofit fontScale="92500" lnSpcReduction="10000"/>
          </a:bodyPr>
          <a:lstStyle/>
          <a:p>
            <a:r>
              <a:rPr lang="en-US">
                <a:latin typeface="Aptos"/>
              </a:rPr>
              <a:t>Appendix</a:t>
            </a:r>
          </a:p>
        </p:txBody>
      </p:sp>
      <p:sp>
        <p:nvSpPr>
          <p:cNvPr id="4" name="Title 3">
            <a:extLst>
              <a:ext uri="{FF2B5EF4-FFF2-40B4-BE49-F238E27FC236}">
                <a16:creationId xmlns:a16="http://schemas.microsoft.com/office/drawing/2014/main" id="{584DAF1C-6A53-DD92-9D69-4459054BB258}"/>
              </a:ext>
            </a:extLst>
          </p:cNvPr>
          <p:cNvSpPr>
            <a:spLocks noGrp="1"/>
          </p:cNvSpPr>
          <p:nvPr>
            <p:ph type="title"/>
          </p:nvPr>
        </p:nvSpPr>
        <p:spPr/>
        <p:txBody>
          <a:bodyPr>
            <a:normAutofit fontScale="90000"/>
          </a:bodyPr>
          <a:lstStyle/>
          <a:p>
            <a:r>
              <a:rPr lang="en-US">
                <a:latin typeface="Aptos ExtraBold"/>
              </a:rPr>
              <a:t>Writing in plain language</a:t>
            </a:r>
          </a:p>
        </p:txBody>
      </p:sp>
      <p:sp>
        <p:nvSpPr>
          <p:cNvPr id="5" name="Text Placeholder 4">
            <a:extLst>
              <a:ext uri="{FF2B5EF4-FFF2-40B4-BE49-F238E27FC236}">
                <a16:creationId xmlns:a16="http://schemas.microsoft.com/office/drawing/2014/main" id="{E0D33F02-0141-585A-A5A0-791F1D79F866}"/>
              </a:ext>
            </a:extLst>
          </p:cNvPr>
          <p:cNvSpPr>
            <a:spLocks noGrp="1"/>
          </p:cNvSpPr>
          <p:nvPr>
            <p:ph type="body" sz="quarter" idx="12"/>
          </p:nvPr>
        </p:nvSpPr>
        <p:spPr>
          <a:xfrm>
            <a:off x="451165" y="1298452"/>
            <a:ext cx="6975470" cy="706875"/>
          </a:xfrm>
        </p:spPr>
        <p:txBody>
          <a:bodyPr vert="horz" lIns="91440" tIns="45720" rIns="91440" bIns="45720" rtlCol="0" anchor="t">
            <a:noAutofit/>
          </a:bodyPr>
          <a:lstStyle/>
          <a:p>
            <a:r>
              <a:rPr lang="en-US" sz="1800">
                <a:latin typeface="Aptos Light"/>
              </a:rPr>
              <a:t>Impactful for New Yorkers of all reading levels, but not required by WCAG 2.2 AA</a:t>
            </a:r>
          </a:p>
        </p:txBody>
      </p:sp>
      <p:sp>
        <p:nvSpPr>
          <p:cNvPr id="7" name="Text Placeholder 4">
            <a:extLst>
              <a:ext uri="{FF2B5EF4-FFF2-40B4-BE49-F238E27FC236}">
                <a16:creationId xmlns:a16="http://schemas.microsoft.com/office/drawing/2014/main" id="{FF55326F-05E8-2EBF-981A-2CEACD56D962}"/>
              </a:ext>
            </a:extLst>
          </p:cNvPr>
          <p:cNvSpPr txBox="1">
            <a:spLocks/>
          </p:cNvSpPr>
          <p:nvPr/>
        </p:nvSpPr>
        <p:spPr>
          <a:xfrm>
            <a:off x="456642" y="2065298"/>
            <a:ext cx="6325821" cy="2294233"/>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0" baseline="0">
                <a:solidFill>
                  <a:schemeClr val="tx1"/>
                </a:solidFill>
                <a:latin typeface="Aptos Light"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US" sz="1800" b="1">
                <a:latin typeface="Aptos"/>
              </a:rPr>
              <a:t>Write for a 7</a:t>
            </a:r>
            <a:r>
              <a:rPr lang="en-US" sz="1800" b="1" baseline="30000">
                <a:latin typeface="Aptos"/>
              </a:rPr>
              <a:t>th</a:t>
            </a:r>
            <a:r>
              <a:rPr lang="en-US" sz="1800" b="1">
                <a:latin typeface="Aptos"/>
              </a:rPr>
              <a:t> grade reading level</a:t>
            </a:r>
            <a:br>
              <a:rPr lang="en-US" sz="1800"/>
            </a:br>
            <a:r>
              <a:rPr lang="en-US" sz="1800">
                <a:latin typeface="Aptos Light"/>
              </a:rPr>
              <a:t>We recommend writing at a 7</a:t>
            </a:r>
            <a:r>
              <a:rPr lang="en-US" sz="1800" baseline="30000">
                <a:latin typeface="Aptos Light"/>
              </a:rPr>
              <a:t>th</a:t>
            </a:r>
            <a:r>
              <a:rPr lang="en-US" sz="1800">
                <a:latin typeface="Aptos Light"/>
              </a:rPr>
              <a:t> grade reading level so that text is accessible to all New Yorkers. The goal is to write simply without losing meaning.</a:t>
            </a:r>
          </a:p>
          <a:p>
            <a:pPr marL="342900" indent="-342900">
              <a:buFont typeface="+mj-lt"/>
              <a:buAutoNum type="arabicPeriod"/>
            </a:pPr>
            <a:r>
              <a:rPr lang="en-US" sz="1800" b="1">
                <a:latin typeface="Aptos"/>
              </a:rPr>
              <a:t>NYC web content style guide</a:t>
            </a:r>
            <a:br>
              <a:rPr lang="en-US" sz="1800"/>
            </a:br>
            <a:r>
              <a:rPr lang="en-US" sz="1800">
                <a:latin typeface="Aptos Light"/>
              </a:rPr>
              <a:t>Refer to the NYC web content style guide’s </a:t>
            </a:r>
            <a:r>
              <a:rPr lang="en-US" sz="1800">
                <a:latin typeface="Aptos Light"/>
                <a:hlinkClick r:id="rId2"/>
              </a:rPr>
              <a:t>1-pager Top Tips</a:t>
            </a:r>
            <a:r>
              <a:rPr lang="en-US" sz="1800">
                <a:latin typeface="Aptos Light"/>
              </a:rPr>
              <a:t> for more guidance on creating clear content for city websites. </a:t>
            </a:r>
            <a:endParaRPr lang="en-US" sz="1800" b="1">
              <a:latin typeface="Aptos Light"/>
            </a:endParaRPr>
          </a:p>
        </p:txBody>
      </p:sp>
      <p:sp>
        <p:nvSpPr>
          <p:cNvPr id="9" name="Rounded Rectangle 8">
            <a:extLst>
              <a:ext uri="{FF2B5EF4-FFF2-40B4-BE49-F238E27FC236}">
                <a16:creationId xmlns:a16="http://schemas.microsoft.com/office/drawing/2014/main" id="{92F3DBF4-03A5-2356-8930-74D4C8B2C3DB}"/>
              </a:ext>
              <a:ext uri="{C183D7F6-B498-43B3-948B-1728B52AA6E4}">
                <adec:decorative xmlns:adec="http://schemas.microsoft.com/office/drawing/2017/decorative" val="1"/>
              </a:ext>
            </a:extLst>
          </p:cNvPr>
          <p:cNvSpPr/>
          <p:nvPr/>
        </p:nvSpPr>
        <p:spPr>
          <a:xfrm>
            <a:off x="615838" y="4548354"/>
            <a:ext cx="6016575" cy="1497578"/>
          </a:xfrm>
          <a:prstGeom prst="roundRect">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nSpc>
                <a:spcPct val="90000"/>
              </a:lnSpc>
              <a:spcBef>
                <a:spcPts val="1000"/>
              </a:spcBef>
            </a:pPr>
            <a:r>
              <a:rPr lang="en-US" b="1">
                <a:solidFill>
                  <a:srgbClr val="000000"/>
                </a:solidFill>
                <a:latin typeface="Segoe UI"/>
                <a:cs typeface="Segoe UI"/>
              </a:rPr>
              <a:t>Recommended tool: Microsoft Word</a:t>
            </a:r>
          </a:p>
          <a:p>
            <a:pPr>
              <a:lnSpc>
                <a:spcPct val="90000"/>
              </a:lnSpc>
              <a:spcBef>
                <a:spcPts val="1000"/>
              </a:spcBef>
            </a:pPr>
            <a:r>
              <a:rPr lang="en-US">
                <a:solidFill>
                  <a:srgbClr val="000000"/>
                </a:solidFill>
                <a:latin typeface="Aptos Light"/>
              </a:rPr>
              <a:t>Instructions for using Word to check for reading level </a:t>
            </a:r>
            <a:r>
              <a:rPr lang="en-US">
                <a:solidFill>
                  <a:srgbClr val="000000"/>
                </a:solidFill>
                <a:latin typeface="Aptos Light"/>
                <a:hlinkClick r:id="rId3"/>
              </a:rPr>
              <a:t>documented here</a:t>
            </a:r>
            <a:r>
              <a:rPr lang="en-US">
                <a:solidFill>
                  <a:srgbClr val="000000"/>
                </a:solidFill>
                <a:latin typeface="Aptos Light"/>
              </a:rPr>
              <a:t>. (Uses recommended Flesch-Kincaid scoring).</a:t>
            </a:r>
          </a:p>
        </p:txBody>
      </p:sp>
      <p:pic>
        <p:nvPicPr>
          <p:cNvPr id="12" name="Picture 11">
            <a:hlinkClick r:id="rId2"/>
            <a:extLst>
              <a:ext uri="{FF2B5EF4-FFF2-40B4-BE49-F238E27FC236}">
                <a16:creationId xmlns:a16="http://schemas.microsoft.com/office/drawing/2014/main" id="{8BA77CCA-972F-7DB9-F476-3A2229601B2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075179" y="1055804"/>
            <a:ext cx="3659951" cy="4746392"/>
          </a:xfrm>
          <a:prstGeom prst="rect">
            <a:avLst/>
          </a:prstGeom>
        </p:spPr>
      </p:pic>
      <p:sp>
        <p:nvSpPr>
          <p:cNvPr id="13" name="Text Placeholder 5">
            <a:extLst>
              <a:ext uri="{FF2B5EF4-FFF2-40B4-BE49-F238E27FC236}">
                <a16:creationId xmlns:a16="http://schemas.microsoft.com/office/drawing/2014/main" id="{97CEDF22-A15B-AC33-6693-B5FBD5C66B2A}"/>
              </a:ext>
            </a:extLst>
          </p:cNvPr>
          <p:cNvSpPr>
            <a:spLocks noGrp="1"/>
          </p:cNvSpPr>
          <p:nvPr>
            <p:ph type="body" sz="quarter" idx="14"/>
          </p:nvPr>
        </p:nvSpPr>
        <p:spPr>
          <a:xfrm>
            <a:off x="8075179" y="5860901"/>
            <a:ext cx="3872120" cy="381964"/>
          </a:xfrm>
        </p:spPr>
        <p:txBody>
          <a:bodyPr>
            <a:normAutofit/>
          </a:bodyPr>
          <a:lstStyle/>
          <a:p>
            <a:r>
              <a:rPr lang="en-US"/>
              <a:t>Top Tips 1-pager: </a:t>
            </a:r>
            <a:r>
              <a:rPr lang="en-US">
                <a:hlinkClick r:id="rId2"/>
              </a:rPr>
              <a:t>https://designsystem.nyc.gov/standards/nyc-web-content-style-guide/top-tips.html</a:t>
            </a:r>
            <a:endParaRPr lang="en-US"/>
          </a:p>
        </p:txBody>
      </p:sp>
    </p:spTree>
    <p:extLst>
      <p:ext uri="{BB962C8B-B14F-4D97-AF65-F5344CB8AC3E}">
        <p14:creationId xmlns:p14="http://schemas.microsoft.com/office/powerpoint/2010/main" val="27682729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B0B1FB-9B3F-13FD-E7A1-D78F076E23C4}"/>
              </a:ext>
            </a:extLst>
          </p:cNvPr>
          <p:cNvSpPr>
            <a:spLocks noGrp="1"/>
          </p:cNvSpPr>
          <p:nvPr>
            <p:ph type="sldNum" sz="quarter" idx="11"/>
          </p:nvPr>
        </p:nvSpPr>
        <p:spPr/>
        <p:txBody>
          <a:bodyPr/>
          <a:lstStyle/>
          <a:p>
            <a:fld id="{28874E94-A9F8-5A41-9D43-235A602D77DE}" type="slidenum">
              <a:rPr lang="en-US" smtClean="0"/>
              <a:pPr/>
              <a:t>46</a:t>
            </a:fld>
            <a:endParaRPr lang="en-US">
              <a:latin typeface="Aptos" panose="020B0004020202020204" pitchFamily="34" charset="0"/>
            </a:endParaRPr>
          </a:p>
        </p:txBody>
      </p:sp>
      <p:sp>
        <p:nvSpPr>
          <p:cNvPr id="3" name="Text Placeholder 2">
            <a:extLst>
              <a:ext uri="{FF2B5EF4-FFF2-40B4-BE49-F238E27FC236}">
                <a16:creationId xmlns:a16="http://schemas.microsoft.com/office/drawing/2014/main" id="{5E7867FD-A670-6447-7C65-B7BBCB7913A3}"/>
              </a:ext>
            </a:extLst>
          </p:cNvPr>
          <p:cNvSpPr>
            <a:spLocks noGrp="1"/>
          </p:cNvSpPr>
          <p:nvPr>
            <p:ph type="body" sz="quarter" idx="13"/>
          </p:nvPr>
        </p:nvSpPr>
        <p:spPr/>
        <p:txBody>
          <a:bodyPr>
            <a:normAutofit fontScale="92500" lnSpcReduction="10000"/>
          </a:bodyPr>
          <a:lstStyle/>
          <a:p>
            <a:r>
              <a:rPr lang="en-US"/>
              <a:t>Appendix</a:t>
            </a:r>
          </a:p>
        </p:txBody>
      </p:sp>
      <p:sp>
        <p:nvSpPr>
          <p:cNvPr id="4" name="Title 3">
            <a:extLst>
              <a:ext uri="{FF2B5EF4-FFF2-40B4-BE49-F238E27FC236}">
                <a16:creationId xmlns:a16="http://schemas.microsoft.com/office/drawing/2014/main" id="{6CD0A088-0442-B542-6069-BA3C7F395F53}"/>
              </a:ext>
            </a:extLst>
          </p:cNvPr>
          <p:cNvSpPr>
            <a:spLocks noGrp="1"/>
          </p:cNvSpPr>
          <p:nvPr>
            <p:ph type="title"/>
          </p:nvPr>
        </p:nvSpPr>
        <p:spPr/>
        <p:txBody>
          <a:bodyPr>
            <a:normAutofit fontScale="90000"/>
          </a:bodyPr>
          <a:lstStyle/>
          <a:p>
            <a:r>
              <a:rPr lang="en-US">
                <a:latin typeface="Aptos ExtraBold"/>
              </a:rPr>
              <a:t>FAQs</a:t>
            </a:r>
          </a:p>
        </p:txBody>
      </p:sp>
      <p:sp>
        <p:nvSpPr>
          <p:cNvPr id="5" name="Text Placeholder 4">
            <a:extLst>
              <a:ext uri="{FF2B5EF4-FFF2-40B4-BE49-F238E27FC236}">
                <a16:creationId xmlns:a16="http://schemas.microsoft.com/office/drawing/2014/main" id="{F3E502A4-5735-4206-3C67-97F40E3A43B5}"/>
              </a:ext>
            </a:extLst>
          </p:cNvPr>
          <p:cNvSpPr>
            <a:spLocks noGrp="1"/>
          </p:cNvSpPr>
          <p:nvPr>
            <p:ph type="body" sz="quarter" idx="12"/>
          </p:nvPr>
        </p:nvSpPr>
        <p:spPr>
          <a:xfrm>
            <a:off x="456607" y="1311768"/>
            <a:ext cx="11533920" cy="4638234"/>
          </a:xfrm>
        </p:spPr>
        <p:txBody>
          <a:bodyPr vert="horz" lIns="91440" tIns="45720" rIns="91440" bIns="45720" rtlCol="0" anchor="t">
            <a:noAutofit/>
          </a:bodyPr>
          <a:lstStyle/>
          <a:p>
            <a:pPr marL="342900" indent="-342900">
              <a:buChar char="•"/>
            </a:pPr>
            <a:r>
              <a:rPr lang="en-US" sz="1800" b="1">
                <a:latin typeface="Aptos"/>
              </a:rPr>
              <a:t>The citywide standard is WCAG 2.2 AA, but the DOJ ruling references WCAG 2.1 AA. Why the discrepancy?</a:t>
            </a:r>
          </a:p>
          <a:p>
            <a:pPr marL="1028700" lvl="1"/>
            <a:r>
              <a:rPr lang="en-US" sz="1800">
                <a:latin typeface="Aptos Light"/>
              </a:rPr>
              <a:t>The ultimate goal with all of our accessibility work is that city websites and services are usable for all New Yorkers. Since technology is fast evolving, WCAG periodically updates its guidance and the city updates its standard accordingly. If your website already meets WCAG 2.1 AA, that is great news. This means the site satisfies the DOJ ruling (pending further updates) and is very close to the citywide standard. </a:t>
            </a:r>
          </a:p>
          <a:p>
            <a:pPr marL="342900" indent="-342900">
              <a:buChar char="•"/>
            </a:pPr>
            <a:r>
              <a:rPr lang="en-US" sz="1800" b="1">
                <a:latin typeface="Aptos"/>
              </a:rPr>
              <a:t>When I check Google (or another high traffic public site) using the </a:t>
            </a:r>
            <a:r>
              <a:rPr lang="en-US" sz="1800" b="1" err="1">
                <a:latin typeface="Aptos"/>
              </a:rPr>
              <a:t>FastPass</a:t>
            </a:r>
            <a:r>
              <a:rPr lang="en-US" sz="1800" b="1">
                <a:latin typeface="Aptos"/>
              </a:rPr>
              <a:t> browser extension test I see a lot of errors. Why?</a:t>
            </a:r>
          </a:p>
          <a:p>
            <a:pPr marL="1028700" lvl="1" indent="-342900"/>
            <a:r>
              <a:rPr lang="en-US" sz="1800">
                <a:latin typeface="Aptos Light"/>
              </a:rPr>
              <a:t>In many cases these organizations are doing some advanced engineering (e.g. invisible tabs stops that auto forward a screen reader to the next location) that are aren’t relevant for the vast majority of our sites. We should aim for zero errors unless we have a very good reason not to. </a:t>
            </a:r>
          </a:p>
          <a:p>
            <a:pPr marL="342900" indent="-342900">
              <a:buFont typeface="Arial" panose="020B0604020202020204" pitchFamily="34" charset="0"/>
              <a:buChar char="•"/>
            </a:pPr>
            <a:r>
              <a:rPr lang="en-US" sz="1800" b="1">
                <a:latin typeface="Aptos"/>
              </a:rPr>
              <a:t>The </a:t>
            </a:r>
            <a:r>
              <a:rPr lang="en-US" sz="1800" b="1" err="1">
                <a:latin typeface="Aptos"/>
              </a:rPr>
              <a:t>FastPass</a:t>
            </a:r>
            <a:r>
              <a:rPr lang="en-US" sz="1800" b="1">
                <a:latin typeface="Aptos"/>
              </a:rPr>
              <a:t> browser extension is triggering an error for my embedded YouTube video. What do I do?</a:t>
            </a:r>
          </a:p>
          <a:p>
            <a:pPr marL="1028700" lvl="1" indent="-342900"/>
            <a:r>
              <a:rPr lang="en-US" sz="1800">
                <a:latin typeface="Aptos Light"/>
              </a:rPr>
              <a:t>This is a known issue and limitation of YouTube, and there’s nothing we can change as a city if we must embed a video from that platform.</a:t>
            </a:r>
          </a:p>
          <a:p>
            <a:pPr marL="342900" indent="-342900">
              <a:buFont typeface="Arial" panose="020B0604020202020204" pitchFamily="34" charset="0"/>
              <a:buChar char="•"/>
            </a:pPr>
            <a:r>
              <a:rPr lang="en-US" sz="1800" b="1">
                <a:latin typeface="Aptos"/>
              </a:rPr>
              <a:t>How to check for color contrast if not using Figma?</a:t>
            </a:r>
          </a:p>
          <a:p>
            <a:pPr marL="1143000" lvl="1" indent="-457200"/>
            <a:r>
              <a:rPr lang="en-US" sz="1800">
                <a:latin typeface="Aptos Light"/>
              </a:rPr>
              <a:t>The </a:t>
            </a:r>
            <a:r>
              <a:rPr lang="en-US" sz="1800" err="1">
                <a:latin typeface="Aptos Light"/>
              </a:rPr>
              <a:t>FastPass</a:t>
            </a:r>
            <a:r>
              <a:rPr lang="en-US" sz="1800">
                <a:latin typeface="Aptos Light"/>
              </a:rPr>
              <a:t> test on Accessibility Insights also checks for color contrast</a:t>
            </a:r>
          </a:p>
        </p:txBody>
      </p:sp>
      <p:sp>
        <p:nvSpPr>
          <p:cNvPr id="6" name="Text Placeholder 5">
            <a:extLst>
              <a:ext uri="{FF2B5EF4-FFF2-40B4-BE49-F238E27FC236}">
                <a16:creationId xmlns:a16="http://schemas.microsoft.com/office/drawing/2014/main" id="{0DB12209-6E36-62CA-E073-2101DEABCA3D}"/>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15678041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10870e0-c110-4130-85ec-f16277161081" xsi:nil="true"/>
    <lcf76f155ced4ddcb4097134ff3c332f xmlns="65bd4d04-9dfc-499a-b072-657fe1359a4a">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7C1274EEEC7194FA307420F54B7B4B5" ma:contentTypeVersion="16" ma:contentTypeDescription="Create a new document." ma:contentTypeScope="" ma:versionID="d2cde8f51b477e08df7ad6491f7d4845">
  <xsd:schema xmlns:xsd="http://www.w3.org/2001/XMLSchema" xmlns:xs="http://www.w3.org/2001/XMLSchema" xmlns:p="http://schemas.microsoft.com/office/2006/metadata/properties" xmlns:ns2="65bd4d04-9dfc-499a-b072-657fe1359a4a" xmlns:ns3="410870e0-c110-4130-85ec-f16277161081" targetNamespace="http://schemas.microsoft.com/office/2006/metadata/properties" ma:root="true" ma:fieldsID="45412612fac5b58f37d37548f3ad52ee" ns2:_="" ns3:_="">
    <xsd:import namespace="65bd4d04-9dfc-499a-b072-657fe1359a4a"/>
    <xsd:import namespace="410870e0-c110-4130-85ec-f16277161081"/>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LengthInSecond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bd4d04-9dfc-499a-b072-657fe1359a4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f710a08c-ad05-47cc-9fd1-24772369582b"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10870e0-c110-4130-85ec-f16277161081"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7ce682eb-7e0c-4cd1-9131-bf916e5dde1b}" ma:internalName="TaxCatchAll" ma:showField="CatchAllData" ma:web="410870e0-c110-4130-85ec-f16277161081">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9095600-7A23-4849-AAD1-62B485C936E2}">
  <ds:schemaRefs>
    <ds:schemaRef ds:uri="http://purl.org/dc/terms/"/>
    <ds:schemaRef ds:uri="410870e0-c110-4130-85ec-f16277161081"/>
    <ds:schemaRef ds:uri="http://purl.org/dc/dcmitype/"/>
    <ds:schemaRef ds:uri="65bd4d04-9dfc-499a-b072-657fe1359a4a"/>
    <ds:schemaRef ds:uri="http://schemas.microsoft.com/office/2006/documentManagement/types"/>
    <ds:schemaRef ds:uri="http://purl.org/dc/elements/1.1/"/>
    <ds:schemaRef ds:uri="http://schemas.microsoft.com/office/2006/metadata/properties"/>
    <ds:schemaRef ds:uri="http://www.w3.org/XML/1998/namespace"/>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471F1A9B-B20C-412A-AC2F-675CDB8EA86E}">
  <ds:schemaRefs>
    <ds:schemaRef ds:uri="http://schemas.microsoft.com/sharepoint/v3/contenttype/forms"/>
  </ds:schemaRefs>
</ds:datastoreItem>
</file>

<file path=customXml/itemProps3.xml><?xml version="1.0" encoding="utf-8"?>
<ds:datastoreItem xmlns:ds="http://schemas.openxmlformats.org/officeDocument/2006/customXml" ds:itemID="{D8AE1254-5C89-4F70-8FB2-7859C67AEE23}">
  <ds:schemaRefs>
    <ds:schemaRef ds:uri="410870e0-c110-4130-85ec-f16277161081"/>
    <ds:schemaRef ds:uri="65bd4d04-9dfc-499a-b072-657fe1359a4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30</TotalTime>
  <Words>3637</Words>
  <Application>Microsoft Macintosh PowerPoint</Application>
  <PresentationFormat>Widescreen</PresentationFormat>
  <Paragraphs>350</Paragraphs>
  <Slides>46</Slides>
  <Notes>3</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46</vt:i4>
      </vt:variant>
    </vt:vector>
  </HeadingPairs>
  <TitlesOfParts>
    <vt:vector size="62" baseType="lpstr">
      <vt:lpstr>Aptos</vt:lpstr>
      <vt:lpstr>Aptos Black</vt:lpstr>
      <vt:lpstr>Aptos ExtraBold</vt:lpstr>
      <vt:lpstr>Aptos Light</vt:lpstr>
      <vt:lpstr>Aptos SemiBold</vt:lpstr>
      <vt:lpstr>Arial</vt:lpstr>
      <vt:lpstr>Calibri</vt:lpstr>
      <vt:lpstr>Calibri Light</vt:lpstr>
      <vt:lpstr>Clash Grotesk</vt:lpstr>
      <vt:lpstr>Clash Grotesk Medium</vt:lpstr>
      <vt:lpstr>Consolas</vt:lpstr>
      <vt:lpstr>Noto Sans Armenian</vt:lpstr>
      <vt:lpstr>Noto Sans Linear A</vt:lpstr>
      <vt:lpstr>Segoe UI</vt:lpstr>
      <vt:lpstr>Wingdings</vt:lpstr>
      <vt:lpstr>Office Theme</vt:lpstr>
      <vt:lpstr>Accessibility Playbook</vt:lpstr>
      <vt:lpstr>Agenda</vt:lpstr>
      <vt:lpstr>Catching up on previous accessibility guidance</vt:lpstr>
      <vt:lpstr>All websites and mobile apps maintained by or on behalf of the City and content posted need to comply with WCAG 2.2 Level AA by April 26, 2027</vt:lpstr>
      <vt:lpstr>Exceptions to federal DOJ rule</vt:lpstr>
      <vt:lpstr>Previous guidance</vt:lpstr>
      <vt:lpstr>Previous action items</vt:lpstr>
      <vt:lpstr>What does good look like?</vt:lpstr>
      <vt:lpstr>Scope of these recommendations: websites, not PDFs</vt:lpstr>
      <vt:lpstr>There’s no one magic tool</vt:lpstr>
      <vt:lpstr>What does good look like?</vt:lpstr>
      <vt:lpstr>Getting to good</vt:lpstr>
      <vt:lpstr>Three recommendations for all teams</vt:lpstr>
      <vt:lpstr>Why start with design feedback?</vt:lpstr>
      <vt:lpstr>1) Share design mockup for review</vt:lpstr>
      <vt:lpstr>Example of a design mockup</vt:lpstr>
      <vt:lpstr>Be accessible by design using the NYC Digital Design System</vt:lpstr>
      <vt:lpstr>Why use FastPass?</vt:lpstr>
      <vt:lpstr>2) Use FastPass early and often</vt:lpstr>
      <vt:lpstr>The FastPass test</vt:lpstr>
      <vt:lpstr>The FastPass test</vt:lpstr>
      <vt:lpstr>The FastPass test</vt:lpstr>
      <vt:lpstr>The FastPass test</vt:lpstr>
      <vt:lpstr>The FastPass test</vt:lpstr>
      <vt:lpstr>The FastPass test</vt:lpstr>
      <vt:lpstr>The FastPass test</vt:lpstr>
      <vt:lpstr>The FastPass test</vt:lpstr>
      <vt:lpstr>The FastPass test</vt:lpstr>
      <vt:lpstr>The FastPass test</vt:lpstr>
      <vt:lpstr>The FastPass test</vt:lpstr>
      <vt:lpstr>The FastPass test</vt:lpstr>
      <vt:lpstr>The FastPass test</vt:lpstr>
      <vt:lpstr>3) Share engineering prototype for review</vt:lpstr>
      <vt:lpstr>Going further</vt:lpstr>
      <vt:lpstr>Further impactful recommendations</vt:lpstr>
      <vt:lpstr>Next steps (Nov 1st target date)</vt:lpstr>
      <vt:lpstr>Q&amp;A</vt:lpstr>
      <vt:lpstr>Appendix</vt:lpstr>
      <vt:lpstr>Comparing Accessibility Tools</vt:lpstr>
      <vt:lpstr>WCAG 2.2 coverage</vt:lpstr>
      <vt:lpstr>How to use  Accessibility Insights for Web</vt:lpstr>
      <vt:lpstr>Screen reader testing</vt:lpstr>
      <vt:lpstr>Check accessibility at scale w/ axe-core</vt:lpstr>
      <vt:lpstr>Color contrast</vt:lpstr>
      <vt:lpstr>Writing in plain language</vt:lpstr>
      <vt:lpstr>FAQs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Phimmasone, Kesone</dc:creator>
  <cp:lastModifiedBy>Townley, Hendrick</cp:lastModifiedBy>
  <cp:revision>38</cp:revision>
  <dcterms:created xsi:type="dcterms:W3CDTF">2023-06-17T17:43:40Z</dcterms:created>
  <dcterms:modified xsi:type="dcterms:W3CDTF">2026-09-23T19:39:43Z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0x01010057C1274EEEC7194FA307420F54B7B4B5</vt:lpwstr>
  </property>
  <property fmtid="{D5CDD505-2E9C-101B-9397-08002B2CF9AE}" pid="3" name="MediaServiceImageTags">
    <vt:lpwstr/>
  </property>
  <property fmtid="{D5CDD505-2E9C-101B-9397-08002B2CF9AE}" pid="4" name="MSIP_Label_1f8bd251-6db5-448a-bc8a-d926a88d2ffd_Enabled">
    <vt:lpwstr>true</vt:lpwstr>
  </property>
  <property fmtid="{D5CDD505-2E9C-101B-9397-08002B2CF9AE}" pid="5" name="MSIP_Label_1f8bd251-6db5-448a-bc8a-d926a88d2ffd_SetDate">
    <vt:lpwstr>2026-09-22T13:17:53Z</vt:lpwstr>
  </property>
  <property fmtid="{D5CDD505-2E9C-101B-9397-08002B2CF9AE}" pid="6" name="MSIP_Label_1f8bd251-6db5-448a-bc8a-d926a88d2ffd_Method">
    <vt:lpwstr>Standard</vt:lpwstr>
  </property>
  <property fmtid="{D5CDD505-2E9C-101B-9397-08002B2CF9AE}" pid="7" name="MSIP_Label_1f8bd251-6db5-448a-bc8a-d926a88d2ffd_Name">
    <vt:lpwstr>Non-Restricted-Main</vt:lpwstr>
  </property>
  <property fmtid="{D5CDD505-2E9C-101B-9397-08002B2CF9AE}" pid="8" name="MSIP_Label_1f8bd251-6db5-448a-bc8a-d926a88d2ffd_SiteId">
    <vt:lpwstr>73d61799-c284-4022-8d41-54cc4f1929ef</vt:lpwstr>
  </property>
  <property fmtid="{D5CDD505-2E9C-101B-9397-08002B2CF9AE}" pid="9" name="MSIP_Label_1f8bd251-6db5-448a-bc8a-d926a88d2ffd_ActionId">
    <vt:lpwstr>258d1923-b520-4559-8af3-8d73c6547b28</vt:lpwstr>
  </property>
  <property fmtid="{D5CDD505-2E9C-101B-9397-08002B2CF9AE}" pid="10" name="MSIP_Label_1f8bd251-6db5-448a-bc8a-d926a88d2ffd_ContentBits">
    <vt:lpwstr>0</vt:lpwstr>
  </property>
  <property fmtid="{D5CDD505-2E9C-101B-9397-08002B2CF9AE}" pid="11" name="MSIP_Label_1f8bd251-6db5-448a-bc8a-d926a88d2ffd_Tag">
    <vt:lpwstr>10, 3, 0, 2</vt:lpwstr>
  </property>
</Properties>
</file>